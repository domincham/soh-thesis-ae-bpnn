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7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</p:sldMasterIdLst>
  <p:notesMasterIdLst>
    <p:notesMasterId r:id="rId27"/>
  </p:notesMasterIdLst>
  <p:handoutMasterIdLst>
    <p:handoutMasterId r:id="rId28"/>
  </p:handoutMasterIdLst>
  <p:sldIdLst>
    <p:sldId id="355" r:id="rId5"/>
    <p:sldId id="356" r:id="rId6"/>
    <p:sldId id="411" r:id="rId7"/>
    <p:sldId id="412" r:id="rId8"/>
    <p:sldId id="431" r:id="rId9"/>
    <p:sldId id="432" r:id="rId10"/>
    <p:sldId id="433" r:id="rId11"/>
    <p:sldId id="434" r:id="rId12"/>
    <p:sldId id="435" r:id="rId13"/>
    <p:sldId id="436" r:id="rId14"/>
    <p:sldId id="437" r:id="rId15"/>
    <p:sldId id="438" r:id="rId16"/>
    <p:sldId id="439" r:id="rId17"/>
    <p:sldId id="441" r:id="rId18"/>
    <p:sldId id="440" r:id="rId19"/>
    <p:sldId id="442" r:id="rId20"/>
    <p:sldId id="443" r:id="rId21"/>
    <p:sldId id="444" r:id="rId22"/>
    <p:sldId id="445" r:id="rId23"/>
    <p:sldId id="446" r:id="rId24"/>
    <p:sldId id="447" r:id="rId25"/>
    <p:sldId id="448" r:id="rId26"/>
  </p:sldIdLst>
  <p:sldSz cx="9144000" cy="6858000" type="screen4x3"/>
  <p:notesSz cx="7099300" cy="10234613"/>
  <p:defaultTextStyle>
    <a:defPPr>
      <a:defRPr lang="zh-TW"/>
    </a:defPPr>
    <a:lvl1pPr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7">
          <p15:clr>
            <a:srgbClr val="A4A3A4"/>
          </p15:clr>
        </p15:guide>
        <p15:guide id="2" pos="304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1153021" initials="M" lastIdx="1" clrIdx="0">
    <p:extLst>
      <p:ext uri="{19B8F6BF-5375-455C-9EA6-DF929625EA0E}">
        <p15:presenceInfo xmlns:p15="http://schemas.microsoft.com/office/powerpoint/2012/main" userId="M1115302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FF"/>
    <a:srgbClr val="5F9FFF"/>
    <a:srgbClr val="FDEAFA"/>
    <a:srgbClr val="C6D7EC"/>
    <a:srgbClr val="81BFFF"/>
    <a:srgbClr val="5F9EFF"/>
    <a:srgbClr val="FEEBFA"/>
    <a:srgbClr val="CCD9ED"/>
    <a:srgbClr val="7FBDFF"/>
    <a:srgbClr val="5E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73" autoAdjust="0"/>
    <p:restoredTop sz="95033" autoAdjust="0"/>
  </p:normalViewPr>
  <p:slideViewPr>
    <p:cSldViewPr>
      <p:cViewPr>
        <p:scale>
          <a:sx n="75" d="100"/>
          <a:sy n="75" d="100"/>
        </p:scale>
        <p:origin x="1637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2" d="100"/>
          <a:sy n="42" d="100"/>
        </p:scale>
        <p:origin x="-1253" y="16"/>
      </p:cViewPr>
      <p:guideLst>
        <p:guide orient="horz" pos="2217"/>
        <p:guide pos="30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893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1:20:16.83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0,'6386'92'0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1:20:20.15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 0,'2709'-70'0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1:20:56.26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0,'6293'28'0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1:20:59.09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0 127 0,'4234'-127'0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1:21:38.25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0,'7127'113'0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1:21:41.09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0,'6873'0'0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1:21:58.58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0,'4517'0'0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1:23:43.67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 0,'4840'-57'0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1:24:32.16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 0,'7691'-14'0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1:24:37.14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58,'0'-1,"0"0,1 1,-1-1,0 1,1-1,-1 0,0 1,1-1,-1 1,1-1,-1 1,1-1,-1 1,1-1,0 1,-1 0,1-1,-1 1,1 0,0 0,-1-1,1 1,0 0,0 0,-1 0,1 0,1 0,27-3,-19 2,55-8,108-10,1698 4,-1368 16,-485-1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1:24:38.2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71,'725'-21,"-93"0,-452 20,581-12,-671 12,83-7,-119 4,80 4,15-1,-152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1:24:39.20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0,'1006'0,"-995"0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1:24:49.05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61,'859'-35,"-419"9,4 28,-156 0,213 9,-266-10,22 1,-168 5,55 1,2 1,-95-4,3 3,-38-5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1:24:50.17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0,'2434'0,"-2214"15,-219-15,0 0,1 0,-1 0,1 0,-1 0,0 1,1-1,-1 0,0 1,0-1,1 1,-1 0,0-1,0 1,0 0,2 1,0 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1:24:51.63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85,'61'-7,"-22"1,151-18,322-24,560 69,-394 0,-387-14,169 1,-420-6,65 11,-66-7,67 3,-104-9,22 1,-18 2,-13 3,-5-1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1:24:52.9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16,'1161'-14,"-911"12,279 5,-377 3,62 2,89 5,-171-13,-114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59:45.13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0,'5820'0'0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59:50.06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0,'1715'0'0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00:02.97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65,'163'-11,"-71"3,26-3,96-3,-20 4,-10 0,-158 9,497 18,504 109,-308-85,-585-39,749 5,-702 3,-28 0,331-10,-455 2,36 5,-3 0,86 17,-108-15,1-3,74 4,-81-11,-17 0,0 1,0 0,24 4,-23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00:24.8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0,'5484'0'0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00:27.4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0,'1327'0,"-1305"0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00:37.20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 0,'4152'0'0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00:47.84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1 118 0,'5039'0'0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00:51.7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55,'0'-1,"1"0,-1 1,1-1,-1 0,1 0,-1 0,1 1,-1-1,1 0,0 1,-1-1,1 0,0 1,0-1,-1 1,1-1,0 1,0-1,0 1,0 0,-1-1,1 1,0 0,0 0,0 0,0 0,1-1,32-2,-30 2,390-3,-214 6,276-2,-444-1,-1 0,1-1,-1 0,0-1,20-8,-13 5,5-2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01:07.61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23,'262'2,"281"-4,-385-9,53 0,2330 11,-1166 1,-1351-1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01:09.54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22,'2028'0,"-1748"-10,-38 0,553 8,-407 3,-160 10,-103-2,33 1,79 3,-200-12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01:21.4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0,'930'0,"-899"2,47 7,24 3,158-12,235 16,-379-3,31 5,163-2,161-17,-421 5,-31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6:35.13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2,'154'-2,"166"4,-195 6,62 1,-174-8,1 0,-1 1,1 1,21 7,-20-6,-1 0,1-1,23 3,24-6,-43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6:36.0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1,'432'0,"-372"8,-51-6,7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6:36.94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1,'2'0,"8"0,4 0,9 0,5 0,11 2,6 2,11 0,4-1,3 5,0 0,-5 0,-10-2,-13-1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6:37.64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35,'0'-3,"11"0,13-4,8 0,7 2,8 1,3 1,0 1,1 2,1-1,-4 2,0-1,-3 0,-4 0,-8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6:39.47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2,'358'-1,"1348"25,-1629-20,1315 37,-517-18,-574 7,-13-1,-72-14,-150-8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6:43.09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1,'71'0,"540"13,-449 5,-145-16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6:43.74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0,'0'6,"21"2,14 2,14-1,9 2,1-2,11 1,-1-1,-4-2,-10-3,-11-1,-10-2,-6-1,-4 0,-4 0,-1-1,-6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6:49.53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1991 86,'-125'0,"-558"-13,229-37,353 36,19 7,-137 5,98 4,91 0,-35 5,-26 2,72-9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6:58.30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667 26,'-9'0,"-8"0,-13 0,-13 0,-10 0,-11 0,-4 0,3 0,5 0,1 0,9 0,7 0,7 0,7-6,6-2,7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7:21.2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3,'1013'14,"-231"-10,-478-4,-270-3,-23-1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17:56.12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1 153 0,'6943'-153'0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8:02.15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1 104,'22'-1,"37"-7,-6 0,881-35,-826 42,1460-6,-1002 8,-535-3,0-1,44-10,-44 6,1 2,40-1,-30 5,120 4,-145 0,-3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8:07.3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0,'1125'46,"-456"-8,-646-38,-15 0,-1 0,0 0,0 1,0 0,0 0,14 4,-7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8:08.45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17,'301'-15,"214"44,-333-25,-115-5,-51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8:09.63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87,'0'0,"1"-1,-1 0,0 1,1-1,-1 1,0-1,1 1,-1-1,1 1,-1-1,1 1,-1-1,1 1,-1-1,1 1,0 0,-1-1,1 1,-1 0,1 0,0-1,-1 1,1 0,0 0,-1 0,1 0,1 0,23-2,-22 2,221 5,-71 1,-95-5,228-3,-232-2,-1-2,0-2,68-20,-85 18,0 1,0 2,1 2,-1 1,56 2,-4 2,-48-1,0 1,0 2,-1 1,75 17,-113-20,-1 1,1-1,-1 0,1 0,0 0,-1 0,1 0,-1 1,1-1,0 0,-1 1,1-1,-1 0,1 1,-1-1,1 1,-1-1,1 1,-1-1,0 1,1 0,-6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8:10.54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0,'607'44,"-113"-3,-448-37,0 2,0 1,0 3,54 18,-60-17,-24-9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9:02.1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19,'482'-8,"-28"-1,428 27,-72 0,29-33,-716 12,167 15,-225-7,-48-5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19:17.66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 0,'1964'-68'0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9:18.97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0,'523'0,"-475"3,79 12,-120-13,0 0,0 0,-1 1,1 0,0 0,-1 0,11 8,-7-3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9:32.94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99,'206'-8,"-25"-1,270-17,165-16,-611 42,35 0,77-10,-99 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18:42:02.80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4,'88'-2,"-27"1,71 6,-102-1,48 16,-51-12,1-2,33 5,13-7,-33-2,49 9,-5-2,-59-8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7:25.01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19,'97'-15,"30"12,166 17,-140-9,-132-5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7:26.63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38,'4'-1,"-1"0,1 1,0-1,-1-1,1 1,-1 0,5-3,16-6,28 2,1 3,0 1,73 5,-47 1,881 16,223-1,-1156-17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7:36.21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18,'218'-9,"-16"1,372 8,-551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7:37.05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1,'968'0,"-949"0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18:22.93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0,'10499'0'0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18:25.81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 0,'10856'0'0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18:28.12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85 0,'1914'-85'0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18:39.10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0,'10922'84'0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9:18:42.13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0,'5334'50'0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09:18:48.68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53,'185'-9,"-6"0,64-8,11 0,697 17,-933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18:47:42.4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18:48:50.53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0,'11'1,"0"-1,-1 2,1 0,-1 0,0 0,1 2,14 6,-2-2,-4-2,0 0,0-2,1-1,35 3,84-8,-60 0,992 2,-1032 1,57 12,27 0,-66-8,-37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-1588"/>
            <a:ext cx="3076576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t" anchorCtr="0" compatLnSpc="1">
            <a:prstTxWarp prst="textNoShape">
              <a:avLst/>
            </a:prstTxWarp>
          </a:bodyPr>
          <a:lstStyle>
            <a:lvl1pPr algn="l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-1588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t" anchorCtr="0" compatLnSpc="1">
            <a:prstTxWarp prst="textNoShape">
              <a:avLst/>
            </a:prstTxWarp>
          </a:bodyPr>
          <a:lstStyle>
            <a:lvl1pPr algn="r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1713" y="777875"/>
            <a:ext cx="5094287" cy="3821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59338"/>
            <a:ext cx="5205413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463" tIns="47906" rIns="97463" bIns="479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第二階層</a:t>
            </a:r>
          </a:p>
          <a:p>
            <a:pPr lvl="2"/>
            <a:r>
              <a:rPr lang="zh-TW" altLang="en-US"/>
              <a:t>第三階層</a:t>
            </a:r>
          </a:p>
          <a:p>
            <a:pPr lvl="3"/>
            <a:r>
              <a:rPr lang="zh-TW" altLang="en-US"/>
              <a:t>第四階層</a:t>
            </a:r>
          </a:p>
          <a:p>
            <a:pPr lvl="4"/>
            <a:r>
              <a:rPr lang="zh-TW" altLang="en-US"/>
              <a:t>第五階層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721850"/>
            <a:ext cx="3076576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b" anchorCtr="0" compatLnSpc="1">
            <a:prstTxWarp prst="textNoShape">
              <a:avLst/>
            </a:prstTxWarp>
          </a:bodyPr>
          <a:lstStyle>
            <a:lvl1pPr algn="l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b" anchorCtr="0" compatLnSpc="1">
            <a:prstTxWarp prst="textNoShape">
              <a:avLst/>
            </a:prstTxWarp>
          </a:bodyPr>
          <a:lstStyle>
            <a:lvl1pPr algn="r" defTabSz="971550">
              <a:defRPr sz="1100" i="1">
                <a:effectLst/>
              </a:defRPr>
            </a:lvl1pPr>
          </a:lstStyle>
          <a:p>
            <a:fld id="{AAC00800-7EBB-4CA5-92E4-BAF87A6B2AC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4782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61963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23925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85888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47850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777875" rtl="0" eaLnBrk="1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800" b="0" i="0" dirty="0">
              <a:solidFill>
                <a:srgbClr val="ECECEC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150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1800" dirty="0">
              <a:solidFill>
                <a:srgbClr val="1D1D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704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27022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A1718-F7F1-FCA4-FE40-01AF76AD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53D9CF6-8219-C836-F6ED-28418076E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3849F34-919A-C93B-B754-3A043334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1D7426-EDA5-7117-2E6E-07DE7422E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3461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33B4-4FC0-2A86-CCAB-927D6A80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212CFBE-3F30-58AF-CFC3-4773B8F51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42A6DD-7B34-0421-ACC1-B32F63F0F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43ADF5-496B-1927-0D50-F0D2BEC01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6477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5CE8-F3A4-5962-4C5B-541E64A1A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8E38C62-5D08-59F6-C2B7-856A41163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1C6641A-C740-DC55-C6E7-162AD3D75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96A792-1512-4F26-3A5F-567BF8E83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53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B8799-C229-6E21-1E2D-2BF41500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FF65AB3-F206-A857-5C4A-3922AE821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B9E3DB-A003-4BA6-5D55-5B693DE37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F0C230-B221-6A95-C384-E79F44296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20730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CCA1A-F6CA-0B0C-1457-5BC22BB3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27F8B10-49F7-FC10-BF63-FDD2B7749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36C30C9-2203-C3AF-4897-DF04A8BE6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361B72-3145-2579-EFDD-D5E46FB3B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4766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8B72A-849C-BB94-E564-33CD16A1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8D93AD9-466E-E16A-3765-D36A306D3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80F7E38-6952-00BB-9B04-3066A52DC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F55F41-E27D-B1C4-F73F-2C3A59543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093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4FB86-1D4E-BCC7-DA9A-C57630BE4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41208D8-16A3-09AD-4AE1-542BB7956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771CDC4-C521-5DF0-DEF5-97F09D4CF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FA2FD8-142B-EC55-94A5-5A86CD50C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51653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E099-1C94-FC4F-05D5-A1B6728E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1057195-71DA-A06B-2406-0D410104F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D4BF7D8-B5D2-126B-4F01-FDD78D766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3973EF-C3A2-A7BA-590C-16823A0BA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2249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2368A-21E9-1AA8-E74D-ECC2D0C1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ADF0AAB-15F0-A691-89B4-7AA53D91C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49145CD-363F-213B-1A19-6214C585C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C450C4-2CC9-031E-094C-CD4704446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5968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CF1F-AAD7-F6E8-7089-0454FDA65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C279A07-323F-03DA-EC7E-4E36A6871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B213830-F00B-13D1-2975-9AFE99487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8660EB-9AE7-2EE5-164E-ECD08308F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09541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921B5-B181-CB1D-F156-72B1AE18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3A8665-FFB9-8D84-4614-EF5D578E0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3D3B2A-B2FC-22B8-AFFB-AB18D3F94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755A46-33B9-15CA-14CE-B46EB7CD1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76244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D174-2353-10F4-4BB2-1A68E51F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54DF759-B513-D5F3-21AD-18279E943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CADF6CB-6BB3-2AC7-E64E-7C5117498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E92F7C-F94F-7313-E7B2-27163A8A2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3408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7B9F-8ADD-7909-76F0-0AA8754B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1B8ECA-103B-973B-770D-D775749F5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B61433F-2996-7976-8682-DCA80E937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9FF7E1-B3B0-5EAA-6384-2DF7E8300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0340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DD047-B68C-91BE-E10B-11E1067D2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605D714-BD29-5EB7-0620-0CC6ECC96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89E7D96-FCB2-EF56-0F71-508F10125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555D9D-7AF4-E2C1-8B22-A8664A4BC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37857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B652-42E4-0211-447A-CE95BFE4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240C6E5-FD59-D693-E235-1422C4F53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86683A3-B20F-E84C-E4B9-D7A840D79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58CC0F-1B33-095E-6A26-3F6E0EECE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6357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2CC80-4BF1-CE65-9446-016350C00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7205818-789E-DB4F-DFCB-2F71FE601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3EAECF7-B47D-B7B6-003D-1FC77D94D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EE41D0-57A1-8B49-2182-8AA4DFECF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72853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C273-670C-39E5-BA46-479897C0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35B08CD-F771-E3D1-AE3E-63196107C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3679E4-9BB3-CC79-68B8-DDD8E2ADB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A8EE0A-1870-DE95-7AF6-33AF7B596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261811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29E50-A3CA-060B-425A-8D63DAC02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F5908C-613E-5E93-6C69-FF909E891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D5CEF4B-59ED-2207-F911-834FFDAAD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97417B-3D8A-5B8D-2377-3F94A55E8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6109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DAAED-46F5-4A8D-BBC0-BC6917411C6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6692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AB625-3397-435F-B12D-F437C0075AC8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4809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B9E8D-7EA5-4CE7-8B0C-C86AC0A958FA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0546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63575" y="1225550"/>
            <a:ext cx="3805238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1213" y="1225550"/>
            <a:ext cx="3806825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E2625E-6638-4780-97AE-3A095B674FA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7770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058057-07F8-4D54-807D-91DDB75557A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9820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FC8EB-D5A2-4BAF-9E02-35AC57547D31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1456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537086-FB49-4B71-9FD2-DD670A305306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4838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63AAEE-44CF-452B-BC56-7704863D6089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7000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38460-1707-4D6B-A835-4B6909C92AFB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1200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B0463-D3C0-4396-9228-21AF6A102326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1513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0025" y="228600"/>
            <a:ext cx="1960563" cy="31686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63575" y="228600"/>
            <a:ext cx="5734050" cy="31686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ED47D-0B8C-4967-9274-57121FBD76CC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98266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63575" y="1225550"/>
            <a:ext cx="3805238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1213" y="1225550"/>
            <a:ext cx="3806825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65475" y="64770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BDE65452-3284-405B-BC43-88CA72DBD0A0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69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228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33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pattFill prst="pct5">
                  <a:fgClr>
                    <a:schemeClr val="accent2"/>
                  </a:fgClr>
                  <a:bgClr>
                    <a:srgbClr val="FFFF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0" y="6019800"/>
            <a:ext cx="9144000" cy="228600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1" i="1">
                <a:solidFill>
                  <a:srgbClr val="003300"/>
                </a:solidFill>
                <a:effectLst/>
              </a:defRPr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5475" y="64770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1" i="1">
                <a:effectLst/>
                <a:latin typeface="Arial Narrow" panose="020B060602020203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b="1" i="1">
                <a:solidFill>
                  <a:srgbClr val="6600CC"/>
                </a:solidFill>
                <a:effectLst/>
                <a:ea typeface="新細明體" panose="02020500000000000000" pitchFamily="18" charset="-120"/>
              </a:defRPr>
            </a:lvl1pPr>
          </a:lstStyle>
          <a:p>
            <a:fld id="{514B78F4-FFCB-4C8B-ACC5-FF05B740C42E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  <p:sp>
        <p:nvSpPr>
          <p:cNvPr id="105479" name="Rectangle 7" descr="藍色面紙"/>
          <p:cNvSpPr>
            <a:spLocks noGrp="1" noChangeArrowheads="1"/>
          </p:cNvSpPr>
          <p:nvPr>
            <p:ph type="title"/>
          </p:nvPr>
        </p:nvSpPr>
        <p:spPr bwMode="auto">
          <a:xfrm>
            <a:off x="4149725" y="228600"/>
            <a:ext cx="4360863" cy="762000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548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3575" y="1225550"/>
            <a:ext cx="7764463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5481" name="Text Box 9"/>
          <p:cNvSpPr txBox="1">
            <a:spLocks noChangeArrowheads="1"/>
          </p:cNvSpPr>
          <p:nvPr/>
        </p:nvSpPr>
        <p:spPr bwMode="auto">
          <a:xfrm>
            <a:off x="0" y="0"/>
            <a:ext cx="316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endParaRPr lang="zh-TW" altLang="zh-TW" sz="2400">
              <a:effectLst/>
              <a:latin typeface="華康粗圓體(P)" pitchFamily="2" charset="-120"/>
              <a:ea typeface="華康粗圓體(P)" pitchFamily="2" charset="-120"/>
            </a:endParaRP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7092950" y="5969000"/>
            <a:ext cx="2051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TW" altLang="en-US" sz="1400" i="1">
                <a:solidFill>
                  <a:schemeClr val="accent2"/>
                </a:solidFill>
                <a:effectLst/>
              </a:rPr>
              <a:t>台灣科技大學電機系</a:t>
            </a:r>
            <a:endParaRPr lang="zh-TW" altLang="en-US" sz="1400">
              <a:effectLst/>
            </a:endParaRPr>
          </a:p>
        </p:txBody>
      </p:sp>
      <p:pic>
        <p:nvPicPr>
          <p:cNvPr id="105486" name="Picture 14" descr="ntust_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11588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2800" b="1" kern="1200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99FF"/>
        </a:buClr>
        <a:buFont typeface="Wingdings" panose="05000000000000000000" pitchFamily="2" charset="2"/>
        <a:buChar char="q"/>
        <a:defRPr kumimoji="1" sz="2400" kern="1200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kumimoji="1" sz="2000" kern="1200">
          <a:solidFill>
            <a:srgbClr val="A5002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F"/>
        <a:defRPr kumimoji="1" sz="2000" kern="1200">
          <a:solidFill>
            <a:srgbClr val="008000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FF99FF"/>
        </a:buClr>
        <a:buFont typeface="Wingdings" panose="05000000000000000000" pitchFamily="2" charset="2"/>
        <a:buChar char="l"/>
        <a:defRPr kumimoji="1" kern="1200">
          <a:solidFill>
            <a:srgbClr val="FF99FF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inghub.elsevier.com/retrieve/pii/S2352152X2500791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12.png"/><Relationship Id="rId21" Type="http://schemas.openxmlformats.org/officeDocument/2006/relationships/image" Target="../media/image21.png"/><Relationship Id="rId34" Type="http://schemas.openxmlformats.org/officeDocument/2006/relationships/customXml" Target="../ink/ink16.xml"/><Relationship Id="rId7" Type="http://schemas.openxmlformats.org/officeDocument/2006/relationships/image" Target="../media/image14.png"/><Relationship Id="rId12" Type="http://schemas.openxmlformats.org/officeDocument/2006/relationships/customXml" Target="../ink/ink5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3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1" Type="http://schemas.openxmlformats.org/officeDocument/2006/relationships/image" Target="../media/image1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20.png"/><Relationship Id="rId31" Type="http://schemas.openxmlformats.org/officeDocument/2006/relationships/image" Target="../media/image26.png"/><Relationship Id="rId4" Type="http://schemas.openxmlformats.org/officeDocument/2006/relationships/customXml" Target="../ink/ink1.xml"/><Relationship Id="rId9" Type="http://schemas.openxmlformats.org/officeDocument/2006/relationships/image" Target="../media/image1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4.png"/><Relationship Id="rId30" Type="http://schemas.openxmlformats.org/officeDocument/2006/relationships/customXml" Target="../ink/ink14.xml"/><Relationship Id="rId35" Type="http://schemas.openxmlformats.org/officeDocument/2006/relationships/image" Target="../media/image28.png"/><Relationship Id="rId8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customXml" Target="../ink/ink24.xml"/><Relationship Id="rId26" Type="http://schemas.openxmlformats.org/officeDocument/2006/relationships/customXml" Target="../ink/ink28.xml"/><Relationship Id="rId3" Type="http://schemas.openxmlformats.org/officeDocument/2006/relationships/image" Target="../media/image30.png"/><Relationship Id="rId21" Type="http://schemas.openxmlformats.org/officeDocument/2006/relationships/image" Target="../media/image39.png"/><Relationship Id="rId34" Type="http://schemas.openxmlformats.org/officeDocument/2006/relationships/customXml" Target="../ink/ink32.xml"/><Relationship Id="rId7" Type="http://schemas.openxmlformats.org/officeDocument/2006/relationships/image" Target="../media/image32.png"/><Relationship Id="rId12" Type="http://schemas.openxmlformats.org/officeDocument/2006/relationships/customXml" Target="../ink/ink21.xml"/><Relationship Id="rId17" Type="http://schemas.openxmlformats.org/officeDocument/2006/relationships/image" Target="../media/image37.png"/><Relationship Id="rId25" Type="http://schemas.openxmlformats.org/officeDocument/2006/relationships/image" Target="../media/image41.png"/><Relationship Id="rId3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6" Type="http://schemas.openxmlformats.org/officeDocument/2006/relationships/customXml" Target="../ink/ink23.xml"/><Relationship Id="rId20" Type="http://schemas.openxmlformats.org/officeDocument/2006/relationships/customXml" Target="../ink/ink25.xml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8.xml"/><Relationship Id="rId11" Type="http://schemas.openxmlformats.org/officeDocument/2006/relationships/image" Target="../media/image34.png"/><Relationship Id="rId24" Type="http://schemas.openxmlformats.org/officeDocument/2006/relationships/customXml" Target="../ink/ink27.xml"/><Relationship Id="rId32" Type="http://schemas.openxmlformats.org/officeDocument/2006/relationships/customXml" Target="../ink/ink31.xml"/><Relationship Id="rId5" Type="http://schemas.openxmlformats.org/officeDocument/2006/relationships/image" Target="../media/image31.png"/><Relationship Id="rId15" Type="http://schemas.openxmlformats.org/officeDocument/2006/relationships/image" Target="../media/image36.png"/><Relationship Id="rId23" Type="http://schemas.openxmlformats.org/officeDocument/2006/relationships/image" Target="../media/image40.png"/><Relationship Id="rId28" Type="http://schemas.openxmlformats.org/officeDocument/2006/relationships/customXml" Target="../ink/ink29.xml"/><Relationship Id="rId10" Type="http://schemas.openxmlformats.org/officeDocument/2006/relationships/customXml" Target="../ink/ink20.xml"/><Relationship Id="rId19" Type="http://schemas.openxmlformats.org/officeDocument/2006/relationships/image" Target="../media/image38.png"/><Relationship Id="rId31" Type="http://schemas.openxmlformats.org/officeDocument/2006/relationships/image" Target="../media/image44.png"/><Relationship Id="rId4" Type="http://schemas.openxmlformats.org/officeDocument/2006/relationships/customXml" Target="../ink/ink17.xml"/><Relationship Id="rId9" Type="http://schemas.openxmlformats.org/officeDocument/2006/relationships/image" Target="../media/image33.png"/><Relationship Id="rId14" Type="http://schemas.openxmlformats.org/officeDocument/2006/relationships/customXml" Target="../ink/ink22.xml"/><Relationship Id="rId22" Type="http://schemas.openxmlformats.org/officeDocument/2006/relationships/customXml" Target="../ink/ink26.xml"/><Relationship Id="rId27" Type="http://schemas.openxmlformats.org/officeDocument/2006/relationships/image" Target="../media/image42.png"/><Relationship Id="rId30" Type="http://schemas.openxmlformats.org/officeDocument/2006/relationships/customXml" Target="../ink/ink30.xml"/><Relationship Id="rId35" Type="http://schemas.openxmlformats.org/officeDocument/2006/relationships/image" Target="../media/image46.png"/><Relationship Id="rId8" Type="http://schemas.openxmlformats.org/officeDocument/2006/relationships/customXml" Target="../ink/ink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png"/><Relationship Id="rId18" Type="http://schemas.openxmlformats.org/officeDocument/2006/relationships/customXml" Target="../ink/ink40.xml"/><Relationship Id="rId26" Type="http://schemas.openxmlformats.org/officeDocument/2006/relationships/customXml" Target="../ink/ink44.xml"/><Relationship Id="rId3" Type="http://schemas.openxmlformats.org/officeDocument/2006/relationships/image" Target="../media/image47.png"/><Relationship Id="rId21" Type="http://schemas.openxmlformats.org/officeDocument/2006/relationships/image" Target="../media/image56.png"/><Relationship Id="rId34" Type="http://schemas.openxmlformats.org/officeDocument/2006/relationships/customXml" Target="../ink/ink48.xml"/><Relationship Id="rId7" Type="http://schemas.openxmlformats.org/officeDocument/2006/relationships/image" Target="../media/image49.png"/><Relationship Id="rId12" Type="http://schemas.openxmlformats.org/officeDocument/2006/relationships/customXml" Target="../ink/ink37.xml"/><Relationship Id="rId17" Type="http://schemas.openxmlformats.org/officeDocument/2006/relationships/image" Target="../media/image54.png"/><Relationship Id="rId25" Type="http://schemas.openxmlformats.org/officeDocument/2006/relationships/image" Target="../media/image58.png"/><Relationship Id="rId3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4.xml"/><Relationship Id="rId11" Type="http://schemas.openxmlformats.org/officeDocument/2006/relationships/image" Target="../media/image51.png"/><Relationship Id="rId24" Type="http://schemas.openxmlformats.org/officeDocument/2006/relationships/customXml" Target="../ink/ink43.xml"/><Relationship Id="rId32" Type="http://schemas.openxmlformats.org/officeDocument/2006/relationships/customXml" Target="../ink/ink47.xml"/><Relationship Id="rId5" Type="http://schemas.openxmlformats.org/officeDocument/2006/relationships/image" Target="../media/image48.png"/><Relationship Id="rId15" Type="http://schemas.openxmlformats.org/officeDocument/2006/relationships/image" Target="../media/image53.png"/><Relationship Id="rId23" Type="http://schemas.openxmlformats.org/officeDocument/2006/relationships/image" Target="../media/image57.png"/><Relationship Id="rId28" Type="http://schemas.openxmlformats.org/officeDocument/2006/relationships/customXml" Target="../ink/ink45.xml"/><Relationship Id="rId10" Type="http://schemas.openxmlformats.org/officeDocument/2006/relationships/customXml" Target="../ink/ink36.xml"/><Relationship Id="rId19" Type="http://schemas.openxmlformats.org/officeDocument/2006/relationships/image" Target="../media/image55.png"/><Relationship Id="rId31" Type="http://schemas.openxmlformats.org/officeDocument/2006/relationships/image" Target="../media/image61.png"/><Relationship Id="rId4" Type="http://schemas.openxmlformats.org/officeDocument/2006/relationships/customXml" Target="../ink/ink33.xml"/><Relationship Id="rId9" Type="http://schemas.openxmlformats.org/officeDocument/2006/relationships/image" Target="../media/image50.png"/><Relationship Id="rId14" Type="http://schemas.openxmlformats.org/officeDocument/2006/relationships/customXml" Target="../ink/ink38.xml"/><Relationship Id="rId22" Type="http://schemas.openxmlformats.org/officeDocument/2006/relationships/customXml" Target="../ink/ink42.xml"/><Relationship Id="rId27" Type="http://schemas.openxmlformats.org/officeDocument/2006/relationships/image" Target="../media/image59.png"/><Relationship Id="rId30" Type="http://schemas.openxmlformats.org/officeDocument/2006/relationships/customXml" Target="../ink/ink46.xml"/><Relationship Id="rId35" Type="http://schemas.openxmlformats.org/officeDocument/2006/relationships/image" Target="../media/image63.png"/><Relationship Id="rId8" Type="http://schemas.openxmlformats.org/officeDocument/2006/relationships/customXml" Target="../ink/ink3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.xml"/><Relationship Id="rId13" Type="http://schemas.openxmlformats.org/officeDocument/2006/relationships/image" Target="../media/image68.png"/><Relationship Id="rId18" Type="http://schemas.openxmlformats.org/officeDocument/2006/relationships/customXml" Target="../ink/ink56.xml"/><Relationship Id="rId26" Type="http://schemas.openxmlformats.org/officeDocument/2006/relationships/customXml" Target="../ink/ink60.xml"/><Relationship Id="rId3" Type="http://schemas.openxmlformats.org/officeDocument/2006/relationships/image" Target="../media/image64.png"/><Relationship Id="rId21" Type="http://schemas.openxmlformats.org/officeDocument/2006/relationships/image" Target="../media/image72.png"/><Relationship Id="rId7" Type="http://schemas.openxmlformats.org/officeDocument/2006/relationships/image" Target="../media/image65.png"/><Relationship Id="rId12" Type="http://schemas.openxmlformats.org/officeDocument/2006/relationships/customXml" Target="../ink/ink53.xml"/><Relationship Id="rId17" Type="http://schemas.openxmlformats.org/officeDocument/2006/relationships/image" Target="../media/image70.png"/><Relationship Id="rId25" Type="http://schemas.openxmlformats.org/officeDocument/2006/relationships/image" Target="../media/image74.png"/><Relationship Id="rId2" Type="http://schemas.openxmlformats.org/officeDocument/2006/relationships/notesSlide" Target="../notesSlides/notesSlide17.xml"/><Relationship Id="rId16" Type="http://schemas.openxmlformats.org/officeDocument/2006/relationships/customXml" Target="../ink/ink55.xml"/><Relationship Id="rId20" Type="http://schemas.openxmlformats.org/officeDocument/2006/relationships/customXml" Target="../ink/ink57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50.xml"/><Relationship Id="rId11" Type="http://schemas.openxmlformats.org/officeDocument/2006/relationships/image" Target="../media/image67.png"/><Relationship Id="rId24" Type="http://schemas.openxmlformats.org/officeDocument/2006/relationships/customXml" Target="../ink/ink59.xml"/><Relationship Id="rId5" Type="http://schemas.openxmlformats.org/officeDocument/2006/relationships/image" Target="../media/image640.png"/><Relationship Id="rId15" Type="http://schemas.openxmlformats.org/officeDocument/2006/relationships/image" Target="../media/image69.png"/><Relationship Id="rId23" Type="http://schemas.openxmlformats.org/officeDocument/2006/relationships/image" Target="../media/image73.png"/><Relationship Id="rId10" Type="http://schemas.openxmlformats.org/officeDocument/2006/relationships/customXml" Target="../ink/ink52.xml"/><Relationship Id="rId19" Type="http://schemas.openxmlformats.org/officeDocument/2006/relationships/image" Target="../media/image71.png"/><Relationship Id="rId4" Type="http://schemas.openxmlformats.org/officeDocument/2006/relationships/customXml" Target="../ink/ink49.xml"/><Relationship Id="rId9" Type="http://schemas.openxmlformats.org/officeDocument/2006/relationships/image" Target="../media/image66.png"/><Relationship Id="rId14" Type="http://schemas.openxmlformats.org/officeDocument/2006/relationships/customXml" Target="../ink/ink54.xml"/><Relationship Id="rId22" Type="http://schemas.openxmlformats.org/officeDocument/2006/relationships/customXml" Target="../ink/ink58.xml"/><Relationship Id="rId27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inghub.elsevier.com/retrieve/pii/S2352152X25007911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2F4004-60FB-2378-FECB-D7EED608C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513633"/>
              </p:ext>
            </p:extLst>
          </p:nvPr>
        </p:nvGraphicFramePr>
        <p:xfrm>
          <a:off x="1366168" y="4271989"/>
          <a:ext cx="6400800" cy="141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50322356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536881184"/>
                    </a:ext>
                  </a:extLst>
                </a:gridCol>
              </a:tblGrid>
              <a:tr h="471115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台灣科技大學 </a:t>
                      </a:r>
                      <a:r>
                        <a:rPr kumimoji="1" lang="en-US" altLang="zh-TW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AI</a:t>
                      </a:r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497009"/>
                  </a:ext>
                </a:extLst>
              </a:tr>
              <a:tr h="471115"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指導教授：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羅一峰 博士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971911"/>
                  </a:ext>
                </a:extLst>
              </a:tr>
              <a:tr h="471115"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學生：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林志龍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36832"/>
                  </a:ext>
                </a:extLst>
              </a:tr>
            </a:tbl>
          </a:graphicData>
        </a:graphic>
      </p:graphicFrame>
      <p:sp>
        <p:nvSpPr>
          <p:cNvPr id="152578" name="Rectangle 2" descr="藍色面紙"/>
          <p:cNvSpPr>
            <a:spLocks noGrp="1" noChangeArrowheads="1"/>
          </p:cNvSpPr>
          <p:nvPr>
            <p:ph type="ctrTitle"/>
          </p:nvPr>
        </p:nvSpPr>
        <p:spPr>
          <a:xfrm>
            <a:off x="685799" y="1616692"/>
            <a:ext cx="7772400" cy="2388372"/>
          </a:xfrm>
          <a:ln/>
        </p:spPr>
        <p:txBody>
          <a:bodyPr lIns="216000" tIns="72000" rIns="216000" bIns="72000" anchor="ctr"/>
          <a:lstStyle/>
          <a:p>
            <a:pPr lvl="0" defTabSz="777875">
              <a:lnSpc>
                <a:spcPct val="150000"/>
              </a:lnSpc>
              <a:spcBef>
                <a:spcPct val="30000"/>
              </a:spcBef>
              <a:defRPr/>
            </a:pPr>
            <a:r>
              <a:rPr lang="zh-TW" altLang="en-US" sz="24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鋰離子電池組健康狀態估算方法之回顧</a:t>
            </a:r>
            <a:br>
              <a:rPr lang="en-US" altLang="zh-TW" sz="24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sz="24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 review of state-of-health estimation for lithium-ion battery packs</a:t>
            </a:r>
            <a:endParaRPr lang="zh-TW" altLang="zh-TW" sz="24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1B3274-1842-47A2-A49B-46B6E74AEE0F}"/>
              </a:ext>
            </a:extLst>
          </p:cNvPr>
          <p:cNvSpPr/>
          <p:nvPr/>
        </p:nvSpPr>
        <p:spPr bwMode="auto">
          <a:xfrm>
            <a:off x="0" y="6021288"/>
            <a:ext cx="9144000" cy="216024"/>
          </a:xfrm>
          <a:prstGeom prst="rect">
            <a:avLst/>
          </a:prstGeom>
          <a:gradFill flip="none" rotWithShape="1">
            <a:gsLst>
              <a:gs pos="0">
                <a:srgbClr val="5F9EFF"/>
              </a:gs>
              <a:gs pos="36000">
                <a:srgbClr val="81BFFF"/>
              </a:gs>
              <a:gs pos="70000">
                <a:srgbClr val="C6D7EC"/>
              </a:gs>
              <a:gs pos="100000">
                <a:srgbClr val="FDEAFA"/>
              </a:gs>
            </a:gsLst>
            <a:lin ang="0" scaled="1"/>
            <a:tileRect/>
          </a:gra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8D7F64-68FB-4A94-9D60-8F350258A972}"/>
              </a:ext>
            </a:extLst>
          </p:cNvPr>
          <p:cNvSpPr txBox="1"/>
          <p:nvPr/>
        </p:nvSpPr>
        <p:spPr>
          <a:xfrm>
            <a:off x="-540568" y="6006189"/>
            <a:ext cx="4104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000" b="1" i="0" u="sng" strike="noStrike" dirty="0"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Journal of Energy Storage 118 (2025) 116078</a:t>
            </a:r>
            <a:endParaRPr lang="en-US" altLang="zh-TW" sz="1000" b="0" i="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95AA9-1BFB-F40F-4671-9F700E7C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200" dirty="0"/>
              <a:t>Outline</a:t>
            </a:r>
            <a:endParaRPr lang="zh-TW" altLang="en-US" sz="2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C77CF7-69FA-D8CC-018F-6FB92FFF4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75" y="1225550"/>
            <a:ext cx="7847013" cy="4651722"/>
          </a:xfrm>
        </p:spPr>
        <p:txBody>
          <a:bodyPr/>
          <a:lstStyle/>
          <a:p>
            <a:pPr algn="just" hangingPunct="0">
              <a:lnSpc>
                <a:spcPct val="150000"/>
              </a:lnSpc>
            </a:pPr>
            <a:r>
              <a:rPr lang="en-US" altLang="zh-TW" sz="2000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Degradation Mechanisms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Health Feature Extraction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SOH Estimation Models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Comparison of Models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Challenges &amp; Future Prospects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Conclusion</a:t>
            </a: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0E1F7E-E23A-8A46-3CD9-AB28D594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B625-3397-435F-B12D-F437C0075AC8}" type="slidenum">
              <a:rPr lang="en-US" altLang="zh-TW" smtClean="0"/>
              <a:pPr/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6526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B1B21C-0CD8-49CF-90C1-9E332A3A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DAE569-4DB0-4546-A321-C423A9FB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B625-3397-435F-B12D-F437C0075AC8}" type="slidenum">
              <a:rPr lang="en-US" altLang="zh-TW" smtClean="0"/>
              <a:pPr/>
              <a:t>3</a:t>
            </a:fld>
            <a:endParaRPr lang="en-US" altLang="zh-TW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A72D05F-DEE9-DFCE-02BF-A778DE6F2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75" y="1340768"/>
            <a:ext cx="7847013" cy="3715617"/>
          </a:xfrm>
        </p:spPr>
        <p:txBody>
          <a:bodyPr/>
          <a:lstStyle/>
          <a:p>
            <a:pPr marL="0" indent="0" algn="just" hangingPunct="0">
              <a:buNone/>
            </a:pPr>
            <a:r>
              <a:rPr lang="en-US" sz="2000" b="1" dirty="0"/>
              <a:t>Why SOH Matters:</a:t>
            </a:r>
            <a:endParaRPr lang="en-US" altLang="zh-TW" sz="2000" b="1" dirty="0">
              <a:solidFill>
                <a:srgbClr val="1D1D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buFont typeface="Wingdings" panose="05000000000000000000" pitchFamily="2" charset="2"/>
              <a:buChar char="§"/>
            </a:pPr>
            <a:r>
              <a:rPr lang="en-US" sz="1800" dirty="0"/>
              <a:t>SOH is the cornerstone of </a:t>
            </a:r>
            <a:r>
              <a:rPr lang="en-US" sz="1800" b="1" dirty="0">
                <a:solidFill>
                  <a:srgbClr val="C00000"/>
                </a:solidFill>
              </a:rPr>
              <a:t>safety and reliability</a:t>
            </a:r>
            <a:r>
              <a:rPr lang="en-US" sz="1800" dirty="0"/>
              <a:t> for Electric Vehicles (EVs) and Energy Storage Systems.</a:t>
            </a:r>
          </a:p>
          <a:p>
            <a:pPr marL="0" indent="0" algn="just" hangingPunct="0">
              <a:buNone/>
            </a:pPr>
            <a:r>
              <a:rPr lang="en-US" sz="2000" b="1" dirty="0"/>
              <a:t>Why Focus on "Battery Packs” ?</a:t>
            </a:r>
          </a:p>
          <a:p>
            <a:pPr algn="just" hangingPunct="0">
              <a:buFont typeface="Wingdings" panose="05000000000000000000" pitchFamily="2" charset="2"/>
              <a:buChar char="§"/>
            </a:pPr>
            <a:r>
              <a:rPr lang="en-US" sz="1800" b="1" dirty="0"/>
              <a:t>Real-world Application:</a:t>
            </a:r>
            <a:r>
              <a:rPr lang="en-US" sz="1800" dirty="0"/>
              <a:t> EVs operate on battery </a:t>
            </a:r>
            <a:r>
              <a:rPr lang="en-US" sz="1800" i="1" dirty="0"/>
              <a:t>packs</a:t>
            </a:r>
            <a:r>
              <a:rPr lang="en-US" sz="1800" dirty="0"/>
              <a:t> (series/parallel), </a:t>
            </a:r>
            <a:r>
              <a:rPr lang="en-US" sz="1800" dirty="0">
                <a:solidFill>
                  <a:srgbClr val="C00000"/>
                </a:solidFill>
              </a:rPr>
              <a:t>not isolated cells</a:t>
            </a:r>
          </a:p>
          <a:p>
            <a:pPr algn="just" hangingPunct="0">
              <a:buFont typeface="Wingdings" panose="05000000000000000000" pitchFamily="2" charset="2"/>
              <a:buChar char="§"/>
            </a:pPr>
            <a:r>
              <a:rPr lang="en-US" sz="1800" b="1" dirty="0"/>
              <a:t>The "Barrel Effect":</a:t>
            </a:r>
            <a:r>
              <a:rPr lang="en-US" sz="1800" dirty="0"/>
              <a:t> Pack performance is limited by the weakest cell. Inconsistency between cells accelerates degradation faster than single-cell aging .</a:t>
            </a:r>
          </a:p>
          <a:p>
            <a:pPr marL="0" indent="0" algn="just" hangingPunct="0">
              <a:buNone/>
            </a:pPr>
            <a:r>
              <a:rPr lang="en-US" sz="2000" b="1" dirty="0"/>
              <a:t>The Research Gap:</a:t>
            </a:r>
          </a:p>
          <a:p>
            <a:pPr algn="just" hangingPunct="0">
              <a:buFont typeface="Wingdings" panose="05000000000000000000" pitchFamily="2" charset="2"/>
              <a:buChar char="§"/>
            </a:pPr>
            <a:r>
              <a:rPr lang="en-US" sz="1800" b="1" dirty="0"/>
              <a:t>Limited Scope: </a:t>
            </a:r>
            <a:r>
              <a:rPr lang="en-US" sz="1800" dirty="0"/>
              <a:t>Most existing reviews focus solely on </a:t>
            </a:r>
            <a:r>
              <a:rPr lang="en-US" sz="1800" dirty="0">
                <a:solidFill>
                  <a:srgbClr val="C00000"/>
                </a:solidFill>
              </a:rPr>
              <a:t>single-cell estimation</a:t>
            </a:r>
            <a:r>
              <a:rPr lang="en-US" sz="1800" dirty="0"/>
              <a:t>.</a:t>
            </a:r>
          </a:p>
          <a:p>
            <a:pPr algn="just" hangingPunct="0">
              <a:buFont typeface="Wingdings" panose="05000000000000000000" pitchFamily="2" charset="2"/>
              <a:buChar char="§"/>
            </a:pPr>
            <a:r>
              <a:rPr lang="en-US" sz="1800" b="1" dirty="0"/>
              <a:t>The Missing Link: </a:t>
            </a:r>
            <a:r>
              <a:rPr lang="en-US" sz="1800" dirty="0"/>
              <a:t>There is a scarcity of comprehensive reviews addressing pack-level SOH estimation and the impact of cell inconsistency.</a:t>
            </a:r>
          </a:p>
          <a:p>
            <a:pPr marL="0" indent="0" algn="just" hangingPunct="0">
              <a:buNone/>
            </a:pPr>
            <a:endParaRPr lang="en-US" altLang="zh-TW" sz="1800" b="0" i="0" dirty="0">
              <a:solidFill>
                <a:srgbClr val="1D1D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326B09-DAA2-282D-AB9C-1FAFFC6E1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Scope: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existing reviews focus solely on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single-cell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estimation.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0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A19A9C-9C40-45F5-BF96-165B8A81F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Degradation Mechanisms </a:t>
            </a:r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83B33D-74EE-7061-9B39-00FF86EC5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060848"/>
            <a:ext cx="3604246" cy="3135694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077AD11A-2814-524C-8177-6318DCFC143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23528" y="1340768"/>
                <a:ext cx="5256583" cy="4315149"/>
              </a:xfrm>
            </p:spPr>
            <p:txBody>
              <a:bodyPr wrap="square" anchor="t">
                <a:normAutofit/>
              </a:bodyPr>
              <a:lstStyle/>
              <a:p>
                <a:pPr marL="0" indent="0" hangingPunct="0">
                  <a:lnSpc>
                    <a:spcPct val="90000"/>
                  </a:lnSpc>
                  <a:buNone/>
                </a:pPr>
                <a:r>
                  <a:rPr lang="en-US" sz="2000" b="1" dirty="0"/>
                  <a:t>Core Mechanism:</a:t>
                </a:r>
                <a:endParaRPr lang="en-US" altLang="zh-TW" sz="2000" b="1" dirty="0"/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Relies on the reversible migration of Lithium ions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ar-AE" sz="1800" dirty="0"/>
                  <a:t> </a:t>
                </a:r>
                <a:r>
                  <a:rPr lang="en-US" sz="1800" dirty="0"/>
                  <a:t>) between the cathode and anode.</a:t>
                </a:r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1800" b="1" dirty="0"/>
                  <a:t>Charging:</a:t>
                </a:r>
                <a:r>
                  <a:rPr lang="en-US" sz="1800" dirty="0"/>
                  <a:t> 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ar-AE" sz="1800" dirty="0"/>
                  <a:t> </a:t>
                </a:r>
                <a:r>
                  <a:rPr lang="en-US" sz="1800" dirty="0"/>
                  <a:t>moves from </a:t>
                </a:r>
                <a:r>
                  <a:rPr lang="en-US" sz="1800" dirty="0">
                    <a:solidFill>
                      <a:srgbClr val="C00000"/>
                    </a:solidFill>
                  </a:rPr>
                  <a:t>cathode 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 anode </a:t>
                </a:r>
                <a:r>
                  <a:rPr lang="en-US" sz="1800" dirty="0"/>
                  <a:t>(Lithium enrichment at anode) </a:t>
                </a:r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1800" b="1" dirty="0"/>
                  <a:t>Discharging:</a:t>
                </a:r>
                <a:r>
                  <a:rPr lang="en-US" sz="1800" dirty="0"/>
                  <a:t> 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ar-AE" sz="1800" dirty="0"/>
                  <a:t> </a:t>
                </a:r>
                <a:r>
                  <a:rPr lang="en-US" sz="1800" dirty="0"/>
                  <a:t>moves from </a:t>
                </a:r>
                <a:r>
                  <a:rPr lang="en-US" sz="1800" dirty="0">
                    <a:solidFill>
                      <a:srgbClr val="C00000"/>
                    </a:solidFill>
                  </a:rPr>
                  <a:t>anode 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 cathode </a:t>
                </a:r>
                <a:r>
                  <a:rPr lang="en-US" sz="1800" dirty="0"/>
                  <a:t>(Lithium depletion at anode)</a:t>
                </a:r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1800" dirty="0"/>
              </a:p>
              <a:p>
                <a:pPr marL="0" indent="0" hangingPunct="0">
                  <a:lnSpc>
                    <a:spcPct val="90000"/>
                  </a:lnSpc>
                  <a:buNone/>
                </a:pPr>
                <a:r>
                  <a:rPr lang="en-US" sz="2000" b="1" dirty="0"/>
                  <a:t>Key Components: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b="1" dirty="0"/>
                  <a:t>Electrodes:</a:t>
                </a:r>
                <a:r>
                  <a:rPr lang="en-US" sz="1800" dirty="0"/>
                  <a:t> </a:t>
                </a:r>
                <a:r>
                  <a:rPr lang="en-US" sz="1800" dirty="0">
                    <a:solidFill>
                      <a:schemeClr val="accent1"/>
                    </a:solidFill>
                  </a:rPr>
                  <a:t>Positive </a:t>
                </a:r>
                <a:r>
                  <a:rPr lang="en-US" sz="1800" dirty="0"/>
                  <a:t>(e.g., 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𝐿𝑖𝐶𝑜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dirty="0"/>
                  <a:t>and </a:t>
                </a:r>
                <a:r>
                  <a:rPr lang="en-US" sz="1800" dirty="0">
                    <a:solidFill>
                      <a:srgbClr val="C00000"/>
                    </a:solidFill>
                  </a:rPr>
                  <a:t>Negative</a:t>
                </a:r>
                <a:r>
                  <a:rPr lang="en-US" sz="1800" dirty="0"/>
                  <a:t> (Carbon materials)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b="1" dirty="0"/>
                  <a:t>Separator:</a:t>
                </a:r>
                <a:r>
                  <a:rPr lang="en-US" sz="1800" dirty="0"/>
                  <a:t> Physically isolates electrodes while allowing ion flow.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b="1" dirty="0"/>
                  <a:t>Electrolyte:</a:t>
                </a:r>
                <a:r>
                  <a:rPr lang="en-US" sz="1800" dirty="0"/>
                  <a:t> Medium for ion transport.</a:t>
                </a:r>
              </a:p>
              <a:p>
                <a:pPr hangingPunct="0">
                  <a:lnSpc>
                    <a:spcPct val="90000"/>
                  </a:lnSpc>
                </a:pPr>
                <a:endParaRPr lang="en-US" sz="1600" dirty="0"/>
              </a:p>
              <a:p>
                <a:pPr marL="0" indent="0" hangingPunct="0">
                  <a:lnSpc>
                    <a:spcPct val="90000"/>
                  </a:lnSpc>
                  <a:buNone/>
                </a:pPr>
                <a:endParaRPr lang="en-US" altLang="zh-TW" sz="2200" b="0" i="0" dirty="0">
                  <a:effectLst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077AD11A-2814-524C-8177-6318DCFC1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23528" y="1340768"/>
                <a:ext cx="5256583" cy="4315149"/>
              </a:xfrm>
              <a:blipFill>
                <a:blip r:embed="rId4"/>
                <a:stretch>
                  <a:fillRect l="-1160" t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70A334-80A9-45A7-99DE-6C264072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altLang="zh-TW" sz="1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3F3C66-211D-1EBF-0EF9-FC073CAA1081}"/>
              </a:ext>
            </a:extLst>
          </p:cNvPr>
          <p:cNvSpPr txBox="1"/>
          <p:nvPr/>
        </p:nvSpPr>
        <p:spPr>
          <a:xfrm>
            <a:off x="4044156" y="97101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How Lithium-ion Batteries Work</a:t>
            </a:r>
            <a:endParaRPr lang="en-US" sz="2000" b="1" dirty="0">
              <a:solidFill>
                <a:srgbClr val="1D1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47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CB3BA-39C0-986F-FD20-F58DEFB80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2199E-EE94-4D2F-B322-1884CAAC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Degradation Mechanisms </a:t>
            </a:r>
            <a:endParaRPr 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2F2E8680-3560-10D1-A839-23107EC0C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528" y="1484784"/>
            <a:ext cx="4680520" cy="4315149"/>
          </a:xfrm>
        </p:spPr>
        <p:txBody>
          <a:bodyPr wrap="square" anchor="t">
            <a:normAutofit/>
          </a:bodyPr>
          <a:lstStyle/>
          <a:p>
            <a:pPr marL="0" indent="0" hangingPunct="0">
              <a:lnSpc>
                <a:spcPct val="90000"/>
              </a:lnSpc>
              <a:buNone/>
            </a:pPr>
            <a:r>
              <a:rPr lang="en-US" sz="2000" b="1" dirty="0"/>
              <a:t>Chemical Degradation:</a:t>
            </a:r>
            <a:endParaRPr lang="en-US" altLang="zh-TW"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SEI Growth:</a:t>
            </a:r>
            <a:r>
              <a:rPr lang="en-US" sz="1600" dirty="0"/>
              <a:t> Continuous formation of Solid Electrolyte Interphase consumes active lithium and </a:t>
            </a:r>
            <a:r>
              <a:rPr lang="en-US" sz="1600" dirty="0">
                <a:solidFill>
                  <a:srgbClr val="1D1DFF"/>
                </a:solidFill>
              </a:rPr>
              <a:t>increases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internal resistance</a:t>
            </a:r>
            <a:r>
              <a:rPr lang="en-U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Electrolyte Decomposition:</a:t>
            </a:r>
            <a:r>
              <a:rPr lang="en-US" sz="1600" dirty="0"/>
              <a:t> </a:t>
            </a:r>
            <a:r>
              <a:rPr lang="en-US" sz="1600" dirty="0">
                <a:solidFill>
                  <a:srgbClr val="C00000"/>
                </a:solidFill>
              </a:rPr>
              <a:t>Reduction/oxidation </a:t>
            </a:r>
            <a:r>
              <a:rPr lang="en-US" sz="1600" dirty="0"/>
              <a:t>reactions alter electrolyte composition.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Active Material Loss:</a:t>
            </a:r>
            <a:r>
              <a:rPr lang="en-US" sz="1600" dirty="0"/>
              <a:t> Dissolution of electrode structures reduces </a:t>
            </a:r>
            <a:r>
              <a:rPr lang="en-US" sz="1600" dirty="0">
                <a:solidFill>
                  <a:srgbClr val="C00000"/>
                </a:solidFill>
              </a:rPr>
              <a:t>reversible capacity</a:t>
            </a:r>
            <a:r>
              <a:rPr lang="en-US" sz="1600" dirty="0"/>
              <a:t>.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0" indent="0" hangingPunct="0">
              <a:lnSpc>
                <a:spcPct val="90000"/>
              </a:lnSpc>
              <a:buNone/>
            </a:pPr>
            <a:r>
              <a:rPr lang="en-US" sz="2000" b="1" dirty="0"/>
              <a:t>Mechanical Degradation: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Volume Changes:</a:t>
            </a:r>
            <a:r>
              <a:rPr lang="en-US" sz="1600" dirty="0"/>
              <a:t> Stress from particle expansion/contraction during cycling leads to </a:t>
            </a:r>
            <a:r>
              <a:rPr lang="en-US" sz="1600" dirty="0">
                <a:solidFill>
                  <a:srgbClr val="C00000"/>
                </a:solidFill>
              </a:rPr>
              <a:t>structural damage</a:t>
            </a:r>
            <a:r>
              <a:rPr lang="en-US" sz="1600" dirty="0"/>
              <a:t>.</a:t>
            </a:r>
          </a:p>
          <a:p>
            <a:pPr marL="0" indent="0" hangingPunct="0">
              <a:lnSpc>
                <a:spcPct val="90000"/>
              </a:lnSpc>
              <a:buNone/>
            </a:pPr>
            <a:endParaRPr lang="en-US" sz="1600" dirty="0"/>
          </a:p>
          <a:p>
            <a:pPr marL="0" indent="0" hangingPunct="0">
              <a:lnSpc>
                <a:spcPct val="90000"/>
              </a:lnSpc>
              <a:buNone/>
            </a:pPr>
            <a:endParaRPr lang="en-US" altLang="zh-TW" sz="2200" b="0" i="0" dirty="0">
              <a:effectLst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3B2299-3C84-06D4-0A31-A13E58C3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altLang="zh-TW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F79D74-27F4-3AC2-0285-BE74E148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5" r="1896"/>
          <a:stretch>
            <a:fillRect/>
          </a:stretch>
        </p:blipFill>
        <p:spPr>
          <a:xfrm>
            <a:off x="4932040" y="1484784"/>
            <a:ext cx="4104456" cy="43895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10FCC9-BF62-F61D-C63C-3A3D44070A03}"/>
              </a:ext>
            </a:extLst>
          </p:cNvPr>
          <p:cNvSpPr txBox="1"/>
          <p:nvPr/>
        </p:nvSpPr>
        <p:spPr>
          <a:xfrm>
            <a:off x="4044156" y="97101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Cell-Level Degradation Mechanisms</a:t>
            </a:r>
            <a:endParaRPr lang="en-US" sz="2000" b="1" dirty="0">
              <a:solidFill>
                <a:srgbClr val="1D1D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F9CEB-886A-588D-3F21-077C0A2296ED}"/>
              </a:ext>
            </a:extLst>
          </p:cNvPr>
          <p:cNvSpPr txBox="1"/>
          <p:nvPr/>
        </p:nvSpPr>
        <p:spPr>
          <a:xfrm>
            <a:off x="3419872" y="566215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</a:rPr>
              <a:t>Fig. 2</a:t>
            </a:r>
            <a:endParaRPr lang="en-US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4756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09A91-3759-2826-BDFB-417F2959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7CF43D-0CA4-BDBF-0589-BDC1C845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Degradation Mechanisms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4AD791CA-9C94-0710-47BB-2254DA61287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23528" y="1434638"/>
                <a:ext cx="4608512" cy="4315149"/>
              </a:xfrm>
            </p:spPr>
            <p:txBody>
              <a:bodyPr wrap="square" anchor="t">
                <a:normAutofit/>
              </a:bodyPr>
              <a:lstStyle/>
              <a:p>
                <a:pPr marL="0" indent="0" hangingPunct="0">
                  <a:lnSpc>
                    <a:spcPct val="90000"/>
                  </a:lnSpc>
                  <a:buNone/>
                </a:pPr>
                <a:r>
                  <a:rPr lang="en-US" sz="1800" b="1" dirty="0"/>
                  <a:t>Thermal Stress :</a:t>
                </a:r>
                <a:endParaRPr lang="en-US" altLang="zh-TW" sz="1600" b="1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solidFill>
                      <a:srgbClr val="C00000"/>
                    </a:solidFill>
                  </a:rPr>
                  <a:t>High currents </a:t>
                </a:r>
                <a:r>
                  <a:rPr lang="en-US" sz="1800" dirty="0"/>
                  <a:t>elevate internal temperature, accelerating chemical reactions and electrolyte decomposition</a:t>
                </a:r>
                <a:endParaRPr lang="th-TH" sz="18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400" dirty="0"/>
              </a:p>
              <a:p>
                <a:pPr marL="0" indent="0" hangingPunct="0">
                  <a:lnSpc>
                    <a:spcPct val="90000"/>
                  </a:lnSpc>
                  <a:buNone/>
                </a:pPr>
                <a:r>
                  <a:rPr lang="en-US" sz="1800" b="1" dirty="0"/>
                  <a:t>Lithium Plating (Major Risk) </a:t>
                </a:r>
                <a:r>
                  <a:rPr lang="en-US" sz="1600" b="1" dirty="0"/>
                  <a:t>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Rapid charging causes 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ar-AE" sz="1600" dirty="0"/>
                  <a:t> </a:t>
                </a:r>
                <a:r>
                  <a:rPr lang="en-US" sz="1600" dirty="0"/>
                  <a:t>deposition on the anode surface instead of intercalation</a:t>
                </a:r>
                <a:r>
                  <a:rPr lang="th-TH" sz="1600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Leads to </a:t>
                </a:r>
                <a:r>
                  <a:rPr lang="en-US" sz="1600" b="1" dirty="0"/>
                  <a:t>Lithium Dendrite</a:t>
                </a:r>
                <a:r>
                  <a:rPr lang="en-US" sz="1600" dirty="0"/>
                  <a:t> formation, causing capacity fade and safety risks (</a:t>
                </a:r>
                <a:r>
                  <a:rPr lang="en-US" sz="1600" dirty="0">
                    <a:solidFill>
                      <a:srgbClr val="C00000"/>
                    </a:solidFill>
                  </a:rPr>
                  <a:t>short circuits</a:t>
                </a:r>
                <a:r>
                  <a:rPr lang="en-US" sz="1600" dirty="0"/>
                  <a:t>)</a:t>
                </a:r>
                <a:endParaRPr lang="th-TH" sz="16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th-TH" sz="1600" dirty="0"/>
              </a:p>
              <a:p>
                <a:pPr marL="0" indent="0">
                  <a:buNone/>
                </a:pPr>
                <a:r>
                  <a:rPr lang="en-US" sz="1800" b="1" dirty="0"/>
                  <a:t>Low-Temperature Synergy 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Fast charging at low temps (e.g., 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600" dirty="0"/>
                  <a:t>significantly </a:t>
                </a:r>
                <a:r>
                  <a:rPr lang="en-US" sz="1600" dirty="0">
                    <a:solidFill>
                      <a:srgbClr val="C00000"/>
                    </a:solidFill>
                  </a:rPr>
                  <a:t>increases plating area </a:t>
                </a:r>
                <a:r>
                  <a:rPr lang="en-US" sz="1600" dirty="0"/>
                  <a:t>and </a:t>
                </a:r>
                <a:r>
                  <a:rPr lang="en-US" sz="1600" dirty="0">
                    <a:solidFill>
                      <a:srgbClr val="C00000"/>
                    </a:solidFill>
                  </a:rPr>
                  <a:t>internal resistance </a:t>
                </a:r>
                <a:endParaRPr lang="th-TH" sz="1200" b="1" dirty="0">
                  <a:solidFill>
                    <a:srgbClr val="C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0" indent="0" hangingPunct="0">
                  <a:lnSpc>
                    <a:spcPct val="90000"/>
                  </a:lnSpc>
                  <a:buNone/>
                </a:pPr>
                <a:endParaRPr lang="en-US" altLang="zh-TW" sz="2200" b="0" i="0" dirty="0">
                  <a:effectLst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4AD791CA-9C94-0710-47BB-2254DA612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23528" y="1434638"/>
                <a:ext cx="4608512" cy="4315149"/>
              </a:xfrm>
              <a:blipFill>
                <a:blip r:embed="rId3"/>
                <a:stretch>
                  <a:fillRect l="-1058" t="-1271" b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A29946-E28C-E28D-4A54-94CF1347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altLang="zh-TW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B5857E-DE32-4D58-47CB-14578A5E1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25" r="1896"/>
          <a:stretch>
            <a:fillRect/>
          </a:stretch>
        </p:blipFill>
        <p:spPr>
          <a:xfrm>
            <a:off x="4716016" y="1401575"/>
            <a:ext cx="4248472" cy="43895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CE492D-F885-507E-DB26-EF08479F34F4}"/>
              </a:ext>
            </a:extLst>
          </p:cNvPr>
          <p:cNvSpPr txBox="1"/>
          <p:nvPr/>
        </p:nvSpPr>
        <p:spPr>
          <a:xfrm>
            <a:off x="4044156" y="97101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Impact of Fast Charging on Battery Health</a:t>
            </a:r>
            <a:endParaRPr lang="en-US" sz="2000" b="1" dirty="0">
              <a:solidFill>
                <a:srgbClr val="1D1D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597C2-DDAB-BBE9-79B7-E9B4F1A7A499}"/>
              </a:ext>
            </a:extLst>
          </p:cNvPr>
          <p:cNvSpPr txBox="1"/>
          <p:nvPr/>
        </p:nvSpPr>
        <p:spPr>
          <a:xfrm>
            <a:off x="3419872" y="566215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</a:rPr>
              <a:t>Fig. 2</a:t>
            </a:r>
            <a:endParaRPr lang="en-US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908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932A-A931-A0EE-DFE6-77D8658C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B105B6-B4FD-B47C-AFD8-3B50BD73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Degradation Mechanisms </a:t>
            </a:r>
            <a:endParaRPr 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377E010-FA4F-3FD2-000C-8506425DD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544" y="1379034"/>
            <a:ext cx="4680520" cy="3130085"/>
          </a:xfrm>
        </p:spPr>
        <p:txBody>
          <a:bodyPr wrap="square" anchor="t">
            <a:normAutofit/>
          </a:bodyPr>
          <a:lstStyle/>
          <a:p>
            <a:pPr marL="0" indent="0" hangingPunct="0">
              <a:lnSpc>
                <a:spcPct val="90000"/>
              </a:lnSpc>
              <a:buNone/>
            </a:pPr>
            <a:r>
              <a:rPr lang="en-US" sz="1800" b="1" dirty="0"/>
              <a:t>The "Barrel Effect :</a:t>
            </a:r>
            <a:endParaRPr lang="en-US" altLang="zh-TW" sz="18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In series connections, the</a:t>
            </a:r>
            <a:r>
              <a:rPr lang="en-US" sz="1600" dirty="0">
                <a:solidFill>
                  <a:srgbClr val="C00000"/>
                </a:solidFill>
              </a:rPr>
              <a:t> </a:t>
            </a:r>
            <a:r>
              <a:rPr lang="en-US" sz="1600" b="1" dirty="0">
                <a:solidFill>
                  <a:srgbClr val="C00000"/>
                </a:solidFill>
              </a:rPr>
              <a:t>weakest cell</a:t>
            </a:r>
            <a:r>
              <a:rPr lang="en-US" sz="1600" dirty="0">
                <a:solidFill>
                  <a:srgbClr val="C00000"/>
                </a:solidFill>
              </a:rPr>
              <a:t> </a:t>
            </a:r>
            <a:r>
              <a:rPr lang="en-US" sz="1600" dirty="0"/>
              <a:t>determines the entire pack's usable capacity and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 hangingPunct="0">
              <a:lnSpc>
                <a:spcPct val="90000"/>
              </a:lnSpc>
              <a:buNone/>
            </a:pPr>
            <a:r>
              <a:rPr lang="en-US" sz="1800" b="1" dirty="0"/>
              <a:t>The "Vicious Cycle" of Inconsistency: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Initial State:</a:t>
            </a:r>
            <a:r>
              <a:rPr lang="en-US" sz="1600" dirty="0"/>
              <a:t> Minor manufacturing differences lead to uneven heat and current distribution</a:t>
            </a:r>
            <a:r>
              <a:rPr lang="th-TH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Operation:</a:t>
            </a:r>
            <a:r>
              <a:rPr lang="en-US" sz="1600" dirty="0"/>
              <a:t> Variations in internal resistance cause uneven aging rates across cells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Result:</a:t>
            </a:r>
            <a:r>
              <a:rPr lang="en-US" sz="1600" dirty="0"/>
              <a:t> Inconsistency expands over time, accelerating overall pack failure</a:t>
            </a:r>
            <a:endParaRPr lang="th-TH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 hangingPunct="0">
              <a:lnSpc>
                <a:spcPct val="90000"/>
              </a:lnSpc>
              <a:buNone/>
            </a:pPr>
            <a:endParaRPr lang="en-US" altLang="zh-TW" sz="1600" b="0" i="0" dirty="0">
              <a:effectLst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D15DA1-5644-E8C3-A93C-F81098E3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ED03D5-903B-6CC1-FE5C-4EA80C513C5E}"/>
              </a:ext>
            </a:extLst>
          </p:cNvPr>
          <p:cNvSpPr txBox="1"/>
          <p:nvPr/>
        </p:nvSpPr>
        <p:spPr>
          <a:xfrm>
            <a:off x="4044156" y="97101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Degradation Mechanism of Battery Packs</a:t>
            </a:r>
            <a:endParaRPr lang="en-US" sz="2000" b="1" dirty="0">
              <a:solidFill>
                <a:srgbClr val="1D1D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CBF994-FE90-291D-AB4C-3000862C2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12" y="4473564"/>
            <a:ext cx="4080628" cy="1475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0EE4D3-8C54-5E90-85FE-AFA456953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1469638"/>
            <a:ext cx="3840777" cy="441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56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5253-6864-BD2F-09A7-10F015F8C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5A6A39-E14C-8B01-FBE5-DB0652578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Health Feature Extraction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16E59DB1-A8A7-F523-7AF7-ECCD4CB86B2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98246" y="1371125"/>
                <a:ext cx="4697282" cy="4858278"/>
              </a:xfrm>
            </p:spPr>
            <p:txBody>
              <a:bodyPr wrap="square" anchor="t">
                <a:normAutofit fontScale="85000" lnSpcReduction="10000"/>
              </a:bodyPr>
              <a:lstStyle/>
              <a:p>
                <a:pPr marL="0" indent="0" hangingPunct="0">
                  <a:lnSpc>
                    <a:spcPct val="90000"/>
                  </a:lnSpc>
                  <a:buNone/>
                </a:pPr>
                <a:r>
                  <a:rPr lang="en-US" sz="2200" b="1" dirty="0"/>
                  <a:t>Concept</a:t>
                </a:r>
                <a:r>
                  <a:rPr lang="th-TH" sz="2200" b="1" dirty="0"/>
                  <a:t> </a:t>
                </a:r>
                <a:r>
                  <a:rPr lang="en-US" sz="2200" b="1" dirty="0"/>
                  <a:t>:</a:t>
                </a:r>
                <a:endParaRPr lang="en-US" altLang="zh-TW" sz="2200" b="1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1900" dirty="0"/>
                  <a:t>Extracts </a:t>
                </a:r>
                <a:r>
                  <a:rPr lang="en-US" sz="1900" dirty="0">
                    <a:solidFill>
                      <a:srgbClr val="C00000"/>
                    </a:solidFill>
                  </a:rPr>
                  <a:t>"Health Indicators" (HIs) </a:t>
                </a:r>
                <a:r>
                  <a:rPr lang="en-US" sz="1900" dirty="0"/>
                  <a:t>from standard voltage and current data</a:t>
                </a:r>
                <a:endParaRPr lang="th-TH" sz="1900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1900" dirty="0"/>
                  <a:t>Uses </a:t>
                </a:r>
                <a:r>
                  <a:rPr lang="en-US" sz="1900" b="1" dirty="0">
                    <a:solidFill>
                      <a:srgbClr val="C00000"/>
                    </a:solidFill>
                  </a:rPr>
                  <a:t>Incremental Capacity (IC) curves</a:t>
                </a:r>
                <a:r>
                  <a:rPr lang="en-US" sz="1900" dirty="0">
                    <a:solidFill>
                      <a:srgbClr val="C00000"/>
                    </a:solidFill>
                  </a:rPr>
                  <a:t> </a:t>
                </a:r>
                <a:r>
                  <a:rPr lang="en-US" sz="1900" dirty="0"/>
                  <a:t>(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𝑑𝑄</m:t>
                    </m:r>
                    <m:r>
                      <a:rPr lang="en-US" sz="19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𝑑𝑉</m:t>
                    </m:r>
                  </m:oMath>
                </a14:m>
                <a:r>
                  <a:rPr lang="en-US" sz="1900" dirty="0"/>
                  <a:t>) to visualize internal electrochemical changes</a:t>
                </a:r>
                <a:endParaRPr lang="th-TH" sz="19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900" dirty="0"/>
              </a:p>
              <a:p>
                <a:pPr marL="0" indent="0" hangingPunct="0">
                  <a:lnSpc>
                    <a:spcPct val="90000"/>
                  </a:lnSpc>
                  <a:buNone/>
                </a:pPr>
                <a:r>
                  <a:rPr lang="en-US" sz="2200" b="1" dirty="0"/>
                  <a:t>Mechanism: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1900" dirty="0"/>
                  <a:t>Peaks on the </a:t>
                </a:r>
                <a:r>
                  <a:rPr lang="en-US" sz="1900" dirty="0">
                    <a:solidFill>
                      <a:srgbClr val="C00000"/>
                    </a:solidFill>
                  </a:rPr>
                  <a:t>IC curve </a:t>
                </a:r>
                <a:r>
                  <a:rPr lang="en-US" sz="1900" dirty="0"/>
                  <a:t>correspond to specific electrochemical reaction stages.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1900" b="1" dirty="0"/>
                  <a:t>Aging Signature:</a:t>
                </a:r>
                <a:r>
                  <a:rPr lang="en-US" sz="1900" dirty="0"/>
                  <a:t> As the battery ages, </a:t>
                </a:r>
                <a:r>
                  <a:rPr lang="en-US" sz="1900" dirty="0">
                    <a:solidFill>
                      <a:srgbClr val="C00000"/>
                    </a:solidFill>
                  </a:rPr>
                  <a:t>IC peaks shift</a:t>
                </a:r>
                <a:r>
                  <a:rPr lang="en-US" sz="1900" dirty="0"/>
                  <a:t> in position and decrease in amplitude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th-TH" sz="1900" dirty="0"/>
              </a:p>
              <a:p>
                <a:pPr marL="0" indent="0">
                  <a:buNone/>
                </a:pPr>
                <a:r>
                  <a:rPr lang="en-US" sz="2200" b="1" dirty="0"/>
                  <a:t>Challenges:</a:t>
                </a:r>
                <a:endParaRPr lang="th-TH" sz="2200" b="1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1900" dirty="0"/>
                  <a:t>Highly sensitive to </a:t>
                </a:r>
                <a:r>
                  <a:rPr lang="en-US" sz="1900" b="1" dirty="0">
                    <a:solidFill>
                      <a:srgbClr val="C00000"/>
                    </a:solidFill>
                  </a:rPr>
                  <a:t>measurement noise</a:t>
                </a:r>
                <a:r>
                  <a:rPr lang="en-US" sz="1900" dirty="0"/>
                  <a:t>; requires smoothing (e.g., Gaussian filters) for accuracy</a:t>
                </a:r>
              </a:p>
              <a:p>
                <a:pPr marL="0" indent="0" hangingPunct="0">
                  <a:lnSpc>
                    <a:spcPct val="90000"/>
                  </a:lnSpc>
                  <a:buNone/>
                </a:pPr>
                <a:endParaRPr lang="en-US" altLang="zh-TW" sz="1600" b="0" i="0" dirty="0">
                  <a:effectLst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16E59DB1-A8A7-F523-7AF7-ECCD4CB86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98246" y="1371125"/>
                <a:ext cx="4697282" cy="4858278"/>
              </a:xfrm>
              <a:blipFill>
                <a:blip r:embed="rId3"/>
                <a:stretch>
                  <a:fillRect l="-1299" t="-1882" r="-1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74D80A-AAFA-24F6-45AA-C324BBB3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5F157-A203-3ECA-2922-B0D740A90F52}"/>
              </a:ext>
            </a:extLst>
          </p:cNvPr>
          <p:cNvSpPr txBox="1"/>
          <p:nvPr/>
        </p:nvSpPr>
        <p:spPr>
          <a:xfrm>
            <a:off x="4044156" y="97101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Extracting Features from Charging Curves</a:t>
            </a:r>
            <a:endParaRPr lang="en-US" sz="2000" b="1" dirty="0">
              <a:solidFill>
                <a:srgbClr val="1D1D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3DC531-8C4D-5E48-0ED2-B6AFB5C59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388" y="1772816"/>
            <a:ext cx="4087537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24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774A-C0DA-1C41-CE57-A78702C7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AE1469-7802-5E73-F444-96744D8DB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Health Feature Extraction 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C77F904E-27AE-AC38-E89A-5555F19EF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8246" y="1371125"/>
            <a:ext cx="4672142" cy="4858278"/>
          </a:xfrm>
        </p:spPr>
        <p:txBody>
          <a:bodyPr wrap="square" anchor="t">
            <a:normAutofit/>
          </a:bodyPr>
          <a:lstStyle/>
          <a:p>
            <a:pPr marL="0" indent="0" hangingPunct="0">
              <a:buNone/>
            </a:pPr>
            <a:r>
              <a:rPr lang="en-US" sz="1800" b="1" dirty="0"/>
              <a:t>Time-Based Features (Simple &amp; Fast)</a:t>
            </a:r>
            <a:r>
              <a:rPr lang="th-TH" sz="1800" b="1" dirty="0"/>
              <a:t> </a:t>
            </a:r>
            <a:r>
              <a:rPr lang="en-US" sz="1800" b="1" dirty="0"/>
              <a:t>:</a:t>
            </a:r>
            <a:endParaRPr lang="en-US" altLang="zh-TW" sz="18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Monitors the </a:t>
            </a:r>
            <a:r>
              <a:rPr lang="en-US" sz="1600" b="1" dirty="0">
                <a:solidFill>
                  <a:srgbClr val="C00000"/>
                </a:solidFill>
              </a:rPr>
              <a:t>duration</a:t>
            </a:r>
            <a:r>
              <a:rPr lang="en-US" sz="1600" dirty="0"/>
              <a:t> of charging phases.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Trend:</a:t>
            </a:r>
            <a:r>
              <a:rPr lang="en-US" sz="1600" dirty="0"/>
              <a:t> In CC-CV charging, the Constant Voltage (CV) time</a:t>
            </a:r>
            <a:r>
              <a:rPr lang="en-US" sz="1600" dirty="0">
                <a:solidFill>
                  <a:srgbClr val="C00000"/>
                </a:solidFill>
              </a:rPr>
              <a:t> </a:t>
            </a:r>
            <a:r>
              <a:rPr lang="en-US" sz="1600" i="1" dirty="0">
                <a:solidFill>
                  <a:srgbClr val="C00000"/>
                </a:solidFill>
              </a:rPr>
              <a:t>increases</a:t>
            </a:r>
            <a:r>
              <a:rPr lang="en-US" sz="1600" dirty="0">
                <a:solidFill>
                  <a:srgbClr val="C00000"/>
                </a:solidFill>
              </a:rPr>
              <a:t> </a:t>
            </a:r>
            <a:r>
              <a:rPr lang="en-US" sz="1600" dirty="0"/>
              <a:t>while Constant Current (CC) time </a:t>
            </a:r>
            <a:r>
              <a:rPr lang="en-US" sz="1600" i="1" dirty="0">
                <a:solidFill>
                  <a:srgbClr val="C00000"/>
                </a:solidFill>
              </a:rPr>
              <a:t>decreases</a:t>
            </a:r>
            <a:r>
              <a:rPr lang="en-US" sz="1600" dirty="0"/>
              <a:t> with aging</a:t>
            </a:r>
            <a:endParaRPr lang="th-TH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Pros:</a:t>
            </a:r>
            <a:r>
              <a:rPr lang="en-US" sz="1600" dirty="0"/>
              <a:t> Low computational cost                           </a:t>
            </a:r>
            <a:r>
              <a:rPr lang="en-US" sz="1600" b="1" dirty="0"/>
              <a:t>Cons:</a:t>
            </a:r>
            <a:r>
              <a:rPr lang="en-US" sz="1600" dirty="0"/>
              <a:t> Requires strict charging protocols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hangingPunct="0">
              <a:buNone/>
            </a:pPr>
            <a:r>
              <a:rPr lang="en-US" sz="1800" b="1" dirty="0"/>
              <a:t>Frequency-Domain (EIS) (Deep Analysis):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dirty="0"/>
              <a:t>Uses </a:t>
            </a:r>
            <a:r>
              <a:rPr lang="en-US" sz="1600" b="1" dirty="0">
                <a:solidFill>
                  <a:srgbClr val="C00000"/>
                </a:solidFill>
              </a:rPr>
              <a:t>Electrochemical Impedance Spectroscopy (EIS</a:t>
            </a:r>
            <a:r>
              <a:rPr lang="en-US" sz="1600" b="1" dirty="0"/>
              <a:t>)</a:t>
            </a:r>
            <a:r>
              <a:rPr lang="en-US" sz="1600" dirty="0"/>
              <a:t> to measure internal resistance and SEI film growth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Pros:</a:t>
            </a:r>
            <a:r>
              <a:rPr lang="en-US" sz="1600" dirty="0"/>
              <a:t> Provides deep insight into internal kinetics                                        </a:t>
            </a:r>
            <a:r>
              <a:rPr lang="en-US" sz="1600" b="1" dirty="0"/>
              <a:t>Cons:</a:t>
            </a:r>
            <a:r>
              <a:rPr lang="en-US" sz="1600" dirty="0"/>
              <a:t> Equipment is expensive and time-consuming</a:t>
            </a:r>
            <a:endParaRPr lang="th-TH" sz="1600" dirty="0"/>
          </a:p>
          <a:p>
            <a:pPr marL="0" indent="0" hangingPunct="0">
              <a:lnSpc>
                <a:spcPct val="90000"/>
              </a:lnSpc>
              <a:buNone/>
            </a:pPr>
            <a:endParaRPr lang="en-US" altLang="zh-TW" sz="1600" b="0" i="0" dirty="0">
              <a:effectLst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B2D0BC-A139-0BEB-92B9-318F0FA7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6BFFC-2C07-6957-4BA7-774E70D36997}"/>
              </a:ext>
            </a:extLst>
          </p:cNvPr>
          <p:cNvSpPr txBox="1"/>
          <p:nvPr/>
        </p:nvSpPr>
        <p:spPr>
          <a:xfrm>
            <a:off x="3905994" y="971015"/>
            <a:ext cx="484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Time-Domain &amp; Frequency-Domain Features</a:t>
            </a:r>
            <a:endParaRPr lang="en-US" sz="2000" b="1" dirty="0">
              <a:solidFill>
                <a:srgbClr val="1D1D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2823E3-23BF-31C7-F02F-CA0C4322D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1421" y="1733015"/>
            <a:ext cx="4126080" cy="356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02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B3690-355C-85C5-B597-A642996B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6AE8BA-DB9A-3C0A-E90D-4DD95EA6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Health Feature Extraction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7937E9-DFA1-8B2C-F15C-E544D90D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60E61-B6FB-DE1B-51BB-0C5CBF3929F8}"/>
              </a:ext>
            </a:extLst>
          </p:cNvPr>
          <p:cNvSpPr txBox="1"/>
          <p:nvPr/>
        </p:nvSpPr>
        <p:spPr>
          <a:xfrm>
            <a:off x="3905994" y="971015"/>
            <a:ext cx="484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Pack-Level Features &amp; Comparison</a:t>
            </a:r>
            <a:endParaRPr lang="en-US" sz="2000" b="1" dirty="0">
              <a:solidFill>
                <a:srgbClr val="1D1D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E4095-F222-8C61-C6A5-4F89D9ECC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504" y="1439269"/>
            <a:ext cx="8770789" cy="39794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C829AA2-55B6-6F38-DF60-631C6E606A41}"/>
                  </a:ext>
                </a:extLst>
              </p14:cNvPr>
              <p14:cNvContentPartPr/>
              <p14:nvPr/>
            </p14:nvContentPartPr>
            <p14:xfrm>
              <a:off x="3093340" y="4648000"/>
              <a:ext cx="2299320" cy="33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C829AA2-55B6-6F38-DF60-631C6E606A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7340" y="4576000"/>
                <a:ext cx="23709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78482C7-4F63-A162-29E2-D9309F33D228}"/>
                  </a:ext>
                </a:extLst>
              </p14:cNvPr>
              <p14:cNvContentPartPr/>
              <p14:nvPr/>
            </p14:nvContentPartPr>
            <p14:xfrm>
              <a:off x="2785900" y="4790200"/>
              <a:ext cx="975960" cy="25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78482C7-4F63-A162-29E2-D9309F33D2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0260" y="4718560"/>
                <a:ext cx="10476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EF7C281-3F4D-2773-391C-AA53EE163FCC}"/>
                  </a:ext>
                </a:extLst>
              </p14:cNvPr>
              <p14:cNvContentPartPr/>
              <p14:nvPr/>
            </p14:nvContentPartPr>
            <p14:xfrm>
              <a:off x="6400520" y="4957680"/>
              <a:ext cx="2266200" cy="10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EF7C281-3F4D-2773-391C-AA53EE163F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64880" y="4886040"/>
                <a:ext cx="23378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5723A0B-8DCC-2FB0-3374-4A1CC86E0B4D}"/>
                  </a:ext>
                </a:extLst>
              </p14:cNvPr>
              <p14:cNvContentPartPr/>
              <p14:nvPr/>
            </p14:nvContentPartPr>
            <p14:xfrm>
              <a:off x="5907680" y="5095200"/>
              <a:ext cx="1524600" cy="45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5723A0B-8DCC-2FB0-3374-4A1CC86E0B4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1680" y="5023200"/>
                <a:ext cx="15962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59B0E24-5B4E-4B77-8F2E-7FC8ACA41094}"/>
                  </a:ext>
                </a:extLst>
              </p14:cNvPr>
              <p14:cNvContentPartPr/>
              <p14:nvPr/>
            </p14:nvContentPartPr>
            <p14:xfrm>
              <a:off x="2788560" y="2219760"/>
              <a:ext cx="2566080" cy="41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59B0E24-5B4E-4B77-8F2E-7FC8ACA410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52560" y="2147760"/>
                <a:ext cx="26377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A6EF9C5-721D-5EFB-E6E7-32F419124D45}"/>
                  </a:ext>
                </a:extLst>
              </p14:cNvPr>
              <p14:cNvContentPartPr/>
              <p14:nvPr/>
            </p14:nvContentPartPr>
            <p14:xfrm>
              <a:off x="2793960" y="2809080"/>
              <a:ext cx="2474280" cy="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A6EF9C5-721D-5EFB-E6E7-32F419124D4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57960" y="2665080"/>
                <a:ext cx="25459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DA35DE3-AE61-329B-7A7C-BF294D18AE5A}"/>
                  </a:ext>
                </a:extLst>
              </p14:cNvPr>
              <p14:cNvContentPartPr/>
              <p14:nvPr/>
            </p14:nvContentPartPr>
            <p14:xfrm>
              <a:off x="5917760" y="2260440"/>
              <a:ext cx="1626480" cy="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DA35DE3-AE61-329B-7A7C-BF294D18AE5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82120" y="2116440"/>
                <a:ext cx="16981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41E56DB-B622-0B5B-98F7-4A8905751678}"/>
                  </a:ext>
                </a:extLst>
              </p14:cNvPr>
              <p14:cNvContentPartPr/>
              <p14:nvPr/>
            </p14:nvContentPartPr>
            <p14:xfrm>
              <a:off x="6197120" y="2951280"/>
              <a:ext cx="1742760" cy="20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41E56DB-B622-0B5B-98F7-4A890575167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61480" y="2879280"/>
                <a:ext cx="18144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BF32E10-66AE-856E-1F9D-D993C663B890}"/>
                  </a:ext>
                </a:extLst>
              </p14:cNvPr>
              <p14:cNvContentPartPr/>
              <p14:nvPr/>
            </p14:nvContentPartPr>
            <p14:xfrm>
              <a:off x="5887440" y="3515040"/>
              <a:ext cx="2768760" cy="5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BF32E10-66AE-856E-1F9D-D993C663B89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51440" y="3443400"/>
                <a:ext cx="284040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B70C493-B95B-26D5-FAA4-C7568A90CCF8}"/>
                  </a:ext>
                </a:extLst>
              </p14:cNvPr>
              <p14:cNvContentPartPr/>
              <p14:nvPr/>
            </p14:nvContentPartPr>
            <p14:xfrm>
              <a:off x="228240" y="2250000"/>
              <a:ext cx="967320" cy="20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B70C493-B95B-26D5-FAA4-C7568A90CCF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2600" y="2178000"/>
                <a:ext cx="10389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C9E7278-FC9E-6182-9172-CC752B8A528A}"/>
                  </a:ext>
                </a:extLst>
              </p14:cNvPr>
              <p14:cNvContentPartPr/>
              <p14:nvPr/>
            </p14:nvContentPartPr>
            <p14:xfrm>
              <a:off x="314640" y="2372040"/>
              <a:ext cx="1043640" cy="25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C9E7278-FC9E-6182-9172-CC752B8A528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9000" y="2300400"/>
                <a:ext cx="11152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81774EA-BBCC-3100-2718-B88A06C9D1CE}"/>
                  </a:ext>
                </a:extLst>
              </p14:cNvPr>
              <p14:cNvContentPartPr/>
              <p14:nvPr/>
            </p14:nvContentPartPr>
            <p14:xfrm>
              <a:off x="325080" y="2514600"/>
              <a:ext cx="36612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81774EA-BBCC-3100-2718-B88A06C9D1C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9080" y="2442600"/>
                <a:ext cx="4377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E8A6C04-0788-141D-7D48-0BE958C3C874}"/>
                  </a:ext>
                </a:extLst>
              </p14:cNvPr>
              <p14:cNvContentPartPr/>
              <p14:nvPr/>
            </p14:nvContentPartPr>
            <p14:xfrm>
              <a:off x="258840" y="3519000"/>
              <a:ext cx="1268640" cy="21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E8A6C04-0788-141D-7D48-0BE958C3C87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2840" y="3447000"/>
                <a:ext cx="13402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4FAF6BD-6891-0964-AC20-799270869914}"/>
                  </a:ext>
                </a:extLst>
              </p14:cNvPr>
              <p14:cNvContentPartPr/>
              <p14:nvPr/>
            </p14:nvContentPartPr>
            <p14:xfrm>
              <a:off x="355680" y="3677760"/>
              <a:ext cx="965160" cy="10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4FAF6BD-6891-0964-AC20-79927086991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9680" y="3605760"/>
                <a:ext cx="10368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C0EE112-665D-0000-5B53-F0DE722FD174}"/>
                  </a:ext>
                </a:extLst>
              </p14:cNvPr>
              <p14:cNvContentPartPr/>
              <p14:nvPr/>
            </p14:nvContentPartPr>
            <p14:xfrm>
              <a:off x="203040" y="4637880"/>
              <a:ext cx="1305360" cy="37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C0EE112-665D-0000-5B53-F0DE722FD17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67400" y="4565880"/>
                <a:ext cx="13770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B479580-FF5F-AC82-5A68-A7A76DE0481A}"/>
                  </a:ext>
                </a:extLst>
              </p14:cNvPr>
              <p14:cNvContentPartPr/>
              <p14:nvPr/>
            </p14:nvContentPartPr>
            <p14:xfrm>
              <a:off x="330120" y="4789800"/>
              <a:ext cx="993240" cy="111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B479580-FF5F-AC82-5A68-A7A76DE0481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4120" y="4717800"/>
                <a:ext cx="1064880" cy="15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6397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4F741-7DE0-7FB3-F89C-F6B1EAA4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54C1E1-0EB0-79B1-494E-798DDB729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SOH Estimation Models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20746CD-1580-889F-25FA-0FFDA7473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3025" y="1485117"/>
            <a:ext cx="8406202" cy="4858278"/>
          </a:xfrm>
        </p:spPr>
        <p:txBody>
          <a:bodyPr wrap="square" anchor="t">
            <a:normAutofit/>
          </a:bodyPr>
          <a:lstStyle/>
          <a:p>
            <a:pPr marL="0" indent="0" hangingPunct="0">
              <a:buNone/>
            </a:pPr>
            <a:r>
              <a:rPr lang="en-US" sz="1800" b="1" dirty="0"/>
              <a:t>Core Concept:</a:t>
            </a:r>
            <a:endParaRPr lang="en-US" altLang="zh-TW" sz="18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Estimates internal states (SOC/SOH) by </a:t>
            </a:r>
            <a:r>
              <a:rPr lang="en-US" sz="1600" dirty="0">
                <a:solidFill>
                  <a:srgbClr val="FF0000"/>
                </a:solidFill>
              </a:rPr>
              <a:t>observing external measurements </a:t>
            </a:r>
            <a:r>
              <a:rPr lang="en-US" sz="1600" dirty="0"/>
              <a:t>(Voltage, Current, Temp).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FF0000"/>
                </a:solidFill>
              </a:rPr>
              <a:t>Uses State-Space Models </a:t>
            </a:r>
            <a:r>
              <a:rPr lang="en-US" sz="1600" dirty="0"/>
              <a:t>to mathematically represent battery physics.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hangingPunct="0">
              <a:buNone/>
            </a:pPr>
            <a:r>
              <a:rPr lang="en-US" sz="1800" b="1" dirty="0"/>
              <a:t>Key Algorithms :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Kalman Filter (KF):</a:t>
            </a:r>
            <a:r>
              <a:rPr lang="en-US" sz="1600" dirty="0"/>
              <a:t> Recursive algorithm suitable for </a:t>
            </a:r>
            <a:r>
              <a:rPr lang="en-US" sz="1600" dirty="0">
                <a:solidFill>
                  <a:srgbClr val="FF0000"/>
                </a:solidFill>
              </a:rPr>
              <a:t>linear systems</a:t>
            </a:r>
            <a:r>
              <a:rPr lang="en-US" sz="1600" dirty="0"/>
              <a:t>. Fast and low complexity .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Extended Kalman Filter (EKF):</a:t>
            </a:r>
            <a:r>
              <a:rPr lang="en-US" sz="1600" dirty="0"/>
              <a:t> Modified version to handle </a:t>
            </a:r>
            <a:r>
              <a:rPr lang="en-US" sz="1600" b="1" dirty="0">
                <a:solidFill>
                  <a:srgbClr val="FF0000"/>
                </a:solidFill>
              </a:rPr>
              <a:t>non-linear</a:t>
            </a:r>
            <a:r>
              <a:rPr lang="en-US" sz="1600" dirty="0"/>
              <a:t> battery behaviors.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Particle Filter (PF):</a:t>
            </a:r>
            <a:r>
              <a:rPr lang="en-US" sz="1600" dirty="0"/>
              <a:t> Uses Monte Carlo sampling; excellent for </a:t>
            </a:r>
            <a:r>
              <a:rPr lang="en-US" sz="1600" dirty="0">
                <a:solidFill>
                  <a:srgbClr val="FF0000"/>
                </a:solidFill>
              </a:rPr>
              <a:t>non-Gaussian noise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FF0000"/>
                </a:solidFill>
              </a:rPr>
              <a:t>highly non-linear systems.</a:t>
            </a:r>
          </a:p>
          <a:p>
            <a:pPr hangingPunct="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hangingPunct="0">
              <a:buNone/>
            </a:pPr>
            <a:r>
              <a:rPr lang="en-US" sz="1800" b="1" dirty="0"/>
              <a:t>Pros &amp; Cons: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Pro:</a:t>
            </a:r>
            <a:r>
              <a:rPr lang="en-US" sz="1600" dirty="0"/>
              <a:t> Real-time capability, low computational cost.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Con:</a:t>
            </a:r>
            <a:r>
              <a:rPr lang="en-US" sz="1600" dirty="0"/>
              <a:t> Heavily relies on the accuracy of the initial battery model.</a:t>
            </a:r>
            <a:endParaRPr lang="en-US" altLang="zh-TW" sz="1600" b="1" i="0" dirty="0">
              <a:effectLst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9BBD88-035E-0DDD-497C-7BF297C5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F49A9-A772-95B7-F42C-2B55BFFEB051}"/>
              </a:ext>
            </a:extLst>
          </p:cNvPr>
          <p:cNvSpPr txBox="1"/>
          <p:nvPr/>
        </p:nvSpPr>
        <p:spPr>
          <a:xfrm>
            <a:off x="3905994" y="971015"/>
            <a:ext cx="484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Model-Based Approaches (The "White Box")</a:t>
            </a:r>
            <a:endParaRPr lang="en-US" sz="2000" b="1" dirty="0">
              <a:solidFill>
                <a:srgbClr val="1D1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349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17E1-6295-0A63-A77B-91915BC92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EEFABF-73EC-782B-C7F5-1B0D1D73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SOH Estimation Models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6C682832-33D9-97FD-6BBA-91087B807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8246" y="1371125"/>
            <a:ext cx="4672142" cy="4858278"/>
          </a:xfrm>
        </p:spPr>
        <p:txBody>
          <a:bodyPr wrap="square" anchor="t">
            <a:normAutofit fontScale="92500" lnSpcReduction="20000"/>
          </a:bodyPr>
          <a:lstStyle/>
          <a:p>
            <a:pPr marL="0" indent="0" hangingPunct="0">
              <a:buNone/>
            </a:pPr>
            <a:r>
              <a:rPr lang="en-US" sz="1800" b="1" dirty="0">
                <a:solidFill>
                  <a:srgbClr val="1D1DFF"/>
                </a:solidFill>
              </a:rPr>
              <a:t>Core Concept :</a:t>
            </a:r>
            <a:endParaRPr lang="en-US" altLang="zh-TW" sz="1800" b="1" dirty="0">
              <a:solidFill>
                <a:srgbClr val="1D1DFF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Treats the battery as a </a:t>
            </a:r>
            <a:r>
              <a:rPr lang="en-US" sz="1600" b="1" dirty="0">
                <a:solidFill>
                  <a:srgbClr val="C00000"/>
                </a:solidFill>
              </a:rPr>
              <a:t>"Black Box"</a:t>
            </a:r>
            <a:r>
              <a:rPr lang="en-US" sz="1600" dirty="0"/>
              <a:t>. No need to understand complex internal chemical reactions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C00000"/>
                </a:solidFill>
              </a:rPr>
              <a:t>Learns mapping rules </a:t>
            </a:r>
            <a:r>
              <a:rPr lang="en-US" sz="1600" dirty="0"/>
              <a:t>between "Health Features" and SOH directly from historical data.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hangingPunct="0">
              <a:buNone/>
            </a:pPr>
            <a:r>
              <a:rPr lang="en-US" sz="1800" b="1" dirty="0"/>
              <a:t>Architectures: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SVM (Support Vector Machine): </a:t>
            </a:r>
            <a:r>
              <a:rPr lang="en-US" sz="1600" dirty="0"/>
              <a:t>Identifies an optimal hyperplane to </a:t>
            </a:r>
            <a:r>
              <a:rPr lang="en-US" sz="1600" dirty="0">
                <a:solidFill>
                  <a:srgbClr val="C00000"/>
                </a:solidFill>
              </a:rPr>
              <a:t>separate data</a:t>
            </a:r>
            <a:r>
              <a:rPr lang="en-US" sz="1600" dirty="0"/>
              <a:t>; highly effective for small datasets . 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RVM (Relevance Vector Machine): </a:t>
            </a:r>
            <a:r>
              <a:rPr lang="en-US" sz="1600" dirty="0"/>
              <a:t>A Bayesian sparse model that improves on SVM by providing </a:t>
            </a:r>
            <a:r>
              <a:rPr lang="en-US" sz="1600" dirty="0">
                <a:solidFill>
                  <a:srgbClr val="C00000"/>
                </a:solidFill>
              </a:rPr>
              <a:t>probabilistic predictions (uncertainty) </a:t>
            </a:r>
            <a:r>
              <a:rPr lang="en-US" sz="1600" dirty="0"/>
              <a:t>. 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GPR (Gaussian Process Regression): </a:t>
            </a:r>
            <a:r>
              <a:rPr lang="en-US" sz="1600" dirty="0"/>
              <a:t>A non-parametric model that uniquely outputs </a:t>
            </a:r>
            <a:r>
              <a:rPr lang="en-US" sz="1600" dirty="0">
                <a:solidFill>
                  <a:srgbClr val="C00000"/>
                </a:solidFill>
              </a:rPr>
              <a:t>confidence intervals (reliability) </a:t>
            </a:r>
            <a:r>
              <a:rPr lang="en-US" sz="1600" dirty="0"/>
              <a:t>alongside the prediction . 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NN (Neural Network):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Mimics human neurons to excel</a:t>
            </a:r>
            <a:r>
              <a:rPr lang="en-US" sz="1600" dirty="0"/>
              <a:t> at processing complex, non-linear data without detailed physical knowledge . 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i="1" dirty="0"/>
              <a:t>ELM (Extreme Learning Machine):</a:t>
            </a:r>
            <a:r>
              <a:rPr lang="en-US" sz="1600" b="1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Uses random weights for single-layer networks</a:t>
            </a:r>
            <a:r>
              <a:rPr lang="en-US" sz="1600" dirty="0"/>
              <a:t>, achieving superior training speed compared to traditional NNs .</a:t>
            </a:r>
            <a:endParaRPr lang="en-US" altLang="zh-TW" sz="1600" b="0" i="0" dirty="0">
              <a:effectLst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7FF3A4-5497-AC07-5A13-7E1E8974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0A7B5-3380-66C5-FE0A-7F112D519CE3}"/>
              </a:ext>
            </a:extLst>
          </p:cNvPr>
          <p:cNvSpPr txBox="1"/>
          <p:nvPr/>
        </p:nvSpPr>
        <p:spPr>
          <a:xfrm>
            <a:off x="3905994" y="971015"/>
            <a:ext cx="484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Data-Driven Approaches (The "Black Box")</a:t>
            </a:r>
            <a:endParaRPr lang="en-US" sz="2000" b="1" dirty="0">
              <a:solidFill>
                <a:srgbClr val="1D1D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365816-49CA-9624-48FD-88B52D7D7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388" y="1507391"/>
            <a:ext cx="4104456" cy="440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77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9D81-773D-1239-A1A1-B4D5E2D1F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0EDB9B-1DB7-CDD7-BAFF-163112D52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4" y="176828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SOH Estimation Models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AAB19C9-A559-D38B-8B73-32B07639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2902" y="1484784"/>
            <a:ext cx="8318196" cy="3232339"/>
          </a:xfrm>
        </p:spPr>
        <p:txBody>
          <a:bodyPr wrap="square" anchor="t">
            <a:normAutofit/>
          </a:bodyPr>
          <a:lstStyle/>
          <a:p>
            <a:pPr marL="0" indent="0" hangingPunct="0">
              <a:buNone/>
            </a:pPr>
            <a:r>
              <a:rPr lang="en-US" sz="1800" b="1" dirty="0"/>
              <a:t>Hybrid SOH Estimation</a:t>
            </a:r>
            <a:r>
              <a:rPr lang="en-US" sz="1800" b="1" dirty="0">
                <a:solidFill>
                  <a:srgbClr val="1D1DFF"/>
                </a:solidFill>
              </a:rPr>
              <a:t>:</a:t>
            </a:r>
            <a:endParaRPr lang="en-US" altLang="zh-TW" sz="1800" b="1" dirty="0">
              <a:solidFill>
                <a:srgbClr val="1D1DFF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Combines </a:t>
            </a:r>
            <a:r>
              <a:rPr lang="en-US" sz="1600" b="1" dirty="0">
                <a:solidFill>
                  <a:srgbClr val="C00000"/>
                </a:solidFill>
              </a:rPr>
              <a:t>Model-based + Data-driven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/>
              <a:t>methods (e.g., Kalman Filter + Neural Network).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Why Hybrid?</a:t>
            </a:r>
            <a:r>
              <a:rPr lang="en-US" sz="1600" dirty="0"/>
              <a:t> It leverages the strengths of both worlds to improve accuracy and generalization.</a:t>
            </a:r>
          </a:p>
          <a:p>
            <a:pPr marL="0" indent="0">
              <a:buNone/>
            </a:pPr>
            <a:endParaRPr lang="en-US" sz="1600" dirty="0"/>
          </a:p>
          <a:p>
            <a:pPr marL="0" indent="0" hangingPunct="0">
              <a:buNone/>
            </a:pPr>
            <a:r>
              <a:rPr lang="en-US" sz="1800" b="1" dirty="0"/>
              <a:t>Comparison Summary: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Filters:</a:t>
            </a:r>
            <a:r>
              <a:rPr lang="en-US" sz="1600" dirty="0"/>
              <a:t> Good for real-time, but </a:t>
            </a:r>
            <a:r>
              <a:rPr lang="en-US" sz="1600" dirty="0">
                <a:solidFill>
                  <a:srgbClr val="C00000"/>
                </a:solidFill>
              </a:rPr>
              <a:t>model-dependent</a:t>
            </a:r>
            <a:r>
              <a:rPr lang="en-US" sz="1600" dirty="0"/>
              <a:t>.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Machine Learning:</a:t>
            </a:r>
            <a:r>
              <a:rPr lang="en-US" sz="1600" dirty="0"/>
              <a:t> High accuracy, but requires massive training data </a:t>
            </a:r>
            <a:r>
              <a:rPr lang="en-US" sz="1600" dirty="0">
                <a:solidFill>
                  <a:srgbClr val="C00000"/>
                </a:solidFill>
              </a:rPr>
              <a:t>("Data Hungry").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en-US" sz="1600" b="1" dirty="0"/>
              <a:t>Hybrid:</a:t>
            </a:r>
            <a:r>
              <a:rPr lang="en-US" sz="1600" dirty="0"/>
              <a:t> Highest accuracy and robustness, but computationally expensive </a:t>
            </a:r>
            <a:r>
              <a:rPr lang="en-US" sz="1600" dirty="0">
                <a:solidFill>
                  <a:srgbClr val="C00000"/>
                </a:solidFill>
              </a:rPr>
              <a:t>(Complex).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0C4ECC-B646-ECC6-141F-C93F3710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188FA-3F54-EC94-5545-A2E9EFD47C3F}"/>
              </a:ext>
            </a:extLst>
          </p:cNvPr>
          <p:cNvSpPr txBox="1"/>
          <p:nvPr/>
        </p:nvSpPr>
        <p:spPr>
          <a:xfrm>
            <a:off x="3905993" y="938828"/>
            <a:ext cx="484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Hybrid Methods</a:t>
            </a:r>
          </a:p>
        </p:txBody>
      </p:sp>
    </p:spTree>
    <p:extLst>
      <p:ext uri="{BB962C8B-B14F-4D97-AF65-F5344CB8AC3E}">
        <p14:creationId xmlns:p14="http://schemas.microsoft.com/office/powerpoint/2010/main" val="4063235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FF15-16CC-7559-643F-58BB843E9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43010E-38EC-D0DE-00F5-48E0CDB9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4" y="176828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Comparison of Models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6292F4-C250-AB43-65FF-1610CD68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523AE-601B-71E8-08A4-1E3D0813F421}"/>
              </a:ext>
            </a:extLst>
          </p:cNvPr>
          <p:cNvSpPr txBox="1"/>
          <p:nvPr/>
        </p:nvSpPr>
        <p:spPr>
          <a:xfrm>
            <a:off x="3698936" y="938828"/>
            <a:ext cx="5262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Speed vs. Accuracy vs. Complexity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91C72765-5AD9-694D-087B-442E8EEA4DD2}"/>
              </a:ext>
            </a:extLst>
          </p:cNvPr>
          <p:cNvSpPr txBox="1">
            <a:spLocks/>
          </p:cNvSpPr>
          <p:nvPr/>
        </p:nvSpPr>
        <p:spPr bwMode="auto">
          <a:xfrm>
            <a:off x="412902" y="1484784"/>
            <a:ext cx="8318196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>
              <a:buNone/>
            </a:pPr>
            <a:r>
              <a:rPr lang="en-US" sz="1800" b="1" dirty="0">
                <a:effectLst/>
              </a:rPr>
              <a:t>Statistical Filters (The </a:t>
            </a:r>
            <a:r>
              <a:rPr lang="en-US" sz="1800" b="1" dirty="0">
                <a:solidFill>
                  <a:srgbClr val="FF0000"/>
                </a:solidFill>
                <a:effectLst/>
              </a:rPr>
              <a:t>"Fast" </a:t>
            </a:r>
            <a:r>
              <a:rPr lang="en-US" sz="1800" b="1" dirty="0">
                <a:effectLst/>
              </a:rPr>
              <a:t>Option):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Strength:</a:t>
            </a:r>
            <a:r>
              <a:rPr lang="en-US" sz="1600" dirty="0">
                <a:effectLst/>
              </a:rPr>
              <a:t> Low computational complexity; excellent for </a:t>
            </a:r>
            <a:r>
              <a:rPr lang="en-US" sz="1600" dirty="0">
                <a:solidFill>
                  <a:srgbClr val="FF0000"/>
                </a:solidFill>
                <a:effectLst/>
              </a:rPr>
              <a:t>real-time BMS updates</a:t>
            </a:r>
            <a:r>
              <a:rPr lang="en-US" sz="1600" dirty="0">
                <a:effectLst/>
              </a:rPr>
              <a:t>.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Weakness:</a:t>
            </a:r>
            <a:r>
              <a:rPr lang="en-US" sz="1600" dirty="0">
                <a:effectLst/>
              </a:rPr>
              <a:t> </a:t>
            </a:r>
            <a:r>
              <a:rPr lang="en-US" sz="1600" dirty="0">
                <a:solidFill>
                  <a:srgbClr val="FF0000"/>
                </a:solidFill>
                <a:effectLst/>
              </a:rPr>
              <a:t>Highly sensitive </a:t>
            </a:r>
            <a:r>
              <a:rPr lang="en-US" sz="1600" dirty="0">
                <a:effectLst/>
              </a:rPr>
              <a:t>to measurement noise; struggles with non-linear systems.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sz="1600" dirty="0">
              <a:effectLst/>
            </a:endParaRPr>
          </a:p>
          <a:p>
            <a:pPr marL="0" indent="0" eaLnBrk="1">
              <a:buNone/>
            </a:pPr>
            <a:r>
              <a:rPr lang="en-US" sz="1800" b="1" dirty="0">
                <a:effectLst/>
              </a:rPr>
              <a:t>Machine Learning (The </a:t>
            </a:r>
            <a:r>
              <a:rPr lang="en-US" sz="1800" b="1" dirty="0">
                <a:solidFill>
                  <a:srgbClr val="FF0000"/>
                </a:solidFill>
                <a:effectLst/>
              </a:rPr>
              <a:t>"Precise" </a:t>
            </a:r>
            <a:r>
              <a:rPr lang="en-US" sz="1800" b="1" dirty="0">
                <a:effectLst/>
              </a:rPr>
              <a:t>Option):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Strength: </a:t>
            </a:r>
            <a:r>
              <a:rPr lang="en-US" sz="1600" dirty="0">
                <a:effectLst/>
              </a:rPr>
              <a:t>High accuracy; strong generalization; effectively handles </a:t>
            </a:r>
            <a:r>
              <a:rPr lang="en-US" sz="1600" dirty="0">
                <a:solidFill>
                  <a:srgbClr val="FF0000"/>
                </a:solidFill>
                <a:effectLst/>
              </a:rPr>
              <a:t>non-linear data</a:t>
            </a:r>
            <a:r>
              <a:rPr lang="en-US" sz="1600" dirty="0">
                <a:effectLst/>
              </a:rPr>
              <a:t>.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Weakness:</a:t>
            </a:r>
            <a:r>
              <a:rPr lang="en-US" sz="1600" dirty="0">
                <a:effectLst/>
              </a:rPr>
              <a:t> </a:t>
            </a:r>
            <a:r>
              <a:rPr lang="en-US" sz="1600" dirty="0">
                <a:solidFill>
                  <a:srgbClr val="FF0000"/>
                </a:solidFill>
                <a:effectLst/>
              </a:rPr>
              <a:t>"Data hungry" </a:t>
            </a:r>
            <a:r>
              <a:rPr lang="en-US" sz="1600" dirty="0">
                <a:effectLst/>
              </a:rPr>
              <a:t>(needs large datasets); computationally expensive; lacks interpretability (Black Box).</a:t>
            </a:r>
          </a:p>
          <a:p>
            <a:pPr marL="0" indent="0" eaLnBrk="1">
              <a:buNone/>
            </a:pPr>
            <a:endParaRPr lang="en-US" sz="1600" dirty="0">
              <a:solidFill>
                <a:srgbClr val="C00000"/>
              </a:solidFill>
              <a:effectLst/>
            </a:endParaRPr>
          </a:p>
          <a:p>
            <a:pPr marL="0" indent="0" eaLnBrk="1">
              <a:buNone/>
            </a:pPr>
            <a:r>
              <a:rPr lang="en-US" sz="1800" b="1" dirty="0">
                <a:effectLst/>
              </a:rPr>
              <a:t>Hybrid Methods (The </a:t>
            </a:r>
            <a:r>
              <a:rPr lang="en-US" sz="1800" b="1" dirty="0">
                <a:solidFill>
                  <a:srgbClr val="FF0000"/>
                </a:solidFill>
                <a:effectLst/>
              </a:rPr>
              <a:t>"Balanced" </a:t>
            </a:r>
            <a:r>
              <a:rPr lang="en-US" sz="1800" b="1" dirty="0">
                <a:effectLst/>
              </a:rPr>
              <a:t>Option):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Strength:</a:t>
            </a:r>
            <a:r>
              <a:rPr lang="en-US" sz="1600" dirty="0">
                <a:effectLst/>
              </a:rPr>
              <a:t> Combines the best of both worlds, </a:t>
            </a:r>
            <a:r>
              <a:rPr lang="en-US" sz="1600" dirty="0">
                <a:solidFill>
                  <a:srgbClr val="FF0000"/>
                </a:solidFill>
                <a:effectLst/>
              </a:rPr>
              <a:t>high accuracy with strong robustness</a:t>
            </a:r>
            <a:r>
              <a:rPr lang="en-US" sz="1600" dirty="0">
                <a:effectLst/>
              </a:rPr>
              <a:t>.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Weakness:</a:t>
            </a:r>
            <a:r>
              <a:rPr lang="en-US" sz="1600" dirty="0">
                <a:effectLst/>
              </a:rPr>
              <a:t> </a:t>
            </a:r>
            <a:r>
              <a:rPr lang="en-US" sz="1600" dirty="0">
                <a:solidFill>
                  <a:srgbClr val="FF0000"/>
                </a:solidFill>
                <a:effectLst/>
              </a:rPr>
              <a:t>Most complex </a:t>
            </a:r>
            <a:r>
              <a:rPr lang="en-US" sz="1600" dirty="0">
                <a:effectLst/>
              </a:rPr>
              <a:t>to implement; requires significant processing power.</a:t>
            </a:r>
            <a:endParaRPr lang="en-US" sz="1600" dirty="0">
              <a:solidFill>
                <a:srgbClr val="C00000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D920D55-6F34-57B9-7FA6-70C66AA89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computational complexity; excellent for real-time BMS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856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72CE-8094-2B18-9918-100FC260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D3418F-514F-9C7B-758F-AF54F0DD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4" y="176828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Comparison of Models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37CBF5-2188-0F82-7D65-DC39EA4E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AD6BF-5BC5-5CAE-5A2C-97840559B36C}"/>
              </a:ext>
            </a:extLst>
          </p:cNvPr>
          <p:cNvSpPr txBox="1"/>
          <p:nvPr/>
        </p:nvSpPr>
        <p:spPr>
          <a:xfrm>
            <a:off x="3905993" y="938828"/>
            <a:ext cx="484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DFF"/>
                </a:solidFill>
              </a:rPr>
              <a:t>Speed vs. Accuracy vs. Complexity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2447F3-5FF7-CB27-4985-F6FDB4E00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69" y="1716777"/>
            <a:ext cx="8645861" cy="33684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33AA581-1CA2-ECCB-E40E-041AB3CE803C}"/>
                  </a:ext>
                </a:extLst>
              </p14:cNvPr>
              <p14:cNvContentPartPr/>
              <p14:nvPr/>
            </p14:nvContentPartPr>
            <p14:xfrm>
              <a:off x="3268800" y="2491500"/>
              <a:ext cx="209592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33AA581-1CA2-ECCB-E40E-041AB3CE80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3154" y="2419500"/>
                <a:ext cx="2167572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8421E9C-12D3-31EF-56E4-2BB2D3282777}"/>
                  </a:ext>
                </a:extLst>
              </p14:cNvPr>
              <p14:cNvContentPartPr/>
              <p14:nvPr/>
            </p14:nvContentPartPr>
            <p14:xfrm>
              <a:off x="3260940" y="2666820"/>
              <a:ext cx="61812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421E9C-12D3-31EF-56E4-2BB2D32827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25300" y="2522820"/>
                <a:ext cx="6897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08EFA32-153A-4DED-21E9-03D4809877C0}"/>
                  </a:ext>
                </a:extLst>
              </p14:cNvPr>
              <p14:cNvContentPartPr/>
              <p14:nvPr/>
            </p14:nvContentPartPr>
            <p14:xfrm>
              <a:off x="5669340" y="2430300"/>
              <a:ext cx="2066400" cy="102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08EFA32-153A-4DED-21E9-03D4809877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33340" y="2358300"/>
                <a:ext cx="21380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8604BD-BA98-0922-4791-850ABCC3AE8B}"/>
                  </a:ext>
                </a:extLst>
              </p14:cNvPr>
              <p14:cNvContentPartPr/>
              <p14:nvPr/>
            </p14:nvContentPartPr>
            <p14:xfrm>
              <a:off x="3276420" y="3764100"/>
              <a:ext cx="197460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8604BD-BA98-0922-4791-850ABCC3AE8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40420" y="3620100"/>
                <a:ext cx="20462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8DE8D9A-17DC-A235-9C59-1E802B4CA940}"/>
                  </a:ext>
                </a:extLst>
              </p14:cNvPr>
              <p14:cNvContentPartPr/>
              <p14:nvPr/>
            </p14:nvContentPartPr>
            <p14:xfrm>
              <a:off x="3299460" y="3916740"/>
              <a:ext cx="48600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8DE8D9A-17DC-A235-9C59-1E802B4CA9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63460" y="3844740"/>
                <a:ext cx="5576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42FDBE8-0B8C-4B02-A59D-EFB077AB2ABC}"/>
                  </a:ext>
                </a:extLst>
              </p14:cNvPr>
              <p14:cNvContentPartPr/>
              <p14:nvPr/>
            </p14:nvContentPartPr>
            <p14:xfrm>
              <a:off x="5645940" y="3748620"/>
              <a:ext cx="149472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42FDBE8-0B8C-4B02-A59D-EFB077AB2A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09940" y="3604620"/>
                <a:ext cx="1566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CBC0DA3-8EC9-84F4-7D03-1B7AC5092671}"/>
                  </a:ext>
                </a:extLst>
              </p14:cNvPr>
              <p14:cNvContentPartPr/>
              <p14:nvPr/>
            </p14:nvContentPartPr>
            <p14:xfrm>
              <a:off x="3314220" y="4731780"/>
              <a:ext cx="1814760" cy="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CBC0DA3-8EC9-84F4-7D03-1B7AC509267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78580" y="4587780"/>
                <a:ext cx="18864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21D0F8A-C416-96F3-CBA8-22CB76B994A0}"/>
                  </a:ext>
                </a:extLst>
              </p14:cNvPr>
              <p14:cNvContentPartPr/>
              <p14:nvPr/>
            </p14:nvContentPartPr>
            <p14:xfrm>
              <a:off x="3299460" y="4857060"/>
              <a:ext cx="438840" cy="20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21D0F8A-C416-96F3-CBA8-22CB76B994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63460" y="4785060"/>
                <a:ext cx="5104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7809EC9-4CBB-60FB-83F4-A50E52BFCE25}"/>
                  </a:ext>
                </a:extLst>
              </p14:cNvPr>
              <p14:cNvContentPartPr/>
              <p14:nvPr/>
            </p14:nvContentPartPr>
            <p14:xfrm>
              <a:off x="6469260" y="4258740"/>
              <a:ext cx="1841040" cy="9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7809EC9-4CBB-60FB-83F4-A50E52BFCE2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33260" y="4187100"/>
                <a:ext cx="19126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6F7CBC4-99E1-6FF6-CDE7-01939A2A1F4B}"/>
                  </a:ext>
                </a:extLst>
              </p14:cNvPr>
              <p14:cNvContentPartPr/>
              <p14:nvPr/>
            </p14:nvContentPartPr>
            <p14:xfrm>
              <a:off x="3322140" y="4121940"/>
              <a:ext cx="1626840" cy="16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6F7CBC4-99E1-6FF6-CDE7-01939A2A1F4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86140" y="4049940"/>
                <a:ext cx="16984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B1D193E-41A1-3186-6A3E-D455E9AB50C0}"/>
                  </a:ext>
                </a:extLst>
              </p14:cNvPr>
              <p14:cNvContentPartPr/>
              <p14:nvPr/>
            </p14:nvContentPartPr>
            <p14:xfrm>
              <a:off x="5661780" y="4724220"/>
              <a:ext cx="1083240" cy="33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B1D193E-41A1-3186-6A3E-D455E9AB50C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25780" y="4652220"/>
                <a:ext cx="115488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3BF4E63-50F5-FF21-8222-3C6AD314A6B9}"/>
                  </a:ext>
                </a:extLst>
              </p14:cNvPr>
              <p14:cNvContentPartPr/>
              <p14:nvPr/>
            </p14:nvContentPartPr>
            <p14:xfrm>
              <a:off x="1920144" y="2498952"/>
              <a:ext cx="374040" cy="19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3BF4E63-50F5-FF21-8222-3C6AD314A6B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84144" y="2426952"/>
                <a:ext cx="4456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08D2AFD-88D9-D5D6-205D-DC43A687E530}"/>
                  </a:ext>
                </a:extLst>
              </p14:cNvPr>
              <p14:cNvContentPartPr/>
              <p14:nvPr/>
            </p14:nvContentPartPr>
            <p14:xfrm>
              <a:off x="1956504" y="2682192"/>
              <a:ext cx="186480" cy="5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08D2AFD-88D9-D5D6-205D-DC43A687E53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20864" y="2610552"/>
                <a:ext cx="2581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817812F-0580-F18B-7224-6CFF8DFCA615}"/>
                  </a:ext>
                </a:extLst>
              </p14:cNvPr>
              <p14:cNvContentPartPr/>
              <p14:nvPr/>
            </p14:nvContentPartPr>
            <p14:xfrm>
              <a:off x="1932384" y="3779472"/>
              <a:ext cx="196560" cy="176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817812F-0580-F18B-7224-6CFF8DFCA61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96744" y="3707832"/>
                <a:ext cx="2682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AD0F349-B8CC-6C59-8692-291EA5A93519}"/>
                  </a:ext>
                </a:extLst>
              </p14:cNvPr>
              <p14:cNvContentPartPr/>
              <p14:nvPr/>
            </p14:nvContentPartPr>
            <p14:xfrm>
              <a:off x="1932384" y="4114272"/>
              <a:ext cx="205920" cy="129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AD0F349-B8CC-6C59-8692-291EA5A9351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96744" y="4042272"/>
                <a:ext cx="2775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1D8123E-5F02-BC09-A82F-708BF1C90979}"/>
                  </a:ext>
                </a:extLst>
              </p14:cNvPr>
              <p14:cNvContentPartPr/>
              <p14:nvPr/>
            </p14:nvContentPartPr>
            <p14:xfrm>
              <a:off x="444864" y="4693512"/>
              <a:ext cx="1901160" cy="626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1D8123E-5F02-BC09-A82F-708BF1C9097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9224" y="4621872"/>
                <a:ext cx="1972800" cy="2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4254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1202D-F6FE-205F-8820-31A418FC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F53EAD-9D43-807F-34CA-95B1F5B2D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4" y="176828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Comparison of Models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E7EAE6-74B5-6607-9612-74FBCDBF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816CE8-9E2F-CA84-F4DA-790C1DDCDBE3}"/>
              </a:ext>
            </a:extLst>
          </p:cNvPr>
          <p:cNvSpPr txBox="1"/>
          <p:nvPr/>
        </p:nvSpPr>
        <p:spPr>
          <a:xfrm>
            <a:off x="2843808" y="959769"/>
            <a:ext cx="70536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D1DFF"/>
                </a:solidFill>
              </a:rPr>
              <a:t>Estimation Error Comparison </a:t>
            </a:r>
          </a:p>
          <a:p>
            <a:r>
              <a:rPr lang="en-US" sz="1600" dirty="0">
                <a:solidFill>
                  <a:srgbClr val="1D1DFF"/>
                </a:solidFill>
              </a:rPr>
              <a:t>(Based on Reviewed Papers)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9EA66385-9536-6B80-D82A-BF4A817A8A1B}"/>
              </a:ext>
            </a:extLst>
          </p:cNvPr>
          <p:cNvSpPr txBox="1">
            <a:spLocks/>
          </p:cNvSpPr>
          <p:nvPr/>
        </p:nvSpPr>
        <p:spPr bwMode="auto">
          <a:xfrm>
            <a:off x="412902" y="1484784"/>
            <a:ext cx="8318196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>
              <a:buNone/>
            </a:pPr>
            <a:r>
              <a:rPr lang="en-US" sz="1800" b="1" dirty="0">
                <a:effectLst/>
              </a:rPr>
              <a:t>Filter-based Performance: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s-ES" sz="1600" dirty="0">
                <a:effectLst/>
              </a:rPr>
              <a:t>Error: </a:t>
            </a:r>
            <a:r>
              <a:rPr lang="es-ES" sz="1600" b="1" dirty="0">
                <a:solidFill>
                  <a:srgbClr val="C00000"/>
                </a:solidFill>
                <a:effectLst/>
              </a:rPr>
              <a:t>RMSE ~1.2% - 3.37%</a:t>
            </a:r>
            <a:r>
              <a:rPr lang="es-ES" sz="1600" dirty="0">
                <a:solidFill>
                  <a:srgbClr val="C00000"/>
                </a:solidFill>
                <a:effectLst/>
              </a:rPr>
              <a:t>.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i="1" dirty="0">
                <a:effectLst/>
              </a:rPr>
              <a:t>Note:</a:t>
            </a:r>
            <a:r>
              <a:rPr lang="en-US" sz="1600" dirty="0">
                <a:effectLst/>
              </a:rPr>
              <a:t> </a:t>
            </a:r>
            <a:r>
              <a:rPr lang="en-US" sz="1600" dirty="0">
                <a:solidFill>
                  <a:srgbClr val="1D1DFF"/>
                </a:solidFill>
                <a:effectLst/>
              </a:rPr>
              <a:t>Good for general </a:t>
            </a:r>
            <a:r>
              <a:rPr lang="en-US" sz="1600" dirty="0">
                <a:effectLst/>
              </a:rPr>
              <a:t>use but precision varies with model quality.</a:t>
            </a:r>
          </a:p>
          <a:p>
            <a:pPr eaLnBrk="1">
              <a:buFont typeface="Wingdings" panose="05000000000000000000" pitchFamily="2" charset="2"/>
              <a:buChar char="§"/>
            </a:pPr>
            <a:endParaRPr lang="en-US" sz="1600" dirty="0">
              <a:effectLst/>
            </a:endParaRPr>
          </a:p>
          <a:p>
            <a:pPr marL="0" indent="0" eaLnBrk="1">
              <a:buNone/>
            </a:pPr>
            <a:r>
              <a:rPr lang="en-US" sz="1800" b="1" dirty="0">
                <a:effectLst/>
              </a:rPr>
              <a:t>Machine Learning Performance: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SVM/RVM:</a:t>
            </a:r>
            <a:r>
              <a:rPr lang="en-US" sz="1600" dirty="0">
                <a:effectLst/>
              </a:rPr>
              <a:t> High precision, often achieving </a:t>
            </a:r>
            <a:r>
              <a:rPr lang="en-US" sz="1600" b="1" dirty="0">
                <a:solidFill>
                  <a:srgbClr val="C00000"/>
                </a:solidFill>
                <a:effectLst/>
              </a:rPr>
              <a:t>RMSE &lt; 0.5%</a:t>
            </a:r>
            <a:r>
              <a:rPr lang="en-US" sz="1600" dirty="0">
                <a:solidFill>
                  <a:srgbClr val="C00000"/>
                </a:solidFill>
                <a:effectLst/>
              </a:rPr>
              <a:t> </a:t>
            </a:r>
            <a:r>
              <a:rPr lang="en-US" sz="1600" dirty="0">
                <a:effectLst/>
              </a:rPr>
              <a:t>(e.g., 0.357% in studies).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Neural Networks:</a:t>
            </a:r>
            <a:r>
              <a:rPr lang="en-US" sz="1600" dirty="0">
                <a:effectLst/>
              </a:rPr>
              <a:t> Robust performance, typically </a:t>
            </a:r>
            <a:r>
              <a:rPr lang="en-US" sz="1600" b="1" dirty="0">
                <a:solidFill>
                  <a:srgbClr val="C00000"/>
                </a:solidFill>
                <a:effectLst/>
              </a:rPr>
              <a:t>RMSE ~1.0% - 2.0%</a:t>
            </a:r>
            <a:r>
              <a:rPr lang="en-US" sz="1600" dirty="0">
                <a:solidFill>
                  <a:srgbClr val="C00000"/>
                </a:solidFill>
                <a:effectLst/>
              </a:rPr>
              <a:t>.</a:t>
            </a:r>
          </a:p>
          <a:p>
            <a:pPr marL="0" indent="0" eaLnBrk="1">
              <a:buNone/>
            </a:pPr>
            <a:endParaRPr lang="en-US" sz="1600" b="1" dirty="0">
              <a:effectLst/>
            </a:endParaRPr>
          </a:p>
          <a:p>
            <a:pPr marL="0" indent="0" eaLnBrk="1">
              <a:buNone/>
            </a:pPr>
            <a:r>
              <a:rPr lang="en-US" sz="1800" b="1" dirty="0">
                <a:effectLst/>
              </a:rPr>
              <a:t>Hybrid Methods Performance: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Superior Accuracy:</a:t>
            </a:r>
            <a:r>
              <a:rPr lang="en-US" sz="1600" dirty="0">
                <a:effectLst/>
              </a:rPr>
              <a:t> Often achieves the lowest error rates.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600" dirty="0">
                <a:effectLst/>
              </a:rPr>
              <a:t>Reported </a:t>
            </a:r>
            <a:r>
              <a:rPr lang="en-US" sz="1600" b="1" dirty="0">
                <a:solidFill>
                  <a:srgbClr val="C00000"/>
                </a:solidFill>
                <a:effectLst/>
              </a:rPr>
              <a:t>MAE as low as 0.014</a:t>
            </a:r>
            <a:r>
              <a:rPr lang="en-US" sz="1600" dirty="0">
                <a:solidFill>
                  <a:srgbClr val="C00000"/>
                </a:solidFill>
                <a:effectLst/>
              </a:rPr>
              <a:t> </a:t>
            </a:r>
            <a:r>
              <a:rPr lang="en-US" sz="1600" dirty="0">
                <a:effectLst/>
              </a:rPr>
              <a:t>and </a:t>
            </a:r>
            <a:r>
              <a:rPr lang="en-US" sz="1600" b="1" dirty="0">
                <a:solidFill>
                  <a:srgbClr val="C00000"/>
                </a:solidFill>
                <a:effectLst/>
              </a:rPr>
              <a:t>RMSE ~0.032</a:t>
            </a:r>
            <a:r>
              <a:rPr lang="en-US" sz="1600" dirty="0">
                <a:solidFill>
                  <a:srgbClr val="C00000"/>
                </a:solidFill>
                <a:effectLst/>
              </a:rPr>
              <a:t> </a:t>
            </a:r>
            <a:r>
              <a:rPr lang="en-US" sz="1600" dirty="0">
                <a:effectLst/>
              </a:rPr>
              <a:t>in advanced implementations.</a:t>
            </a:r>
            <a:endParaRPr lang="en-US" sz="1600" dirty="0">
              <a:solidFill>
                <a:srgbClr val="C00000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CC8C2DB-855B-7691-FEDA-322EEFE1F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computational complexity; excellent for real-time BMS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201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A3CC5-5914-B07A-83FA-563A1FE63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100832-F1B3-F3BA-EEDD-91EC2AFA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4" y="176828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Comparison of Models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80114-9E54-5A1D-92C7-D2D655E1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53D6B-A640-531A-E264-BAE9C0CA5D93}"/>
              </a:ext>
            </a:extLst>
          </p:cNvPr>
          <p:cNvSpPr txBox="1"/>
          <p:nvPr/>
        </p:nvSpPr>
        <p:spPr>
          <a:xfrm>
            <a:off x="-723514" y="386449"/>
            <a:ext cx="70536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D1DFF"/>
                </a:solidFill>
              </a:rPr>
              <a:t>Estimation Error Comparison </a:t>
            </a:r>
          </a:p>
          <a:p>
            <a:r>
              <a:rPr lang="en-US" sz="1600" dirty="0">
                <a:solidFill>
                  <a:srgbClr val="1D1DFF"/>
                </a:solidFill>
              </a:rPr>
              <a:t>(Based on Reviewed Papers)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98D646A-C38F-6950-F957-E03995024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computational complexity; excellent for real-time BMS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8C9343-FA6A-1B5A-8843-0B37DF9C6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1" y="1227594"/>
            <a:ext cx="7732076" cy="44679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3D87D58-9868-45DB-E3FD-8FF3CCBEA021}"/>
                  </a:ext>
                </a:extLst>
              </p14:cNvPr>
              <p14:cNvContentPartPr/>
              <p14:nvPr/>
            </p14:nvContentPartPr>
            <p14:xfrm>
              <a:off x="904667" y="1827191"/>
              <a:ext cx="310320" cy="12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3D87D58-9868-45DB-E3FD-8FF3CCBEA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8667" y="1755191"/>
                <a:ext cx="3819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6C3E89-3139-9127-6B3E-12F7340CABE7}"/>
                  </a:ext>
                </a:extLst>
              </p14:cNvPr>
              <p14:cNvContentPartPr/>
              <p14:nvPr/>
            </p14:nvContentPartPr>
            <p14:xfrm>
              <a:off x="989627" y="1961471"/>
              <a:ext cx="239040" cy="31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6C3E89-3139-9127-6B3E-12F7340CAB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3627" y="1889471"/>
                <a:ext cx="3106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F31AC59-6F51-9DDF-E6E2-DB94BF6DAEF7}"/>
                  </a:ext>
                </a:extLst>
              </p14:cNvPr>
              <p14:cNvContentPartPr/>
              <p14:nvPr/>
            </p14:nvContentPartPr>
            <p14:xfrm>
              <a:off x="7222667" y="2064431"/>
              <a:ext cx="716760" cy="31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F31AC59-6F51-9DDF-E6E2-DB94BF6DAEF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86667" y="1992431"/>
                <a:ext cx="7884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1F65708-6ED2-48CE-57EE-0F4914D70E76}"/>
                  </a:ext>
                </a:extLst>
              </p14:cNvPr>
              <p14:cNvContentPartPr/>
              <p14:nvPr/>
            </p14:nvContentPartPr>
            <p14:xfrm>
              <a:off x="896747" y="3623951"/>
              <a:ext cx="239760" cy="7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1F65708-6ED2-48CE-57EE-0F4914D70E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0747" y="3551951"/>
                <a:ext cx="3114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0D55323-5C95-AE3E-2118-0F1BA8740DDB}"/>
                  </a:ext>
                </a:extLst>
              </p14:cNvPr>
              <p14:cNvContentPartPr/>
              <p14:nvPr/>
            </p14:nvContentPartPr>
            <p14:xfrm>
              <a:off x="7220147" y="3631511"/>
              <a:ext cx="772200" cy="6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0D55323-5C95-AE3E-2118-0F1BA8740D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84147" y="3559511"/>
                <a:ext cx="8438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30C3413-4865-A795-5286-6F316B656F6E}"/>
                  </a:ext>
                </a:extLst>
              </p14:cNvPr>
              <p14:cNvContentPartPr/>
              <p14:nvPr/>
            </p14:nvContentPartPr>
            <p14:xfrm>
              <a:off x="2190587" y="2095391"/>
              <a:ext cx="2499840" cy="55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30C3413-4865-A795-5286-6F316B656F6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54947" y="2023391"/>
                <a:ext cx="25714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35D7AA9-6D45-6302-2B60-04E2E1D9AD4B}"/>
                  </a:ext>
                </a:extLst>
              </p14:cNvPr>
              <p14:cNvContentPartPr/>
              <p14:nvPr/>
            </p14:nvContentPartPr>
            <p14:xfrm>
              <a:off x="2190587" y="3557711"/>
              <a:ext cx="1374480" cy="37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35D7AA9-6D45-6302-2B60-04E2E1D9AD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54587" y="3485711"/>
                <a:ext cx="14461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9DB2A0E-8B48-7E61-BEEA-D82A52912D91}"/>
                  </a:ext>
                </a:extLst>
              </p14:cNvPr>
              <p14:cNvContentPartPr/>
              <p14:nvPr/>
            </p14:nvContentPartPr>
            <p14:xfrm>
              <a:off x="6311867" y="3607391"/>
              <a:ext cx="682560" cy="36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9DB2A0E-8B48-7E61-BEEA-D82A52912D9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75867" y="3535391"/>
                <a:ext cx="7542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0FC55E8-B907-6664-44B6-13C40EE18ADB}"/>
                  </a:ext>
                </a:extLst>
              </p14:cNvPr>
              <p14:cNvContentPartPr/>
              <p14:nvPr/>
            </p14:nvContentPartPr>
            <p14:xfrm>
              <a:off x="6354347" y="3735911"/>
              <a:ext cx="389520" cy="12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0FC55E8-B907-6664-44B6-13C40EE18AD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18347" y="3663911"/>
                <a:ext cx="4611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E5D0C09-07E8-F3F2-BDE9-D23B22203C53}"/>
                  </a:ext>
                </a:extLst>
              </p14:cNvPr>
              <p14:cNvContentPartPr/>
              <p14:nvPr/>
            </p14:nvContentPartPr>
            <p14:xfrm>
              <a:off x="6317627" y="2064071"/>
              <a:ext cx="609480" cy="316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E5D0C09-07E8-F3F2-BDE9-D23B22203C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81627" y="1992431"/>
                <a:ext cx="6811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5627F23-1088-1D3D-10B8-8BBD3650F5DE}"/>
                  </a:ext>
                </a:extLst>
              </p14:cNvPr>
              <p14:cNvContentPartPr/>
              <p14:nvPr/>
            </p14:nvContentPartPr>
            <p14:xfrm>
              <a:off x="6317627" y="2199071"/>
              <a:ext cx="519120" cy="55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5627F23-1088-1D3D-10B8-8BBD3650F5D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81987" y="2127071"/>
                <a:ext cx="5907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40E46C3-02FD-5A22-443E-AC1C331F847D}"/>
                  </a:ext>
                </a:extLst>
              </p14:cNvPr>
              <p14:cNvContentPartPr/>
              <p14:nvPr/>
            </p14:nvContentPartPr>
            <p14:xfrm>
              <a:off x="2178707" y="5466431"/>
              <a:ext cx="1426680" cy="12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40E46C3-02FD-5A22-443E-AC1C331F847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42707" y="5394431"/>
                <a:ext cx="14983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8F9C362-D6D2-3693-2729-B471EFABF624}"/>
                  </a:ext>
                </a:extLst>
              </p14:cNvPr>
              <p14:cNvContentPartPr/>
              <p14:nvPr/>
            </p14:nvContentPartPr>
            <p14:xfrm>
              <a:off x="6311867" y="5527271"/>
              <a:ext cx="707400" cy="24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8F9C362-D6D2-3693-2729-B471EFABF62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75867" y="5455271"/>
                <a:ext cx="7790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4026C77-C5E7-5500-FDC9-A62914C4DBAF}"/>
                  </a:ext>
                </a:extLst>
              </p14:cNvPr>
              <p14:cNvContentPartPr/>
              <p14:nvPr/>
            </p14:nvContentPartPr>
            <p14:xfrm>
              <a:off x="6311867" y="5673791"/>
              <a:ext cx="278280" cy="20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4026C77-C5E7-5500-FDC9-A62914C4DBA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75867" y="5601791"/>
                <a:ext cx="34992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3369F6B-59EE-AA2A-358B-8DE1272F6E6B}"/>
                  </a:ext>
                </a:extLst>
              </p14:cNvPr>
              <p14:cNvContentPartPr/>
              <p14:nvPr/>
            </p14:nvContentPartPr>
            <p14:xfrm>
              <a:off x="7268747" y="5498111"/>
              <a:ext cx="588960" cy="35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3369F6B-59EE-AA2A-358B-8DE1272F6E6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233107" y="5426111"/>
                <a:ext cx="6606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07EB83D-2917-F182-4236-9C0C659418A6}"/>
                  </a:ext>
                </a:extLst>
              </p14:cNvPr>
              <p14:cNvContentPartPr/>
              <p14:nvPr/>
            </p14:nvContentPartPr>
            <p14:xfrm>
              <a:off x="811646" y="4990577"/>
              <a:ext cx="295920" cy="29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07EB83D-2917-F182-4236-9C0C659418A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6006" y="4918937"/>
                <a:ext cx="367560" cy="17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910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D1BB0-C330-A461-CAEA-5E6E47751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F3EBAE-34B5-4B5D-51B8-90C6E786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4" y="176828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Comparison of Models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F55B41-4FFE-EC83-C3AA-348CE13D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E9D6E-5431-3CCE-CCAB-A1CF00013B70}"/>
              </a:ext>
            </a:extLst>
          </p:cNvPr>
          <p:cNvSpPr txBox="1"/>
          <p:nvPr/>
        </p:nvSpPr>
        <p:spPr>
          <a:xfrm>
            <a:off x="-723514" y="386933"/>
            <a:ext cx="70536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D1DFF"/>
                </a:solidFill>
              </a:rPr>
              <a:t>Estimation Error Comparison </a:t>
            </a:r>
          </a:p>
          <a:p>
            <a:r>
              <a:rPr lang="en-US" sz="1600" dirty="0">
                <a:solidFill>
                  <a:srgbClr val="1D1DFF"/>
                </a:solidFill>
              </a:rPr>
              <a:t>(Based on Reviewed Papers)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9616303-BE34-619D-F5C3-DD2628D48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computational complexity; excellent for real-time BMS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4A0577-4A1B-194F-0D40-CFA3AE5D5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653295"/>
            <a:ext cx="7692178" cy="38848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E01B8E-89B5-D3F7-1180-AB7017FD62AD}"/>
                  </a:ext>
                </a:extLst>
              </p14:cNvPr>
              <p14:cNvContentPartPr/>
              <p14:nvPr/>
            </p14:nvContentPartPr>
            <p14:xfrm>
              <a:off x="720454" y="2607335"/>
              <a:ext cx="249120" cy="7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E01B8E-89B5-D3F7-1180-AB7017FD62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814" y="2535695"/>
                <a:ext cx="3207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D70233C-5C5E-4512-3DE1-167AB82D5ADF}"/>
                  </a:ext>
                </a:extLst>
              </p14:cNvPr>
              <p14:cNvContentPartPr/>
              <p14:nvPr/>
            </p14:nvContentPartPr>
            <p14:xfrm>
              <a:off x="7096774" y="2978495"/>
              <a:ext cx="932760" cy="14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D70233C-5C5E-4512-3DE1-167AB82D5A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61134" y="2906495"/>
                <a:ext cx="10044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94E77E1-D30D-EE6A-021F-4502A9FFC338}"/>
                  </a:ext>
                </a:extLst>
              </p14:cNvPr>
              <p14:cNvContentPartPr/>
              <p14:nvPr/>
            </p14:nvContentPartPr>
            <p14:xfrm>
              <a:off x="714694" y="3857255"/>
              <a:ext cx="366480" cy="6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94E77E1-D30D-EE6A-021F-4502A9FFC3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8694" y="3785615"/>
                <a:ext cx="43812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BC3CB14-9676-B324-F7F2-9FFA90175065}"/>
                  </a:ext>
                </a:extLst>
              </p14:cNvPr>
              <p14:cNvContentPartPr/>
              <p14:nvPr/>
            </p14:nvContentPartPr>
            <p14:xfrm>
              <a:off x="866974" y="4003775"/>
              <a:ext cx="35568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BC3CB14-9676-B324-F7F2-9FFA901750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0974" y="3932135"/>
                <a:ext cx="4273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499C72-8D11-596F-E9F9-2AE71165D7E0}"/>
                  </a:ext>
                </a:extLst>
              </p14:cNvPr>
              <p14:cNvContentPartPr/>
              <p14:nvPr/>
            </p14:nvContentPartPr>
            <p14:xfrm>
              <a:off x="2031214" y="2583575"/>
              <a:ext cx="378000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499C72-8D11-596F-E9F9-2AE71165D7E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95574" y="2439575"/>
                <a:ext cx="38516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E8E6064-1187-AD67-68FB-6BF7660EDFF5}"/>
                  </a:ext>
                </a:extLst>
              </p14:cNvPr>
              <p14:cNvContentPartPr/>
              <p14:nvPr/>
            </p14:nvContentPartPr>
            <p14:xfrm>
              <a:off x="2098174" y="2748095"/>
              <a:ext cx="390852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E8E6064-1187-AD67-68FB-6BF7660EDFF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62174" y="2604095"/>
                <a:ext cx="39801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66F0C2C-40BB-259E-8B8A-C295439C1B95}"/>
                  </a:ext>
                </a:extLst>
              </p14:cNvPr>
              <p14:cNvContentPartPr/>
              <p14:nvPr/>
            </p14:nvContentPartPr>
            <p14:xfrm>
              <a:off x="2074054" y="2857895"/>
              <a:ext cx="689400" cy="30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66F0C2C-40BB-259E-8B8A-C295439C1B9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38054" y="2785895"/>
                <a:ext cx="7610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A4905C0-C84F-F80D-C2D6-E0D3E83FD14E}"/>
                  </a:ext>
                </a:extLst>
              </p14:cNvPr>
              <p14:cNvContentPartPr/>
              <p14:nvPr/>
            </p14:nvContentPartPr>
            <p14:xfrm>
              <a:off x="2037334" y="4107455"/>
              <a:ext cx="3932280" cy="30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A4905C0-C84F-F80D-C2D6-E0D3E83FD14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01334" y="4035815"/>
                <a:ext cx="40039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6BC0D1F-72D4-0B9E-8CF1-024BFB45E00A}"/>
                  </a:ext>
                </a:extLst>
              </p14:cNvPr>
              <p14:cNvContentPartPr/>
              <p14:nvPr/>
            </p14:nvContentPartPr>
            <p14:xfrm>
              <a:off x="2055334" y="4253975"/>
              <a:ext cx="1920600" cy="18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6BC0D1F-72D4-0B9E-8CF1-024BFB45E0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19694" y="4181975"/>
                <a:ext cx="19922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5D08E38-99FA-E936-BC9A-51DE9FCC9EF0}"/>
                  </a:ext>
                </a:extLst>
              </p14:cNvPr>
              <p14:cNvContentPartPr/>
              <p14:nvPr/>
            </p14:nvContentPartPr>
            <p14:xfrm>
              <a:off x="7096774" y="4119335"/>
              <a:ext cx="659160" cy="19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5D08E38-99FA-E936-BC9A-51DE9FCC9EF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61134" y="4047695"/>
                <a:ext cx="7308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407327F-251F-A7D3-3CDF-D4B5A1407032}"/>
                  </a:ext>
                </a:extLst>
              </p14:cNvPr>
              <p14:cNvContentPartPr/>
              <p14:nvPr/>
            </p14:nvContentPartPr>
            <p14:xfrm>
              <a:off x="10534166" y="5467577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407327F-251F-A7D3-3CDF-D4B5A140703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98166" y="5395577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4304098-8352-02A0-D209-361602F40982}"/>
                  </a:ext>
                </a:extLst>
              </p14:cNvPr>
              <p14:cNvContentPartPr/>
              <p14:nvPr/>
            </p14:nvContentPartPr>
            <p14:xfrm>
              <a:off x="7063046" y="4236017"/>
              <a:ext cx="676440" cy="32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4304098-8352-02A0-D209-361602F4098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27046" y="4164017"/>
                <a:ext cx="748080" cy="1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6183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5568C-6232-D5E9-9522-BD47F70B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610098-F566-660D-11B0-C93C0109D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44" y="176828"/>
            <a:ext cx="4442643" cy="7620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1D1DFF"/>
                </a:solidFill>
              </a:rPr>
              <a:t>Challenges &amp; Future Prospects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142797-8AA9-0D71-992B-5A4E7EF2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FCF67-0AD3-9645-D10A-1C927D137C41}"/>
              </a:ext>
            </a:extLst>
          </p:cNvPr>
          <p:cNvSpPr txBox="1"/>
          <p:nvPr/>
        </p:nvSpPr>
        <p:spPr>
          <a:xfrm>
            <a:off x="2843808" y="959769"/>
            <a:ext cx="7053669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D1DFF"/>
                </a:solidFill>
              </a:rPr>
              <a:t>Barriers to Real-World Implementation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8DA9740-B8DB-F573-8578-A34E148272A8}"/>
              </a:ext>
            </a:extLst>
          </p:cNvPr>
          <p:cNvSpPr txBox="1">
            <a:spLocks/>
          </p:cNvSpPr>
          <p:nvPr/>
        </p:nvSpPr>
        <p:spPr bwMode="auto">
          <a:xfrm>
            <a:off x="656247" y="1694361"/>
            <a:ext cx="7831506" cy="4184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>
              <a:buNone/>
            </a:pPr>
            <a:r>
              <a:rPr lang="en-US" sz="2000" b="1" dirty="0">
                <a:effectLst/>
              </a:rPr>
              <a:t>The Measurement Problem: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</a:rPr>
              <a:t>Accurate </a:t>
            </a:r>
            <a:r>
              <a:rPr lang="en-US" sz="1800" dirty="0">
                <a:solidFill>
                  <a:srgbClr val="C00000"/>
                </a:solidFill>
                <a:effectLst/>
              </a:rPr>
              <a:t>internal parameters</a:t>
            </a:r>
            <a:r>
              <a:rPr lang="en-US" sz="1800" dirty="0">
                <a:effectLst/>
              </a:rPr>
              <a:t> (e.g., impedance) are difficult to isolate due to coupled electrochemical reactions and sensor limitations </a:t>
            </a:r>
          </a:p>
          <a:p>
            <a:pPr eaLnBrk="1">
              <a:buFont typeface="Wingdings" panose="05000000000000000000" pitchFamily="2" charset="2"/>
              <a:buChar char="§"/>
            </a:pPr>
            <a:endParaRPr lang="en-US" sz="1800" dirty="0">
              <a:effectLst/>
            </a:endParaRPr>
          </a:p>
          <a:p>
            <a:pPr marL="0" indent="0" eaLnBrk="1">
              <a:buNone/>
            </a:pPr>
            <a:r>
              <a:rPr lang="en-US" sz="2000" b="1" dirty="0">
                <a:effectLst/>
              </a:rPr>
              <a:t>The "Lab-to-Reality" Gap: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800" b="1" dirty="0">
                <a:effectLst/>
              </a:rPr>
              <a:t>Training Data:</a:t>
            </a:r>
            <a:r>
              <a:rPr lang="en-US" sz="1800" dirty="0">
                <a:effectLst/>
              </a:rPr>
              <a:t> Models are often trained on clean laboratory data.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800" b="1" dirty="0">
                <a:effectLst/>
              </a:rPr>
              <a:t>Real World:</a:t>
            </a:r>
            <a:r>
              <a:rPr lang="en-US" sz="1800" dirty="0">
                <a:effectLst/>
              </a:rPr>
              <a:t> Practical operation involves </a:t>
            </a:r>
            <a:r>
              <a:rPr lang="en-US" sz="1800" b="1" dirty="0">
                <a:solidFill>
                  <a:srgbClr val="C00000"/>
                </a:solidFill>
                <a:effectLst/>
              </a:rPr>
              <a:t>noisy data</a:t>
            </a:r>
            <a:r>
              <a:rPr lang="en-US" sz="1800" dirty="0">
                <a:solidFill>
                  <a:srgbClr val="C00000"/>
                </a:solidFill>
                <a:effectLst/>
              </a:rPr>
              <a:t>, sensor errors, and poor data quality</a:t>
            </a:r>
            <a:r>
              <a:rPr lang="en-US" sz="1800" dirty="0">
                <a:effectLst/>
              </a:rPr>
              <a:t>, significantly reducing model accuracy .</a:t>
            </a:r>
          </a:p>
          <a:p>
            <a:pPr eaLnBrk="1">
              <a:buFont typeface="Wingdings" panose="05000000000000000000" pitchFamily="2" charset="2"/>
              <a:buChar char="§"/>
            </a:pPr>
            <a:endParaRPr lang="en-US" sz="2000" b="1" dirty="0">
              <a:effectLst/>
            </a:endParaRPr>
          </a:p>
          <a:p>
            <a:pPr marL="0" indent="0" eaLnBrk="1">
              <a:buNone/>
            </a:pPr>
            <a:r>
              <a:rPr lang="en-US" sz="2000" b="1" dirty="0">
                <a:effectLst/>
              </a:rPr>
              <a:t>Environmental Adaptability: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</a:rPr>
              <a:t>Current methods struggle with </a:t>
            </a:r>
            <a:r>
              <a:rPr lang="en-US" sz="1800" dirty="0">
                <a:solidFill>
                  <a:srgbClr val="C00000"/>
                </a:solidFill>
                <a:effectLst/>
              </a:rPr>
              <a:t>dynamic conditions </a:t>
            </a:r>
            <a:r>
              <a:rPr lang="en-US" sz="1800" dirty="0">
                <a:effectLst/>
              </a:rPr>
              <a:t>(fluctuating temperatures, varying discharge rates) common in EV driving, as </a:t>
            </a:r>
            <a:r>
              <a:rPr lang="en-US" sz="1800" dirty="0">
                <a:solidFill>
                  <a:srgbClr val="C00000"/>
                </a:solidFill>
                <a:effectLst/>
              </a:rPr>
              <a:t>opposed </a:t>
            </a:r>
            <a:r>
              <a:rPr lang="en-US" sz="1800" dirty="0">
                <a:effectLst/>
              </a:rPr>
              <a:t>to stable lab environments .</a:t>
            </a:r>
            <a:endParaRPr lang="en-US" sz="1800" dirty="0">
              <a:solidFill>
                <a:srgbClr val="C00000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E13C23B-0BEE-1328-7D10-DA10281B3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computational complexity; excellent for real-time BMS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219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0122-AA71-8E15-2D0C-9732718E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7FE653-89E0-EE55-A00C-01CAFE8B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44" y="176828"/>
            <a:ext cx="4442643" cy="7620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1D1DFF"/>
                </a:solidFill>
              </a:rPr>
              <a:t>Challenges &amp; Future Prospects 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4D81F3-D1FA-3936-7482-089316D0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 altLang="zh-TW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FB511-F1AB-16E1-B435-FA8869C38EC7}"/>
              </a:ext>
            </a:extLst>
          </p:cNvPr>
          <p:cNvSpPr txBox="1"/>
          <p:nvPr/>
        </p:nvSpPr>
        <p:spPr>
          <a:xfrm>
            <a:off x="2843808" y="959769"/>
            <a:ext cx="7053669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D1DFF"/>
                </a:solidFill>
              </a:rPr>
              <a:t>The Road Ahead for SOH Technology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31015C98-D5C8-3E05-33DE-DE6AC2817E67}"/>
              </a:ext>
            </a:extLst>
          </p:cNvPr>
          <p:cNvSpPr txBox="1">
            <a:spLocks/>
          </p:cNvSpPr>
          <p:nvPr/>
        </p:nvSpPr>
        <p:spPr bwMode="auto">
          <a:xfrm>
            <a:off x="656247" y="1556792"/>
            <a:ext cx="7831506" cy="4184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>
              <a:buNone/>
            </a:pPr>
            <a:r>
              <a:rPr lang="en-US" sz="2000" b="1" dirty="0">
                <a:effectLst/>
              </a:rPr>
              <a:t>Adapting to New Tech: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</a:rPr>
              <a:t>Developing models for </a:t>
            </a:r>
            <a:r>
              <a:rPr lang="en-US" sz="1800" b="1" dirty="0">
                <a:solidFill>
                  <a:srgbClr val="C00000"/>
                </a:solidFill>
                <a:effectLst/>
              </a:rPr>
              <a:t>Solid-State Batteries</a:t>
            </a:r>
            <a:r>
              <a:rPr lang="en-US" sz="1800" dirty="0">
                <a:solidFill>
                  <a:srgbClr val="C00000"/>
                </a:solidFill>
                <a:effectLst/>
              </a:rPr>
              <a:t> </a:t>
            </a:r>
            <a:r>
              <a:rPr lang="en-US" sz="1800" dirty="0">
                <a:effectLst/>
              </a:rPr>
              <a:t>(the future of EVs), which have different electrolytes and safety profiles compared to current Li-ion batteries .</a:t>
            </a:r>
          </a:p>
          <a:p>
            <a:pPr eaLnBrk="1">
              <a:buFont typeface="Wingdings" panose="05000000000000000000" pitchFamily="2" charset="2"/>
              <a:buChar char="§"/>
            </a:pPr>
            <a:endParaRPr lang="en-US" sz="1600" dirty="0">
              <a:effectLst/>
            </a:endParaRPr>
          </a:p>
          <a:p>
            <a:pPr marL="0" indent="0" eaLnBrk="1">
              <a:buNone/>
            </a:pPr>
            <a:r>
              <a:rPr lang="en-US" sz="2000" b="1" dirty="0">
                <a:effectLst/>
              </a:rPr>
              <a:t>Advanced Sensing Technologies: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</a:rPr>
              <a:t>Moving beyond Voltage/Current: </a:t>
            </a:r>
            <a:r>
              <a:rPr lang="en-US" sz="1800" dirty="0">
                <a:solidFill>
                  <a:srgbClr val="C00000"/>
                </a:solidFill>
                <a:effectLst/>
              </a:rPr>
              <a:t>Integrating Ultrasonic, Laser, and Infrared Thermography </a:t>
            </a:r>
            <a:r>
              <a:rPr lang="en-US" sz="1800" dirty="0">
                <a:effectLst/>
              </a:rPr>
              <a:t>to </a:t>
            </a:r>
            <a:r>
              <a:rPr lang="en-US" sz="1800" dirty="0">
                <a:solidFill>
                  <a:srgbClr val="C00000"/>
                </a:solidFill>
                <a:effectLst/>
              </a:rPr>
              <a:t>"see" </a:t>
            </a:r>
            <a:r>
              <a:rPr lang="en-US" sz="1800" dirty="0">
                <a:effectLst/>
              </a:rPr>
              <a:t>inside the battery without destroying it .</a:t>
            </a:r>
          </a:p>
          <a:p>
            <a:pPr eaLnBrk="1">
              <a:buFont typeface="Wingdings" panose="05000000000000000000" pitchFamily="2" charset="2"/>
              <a:buChar char="§"/>
            </a:pPr>
            <a:endParaRPr lang="en-US" sz="1600" b="1" dirty="0">
              <a:effectLst/>
            </a:endParaRPr>
          </a:p>
          <a:p>
            <a:pPr marL="0" indent="0" eaLnBrk="1">
              <a:buNone/>
            </a:pPr>
            <a:r>
              <a:rPr lang="en-US" sz="2000" b="1" dirty="0">
                <a:effectLst/>
              </a:rPr>
              <a:t>Smarter BMS Integration: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800" b="1" dirty="0">
                <a:effectLst/>
              </a:rPr>
              <a:t>Goal: </a:t>
            </a:r>
            <a:r>
              <a:rPr lang="en-US" sz="1800" dirty="0">
                <a:solidFill>
                  <a:srgbClr val="C00000"/>
                </a:solidFill>
                <a:effectLst/>
              </a:rPr>
              <a:t>Embed Hybrid Models </a:t>
            </a:r>
            <a:r>
              <a:rPr lang="en-US" sz="1800" dirty="0">
                <a:effectLst/>
              </a:rPr>
              <a:t>directly into the Battery Management System (BMS). </a:t>
            </a:r>
          </a:p>
          <a:p>
            <a:pPr eaLnBrk="1">
              <a:buFont typeface="Wingdings" panose="05000000000000000000" pitchFamily="2" charset="2"/>
              <a:buChar char="§"/>
            </a:pPr>
            <a:r>
              <a:rPr lang="en-US" sz="1800" b="1" dirty="0">
                <a:effectLst/>
              </a:rPr>
              <a:t>Benefit: </a:t>
            </a:r>
            <a:r>
              <a:rPr lang="en-US" sz="1800" dirty="0">
                <a:solidFill>
                  <a:srgbClr val="C00000"/>
                </a:solidFill>
                <a:effectLst/>
              </a:rPr>
              <a:t>Enables</a:t>
            </a:r>
            <a:r>
              <a:rPr lang="en-US" sz="1800" dirty="0">
                <a:effectLst/>
              </a:rPr>
              <a:t> </a:t>
            </a:r>
            <a:r>
              <a:rPr lang="en-US" sz="1800" dirty="0">
                <a:solidFill>
                  <a:srgbClr val="C00000"/>
                </a:solidFill>
                <a:effectLst/>
              </a:rPr>
              <a:t>real-time, adaptive management strategies </a:t>
            </a:r>
            <a:r>
              <a:rPr lang="en-US" sz="1800" dirty="0">
                <a:effectLst/>
              </a:rPr>
              <a:t>like optimized charging protocols to extend battery life .</a:t>
            </a:r>
            <a:endParaRPr lang="en-US" sz="1800" dirty="0">
              <a:solidFill>
                <a:srgbClr val="C00000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516894D-7CFF-C2F8-F54E-C48E87637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computational complexity; excellent for real-time BMS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727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C4C58-3408-F281-070D-93A1C33AD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B31CA3-FE72-CF2A-3B5B-DF1A5AC01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44" y="176828"/>
            <a:ext cx="444264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Conclusion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2F7886-030D-719B-3ECF-913A7C50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en-US" altLang="zh-TW" sz="100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8CE0F13-494A-244D-E774-302DAC343BC5}"/>
              </a:ext>
            </a:extLst>
          </p:cNvPr>
          <p:cNvSpPr txBox="1">
            <a:spLocks/>
          </p:cNvSpPr>
          <p:nvPr/>
        </p:nvSpPr>
        <p:spPr bwMode="auto">
          <a:xfrm>
            <a:off x="467544" y="1196752"/>
            <a:ext cx="7831506" cy="4608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>
              <a:lnSpc>
                <a:spcPct val="120000"/>
              </a:lnSpc>
              <a:buNone/>
            </a:pPr>
            <a:r>
              <a:rPr lang="en-US" sz="1600" b="1" dirty="0">
                <a:effectLst/>
              </a:rPr>
              <a:t>The Core Problem: Pack Inconsistency</a:t>
            </a: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effectLst/>
              </a:rPr>
              <a:t>SOH estimation has shifted focus from </a:t>
            </a:r>
            <a:r>
              <a:rPr lang="en-US" sz="1500" dirty="0">
                <a:solidFill>
                  <a:srgbClr val="C00000"/>
                </a:solidFill>
                <a:effectLst/>
              </a:rPr>
              <a:t>single cells to Battery Packs</a:t>
            </a:r>
            <a:r>
              <a:rPr lang="en-US" sz="1500" dirty="0">
                <a:effectLst/>
              </a:rPr>
              <a:t>.</a:t>
            </a: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500" b="1" dirty="0">
                <a:effectLst/>
              </a:rPr>
              <a:t>Key Finding</a:t>
            </a:r>
            <a:r>
              <a:rPr lang="en-US" sz="1500" b="1" dirty="0">
                <a:solidFill>
                  <a:srgbClr val="C00000"/>
                </a:solidFill>
                <a:effectLst/>
              </a:rPr>
              <a:t>: </a:t>
            </a:r>
            <a:r>
              <a:rPr lang="en-US" sz="1500" dirty="0">
                <a:solidFill>
                  <a:srgbClr val="C00000"/>
                </a:solidFill>
                <a:effectLst/>
              </a:rPr>
              <a:t>Cell inconsistency (the "Barrel Effect") </a:t>
            </a:r>
            <a:r>
              <a:rPr lang="en-US" sz="1500" dirty="0">
                <a:effectLst/>
              </a:rPr>
              <a:t>is the primary driver of accelerated pack degradation, requiring specialized </a:t>
            </a:r>
            <a:r>
              <a:rPr lang="en-US" sz="1500" dirty="0">
                <a:solidFill>
                  <a:srgbClr val="C00000"/>
                </a:solidFill>
                <a:effectLst/>
              </a:rPr>
              <a:t>"Pack-Level" </a:t>
            </a:r>
            <a:r>
              <a:rPr lang="en-US" sz="1500" dirty="0">
                <a:effectLst/>
              </a:rPr>
              <a:t>features..</a:t>
            </a: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400" dirty="0">
              <a:effectLst/>
            </a:endParaRPr>
          </a:p>
          <a:p>
            <a:pPr marL="0" indent="0" eaLnBrk="1">
              <a:lnSpc>
                <a:spcPct val="120000"/>
              </a:lnSpc>
              <a:buNone/>
            </a:pPr>
            <a:r>
              <a:rPr lang="en-US" sz="1600" b="1" dirty="0">
                <a:effectLst/>
              </a:rPr>
              <a:t>The Best Methodology: Hybrid Models</a:t>
            </a: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effectLst/>
              </a:rPr>
              <a:t>While Statistical Filters offer speed and Machine Learning offers precision</a:t>
            </a:r>
            <a:r>
              <a:rPr lang="en-US" sz="1500" dirty="0">
                <a:solidFill>
                  <a:srgbClr val="C00000"/>
                </a:solidFill>
                <a:effectLst/>
              </a:rPr>
              <a:t>, </a:t>
            </a:r>
            <a:r>
              <a:rPr lang="en-US" sz="1500" b="1" dirty="0">
                <a:solidFill>
                  <a:srgbClr val="C00000"/>
                </a:solidFill>
                <a:effectLst/>
              </a:rPr>
              <a:t>Hybrid Methods</a:t>
            </a:r>
            <a:r>
              <a:rPr lang="en-US" sz="1500" dirty="0">
                <a:solidFill>
                  <a:srgbClr val="C00000"/>
                </a:solidFill>
                <a:effectLst/>
              </a:rPr>
              <a:t> </a:t>
            </a:r>
            <a:r>
              <a:rPr lang="en-US" sz="1500" dirty="0">
                <a:effectLst/>
              </a:rPr>
              <a:t>represent the optimal solution.</a:t>
            </a: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effectLst/>
              </a:rPr>
              <a:t>They balance computational cost with high accuracy, minimizing errors better than single approaches.</a:t>
            </a: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500" b="1" dirty="0">
              <a:effectLst/>
            </a:endParaRPr>
          </a:p>
          <a:p>
            <a:pPr marL="0" indent="0" eaLnBrk="1">
              <a:lnSpc>
                <a:spcPct val="120000"/>
              </a:lnSpc>
              <a:buNone/>
            </a:pPr>
            <a:r>
              <a:rPr lang="en-US" sz="1600" b="1" dirty="0">
                <a:effectLst/>
              </a:rPr>
              <a:t>The Goal: From Lab to BMS</a:t>
            </a: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effectLst/>
              </a:rPr>
              <a:t>Current research succeeds in controlled environments but faces a </a:t>
            </a:r>
            <a:r>
              <a:rPr lang="en-US" sz="1500" b="1" dirty="0">
                <a:solidFill>
                  <a:srgbClr val="C00000"/>
                </a:solidFill>
                <a:effectLst/>
              </a:rPr>
              <a:t>"Reality Gap"</a:t>
            </a:r>
            <a:r>
              <a:rPr lang="en-US" sz="1500" dirty="0">
                <a:solidFill>
                  <a:srgbClr val="C00000"/>
                </a:solidFill>
                <a:effectLst/>
              </a:rPr>
              <a:t> (noise/temp).</a:t>
            </a: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500" b="1" dirty="0">
                <a:effectLst/>
              </a:rPr>
              <a:t>Future Direction:</a:t>
            </a:r>
            <a:r>
              <a:rPr lang="en-US" sz="1500" dirty="0">
                <a:effectLst/>
              </a:rPr>
              <a:t> Integrating robust Hybrid models into real-time </a:t>
            </a:r>
            <a:r>
              <a:rPr lang="en-US" sz="1500" b="1" dirty="0">
                <a:effectLst/>
              </a:rPr>
              <a:t>BMS</a:t>
            </a:r>
            <a:r>
              <a:rPr lang="en-US" sz="1500" dirty="0">
                <a:effectLst/>
              </a:rPr>
              <a:t> to ensure safety and reliability in actual EV operations </a:t>
            </a:r>
            <a:r>
              <a:rPr lang="en-US" sz="1500" dirty="0"/>
              <a:t>.</a:t>
            </a:r>
            <a:endParaRPr lang="en-US" sz="1500" dirty="0">
              <a:solidFill>
                <a:srgbClr val="C00000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F5433A1-D044-F60C-9342-3B8D4D4F2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computational complexity; excellent for real-time BMS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852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9CAB-001B-9D05-8B7D-69682ECE9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DE577D-9A10-7EFE-FA36-0EFECFB1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928" y="197570"/>
            <a:ext cx="4658667" cy="762000"/>
          </a:xfrm>
        </p:spPr>
        <p:txBody>
          <a:bodyPr wrap="square" anchor="ctr">
            <a:normAutofit/>
          </a:bodyPr>
          <a:lstStyle/>
          <a:p>
            <a:r>
              <a:rPr lang="en-US" altLang="zh-TW" sz="1800" u="sng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Journal of Energy Storage 118 (2025) 116078</a:t>
            </a:r>
            <a:endParaRPr lang="en-US" altLang="zh-TW" sz="1800" b="0" dirty="0">
              <a:effectLst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617A4C-AD8D-B751-05E1-36F6C5CC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22</a:t>
            </a:fld>
            <a:endParaRPr lang="en-US" altLang="zh-TW" sz="100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C1334D90-5BA6-8952-E374-68801D246B6A}"/>
              </a:ext>
            </a:extLst>
          </p:cNvPr>
          <p:cNvSpPr txBox="1">
            <a:spLocks/>
          </p:cNvSpPr>
          <p:nvPr/>
        </p:nvSpPr>
        <p:spPr bwMode="auto">
          <a:xfrm>
            <a:off x="656247" y="2681140"/>
            <a:ext cx="7831506" cy="2003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>
              <a:lnSpc>
                <a:spcPct val="120000"/>
              </a:lnSpc>
              <a:buNone/>
            </a:pPr>
            <a:r>
              <a:rPr lang="en-US" sz="8000" b="1" dirty="0">
                <a:effectLst/>
              </a:rPr>
              <a:t>Thank you</a:t>
            </a:r>
            <a:endParaRPr lang="en-US" sz="7200" dirty="0">
              <a:solidFill>
                <a:srgbClr val="C00000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45886F-544F-0C13-451F-98F05A42D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computational complexity; excellent for real-time BMS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989081"/>
      </p:ext>
    </p:extLst>
  </p:cSld>
  <p:clrMapOvr>
    <a:masterClrMapping/>
  </p:clrMapOvr>
</p:sld>
</file>

<file path=ppt/theme/theme1.xml><?xml version="1.0" encoding="utf-8"?>
<a:theme xmlns:a="http://schemas.openxmlformats.org/drawingml/2006/main" name="電力電子研討會">
  <a:themeElements>
    <a:clrScheme name="電力電子研討會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電力電子研討會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標楷體" panose="03000509000000000000" pitchFamily="65" charset="-120"/>
          </a:defRPr>
        </a:defPPr>
      </a:lstStyle>
    </a:lnDef>
  </a:objectDefaults>
  <a:extraClrSchemeLst>
    <a:extraClrScheme>
      <a:clrScheme name="電力電子研討會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電力電子研討會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56653CB23E46D428594C3BF9AE3360D" ma:contentTypeVersion="8" ma:contentTypeDescription="建立新的文件。" ma:contentTypeScope="" ma:versionID="ce11e0b95a7e7aac2f65b40ce265d176">
  <xsd:schema xmlns:xsd="http://www.w3.org/2001/XMLSchema" xmlns:xs="http://www.w3.org/2001/XMLSchema" xmlns:p="http://schemas.microsoft.com/office/2006/metadata/properties" xmlns:ns3="6789d5f2-093c-4973-a5f8-1e1f527e41e9" targetNamespace="http://schemas.microsoft.com/office/2006/metadata/properties" ma:root="true" ma:fieldsID="0348dc129f2d2cb9ada6b14072e3b9f5" ns3:_="">
    <xsd:import namespace="6789d5f2-093c-4973-a5f8-1e1f527e41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89d5f2-093c-4973-a5f8-1e1f527e41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141F1D-1938-4272-8450-260B974274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E38D0C-9097-406F-9274-63A5301D1E40}">
  <ds:schemaRefs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6789d5f2-093c-4973-a5f8-1e1f527e41e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9F99874-14BA-4BB9-860E-8AB3B0ED58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89d5f2-093c-4973-a5f8-1e1f527e41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Office\Templates\電力電子研討會.pot</Template>
  <TotalTime>46031</TotalTime>
  <Words>2505</Words>
  <Application>Microsoft Office PowerPoint</Application>
  <PresentationFormat>On-screen Show (4:3)</PresentationFormat>
  <Paragraphs>267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Narrow</vt:lpstr>
      <vt:lpstr>Cambria Math</vt:lpstr>
      <vt:lpstr>標楷體</vt:lpstr>
      <vt:lpstr>Times New Roman</vt:lpstr>
      <vt:lpstr>Wingdings</vt:lpstr>
      <vt:lpstr>華康粗圓體(P)</vt:lpstr>
      <vt:lpstr>電力電子研討會</vt:lpstr>
      <vt:lpstr>鋰離子電池組健康狀態估算方法之回顧 A review of state-of-health estimation for lithium-ion battery packs</vt:lpstr>
      <vt:lpstr>Outline</vt:lpstr>
      <vt:lpstr>Introduction</vt:lpstr>
      <vt:lpstr>Degradation Mechanisms </vt:lpstr>
      <vt:lpstr>Degradation Mechanisms </vt:lpstr>
      <vt:lpstr>Degradation Mechanisms </vt:lpstr>
      <vt:lpstr>Degradation Mechanisms </vt:lpstr>
      <vt:lpstr>Health Feature Extraction </vt:lpstr>
      <vt:lpstr>Health Feature Extraction </vt:lpstr>
      <vt:lpstr>Health Feature Extraction </vt:lpstr>
      <vt:lpstr>SOH Estimation Models</vt:lpstr>
      <vt:lpstr>SOH Estimation Models</vt:lpstr>
      <vt:lpstr>SOH Estimation Models</vt:lpstr>
      <vt:lpstr>Comparison of Models</vt:lpstr>
      <vt:lpstr>Comparison of Models</vt:lpstr>
      <vt:lpstr>Comparison of Models</vt:lpstr>
      <vt:lpstr>Comparison of Models</vt:lpstr>
      <vt:lpstr>Comparison of Models</vt:lpstr>
      <vt:lpstr>Challenges &amp; Future Prospects </vt:lpstr>
      <vt:lpstr>Challenges &amp; Future Prospects </vt:lpstr>
      <vt:lpstr>Conclusion</vt:lpstr>
      <vt:lpstr>Journal of Energy Storage 118 (2025) 116078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高性能感應電動機控制方法</dc:title>
  <dc:creator>Sophie</dc:creator>
  <cp:lastModifiedBy>M11452803</cp:lastModifiedBy>
  <cp:revision>1440</cp:revision>
  <cp:lastPrinted>2000-12-14T11:45:22Z</cp:lastPrinted>
  <dcterms:created xsi:type="dcterms:W3CDTF">1998-01-03T12:05:56Z</dcterms:created>
  <dcterms:modified xsi:type="dcterms:W3CDTF">2025-11-18T19:11:25Z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0x010100856653CB23E46D428594C3BF9AE3360D</vt:lpwstr>
  </property>
</Properties>
</file>