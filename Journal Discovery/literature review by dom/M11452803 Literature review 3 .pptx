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55" r:id="rId5"/>
    <p:sldId id="356" r:id="rId6"/>
    <p:sldId id="449" r:id="rId7"/>
    <p:sldId id="411" r:id="rId8"/>
    <p:sldId id="450" r:id="rId9"/>
    <p:sldId id="451" r:id="rId10"/>
    <p:sldId id="452" r:id="rId11"/>
    <p:sldId id="453" r:id="rId12"/>
    <p:sldId id="454" r:id="rId13"/>
    <p:sldId id="455" r:id="rId14"/>
    <p:sldId id="448" r:id="rId15"/>
  </p:sldIdLst>
  <p:sldSz cx="9144000" cy="6858000" type="screen4x3"/>
  <p:notesSz cx="7099300" cy="10234613"/>
  <p:defaultTextStyle>
    <a:defPPr>
      <a:defRPr lang="zh-TW"/>
    </a:defPPr>
    <a:lvl1pPr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17">
          <p15:clr>
            <a:srgbClr val="A4A3A4"/>
          </p15:clr>
        </p15:guide>
        <p15:guide id="2" pos="304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1153021" initials="M" lastIdx="1" clrIdx="0">
    <p:extLst>
      <p:ext uri="{19B8F6BF-5375-455C-9EA6-DF929625EA0E}">
        <p15:presenceInfo xmlns:p15="http://schemas.microsoft.com/office/powerpoint/2012/main" userId="M1115302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D1DFF"/>
    <a:srgbClr val="5F9FFF"/>
    <a:srgbClr val="FDEAFA"/>
    <a:srgbClr val="C6D7EC"/>
    <a:srgbClr val="81BFFF"/>
    <a:srgbClr val="5F9EFF"/>
    <a:srgbClr val="FEEBFA"/>
    <a:srgbClr val="CCD9ED"/>
    <a:srgbClr val="7F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73" autoAdjust="0"/>
    <p:restoredTop sz="95033" autoAdjust="0"/>
  </p:normalViewPr>
  <p:slideViewPr>
    <p:cSldViewPr>
      <p:cViewPr varScale="1">
        <p:scale>
          <a:sx n="82" d="100"/>
          <a:sy n="82" d="100"/>
        </p:scale>
        <p:origin x="1445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2" d="100"/>
          <a:sy n="42" d="100"/>
        </p:scale>
        <p:origin x="-1253" y="16"/>
      </p:cViewPr>
      <p:guideLst>
        <p:guide orient="horz" pos="2217"/>
        <p:guide pos="30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893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-1588"/>
            <a:ext cx="3076576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t" anchorCtr="0" compatLnSpc="1">
            <a:prstTxWarp prst="textNoShape">
              <a:avLst/>
            </a:prstTxWarp>
          </a:bodyPr>
          <a:lstStyle>
            <a:lvl1pPr algn="l" defTabSz="971550">
              <a:defRPr sz="1100" i="1">
                <a:effectLst/>
              </a:defRPr>
            </a:lvl1pPr>
          </a:lstStyle>
          <a:p>
            <a:endParaRPr lang="en-US" altLang="zh-TW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-1588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t" anchorCtr="0" compatLnSpc="1">
            <a:prstTxWarp prst="textNoShape">
              <a:avLst/>
            </a:prstTxWarp>
          </a:bodyPr>
          <a:lstStyle>
            <a:lvl1pPr algn="r" defTabSz="971550">
              <a:defRPr sz="1100" i="1">
                <a:effectLst/>
              </a:defRPr>
            </a:lvl1pPr>
          </a:lstStyle>
          <a:p>
            <a:endParaRPr lang="en-US" altLang="zh-TW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1713" y="777875"/>
            <a:ext cx="5094287" cy="38211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59338"/>
            <a:ext cx="5205413" cy="460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463" tIns="47906" rIns="97463" bIns="479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第二階層</a:t>
            </a:r>
          </a:p>
          <a:p>
            <a:pPr lvl="2"/>
            <a:r>
              <a:rPr lang="zh-TW" altLang="en-US"/>
              <a:t>第三階層</a:t>
            </a:r>
          </a:p>
          <a:p>
            <a:pPr lvl="3"/>
            <a:r>
              <a:rPr lang="zh-TW" altLang="en-US"/>
              <a:t>第四階層</a:t>
            </a:r>
          </a:p>
          <a:p>
            <a:pPr lvl="4"/>
            <a:r>
              <a:rPr lang="zh-TW" altLang="en-US"/>
              <a:t>第五階層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721850"/>
            <a:ext cx="3076576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b" anchorCtr="0" compatLnSpc="1">
            <a:prstTxWarp prst="textNoShape">
              <a:avLst/>
            </a:prstTxWarp>
          </a:bodyPr>
          <a:lstStyle>
            <a:lvl1pPr algn="l" defTabSz="971550">
              <a:defRPr sz="1100" i="1">
                <a:effectLst/>
              </a:defRPr>
            </a:lvl1pPr>
          </a:lstStyle>
          <a:p>
            <a:endParaRPr lang="en-US" altLang="zh-TW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b" anchorCtr="0" compatLnSpc="1">
            <a:prstTxWarp prst="textNoShape">
              <a:avLst/>
            </a:prstTxWarp>
          </a:bodyPr>
          <a:lstStyle>
            <a:lvl1pPr algn="r" defTabSz="971550">
              <a:defRPr sz="1100" i="1">
                <a:effectLst/>
              </a:defRPr>
            </a:lvl1pPr>
          </a:lstStyle>
          <a:p>
            <a:fld id="{AAC00800-7EBB-4CA5-92E4-BAF87A6B2AC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4782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61963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23925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85888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47850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777875" rtl="0" eaLnBrk="1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800" b="0" i="0" dirty="0">
              <a:solidFill>
                <a:srgbClr val="ECECEC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71506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1800" dirty="0">
              <a:solidFill>
                <a:srgbClr val="1D1D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704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29E50-A3CA-060B-425A-8D63DAC02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DF5908C-613E-5E93-6C69-FF909E891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D5CEF4B-59ED-2207-F911-834FFDAAD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實驗平台由 </a:t>
            </a:r>
            <a:r>
              <a:rPr lang="en-US" altLang="zh-TW" b="1" dirty="0" err="1"/>
              <a:t>Arbin</a:t>
            </a:r>
            <a:r>
              <a:rPr lang="en-US" altLang="zh-TW" b="1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LBT </a:t>
            </a:r>
            <a:r>
              <a:rPr lang="zh-TW" altLang="en-US" dirty="0"/>
              <a:t>系列 電池充放電測試儀、高低溫試驗箱，以及一台主控電腦組成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97417B-3D8A-5B8D-2377-3F94A55E8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6109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DAAED-46F5-4A8D-BBC0-BC6917411C65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6692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AB625-3397-435F-B12D-F437C0075AC8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4809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5B9E8D-7EA5-4CE7-8B0C-C86AC0A958FA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50546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63575" y="1225550"/>
            <a:ext cx="3805238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1213" y="1225550"/>
            <a:ext cx="3806825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E2625E-6638-4780-97AE-3A095B674FA5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7770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058057-07F8-4D54-807D-91DDB75557A5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9820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FC8EB-D5A2-4BAF-9E02-35AC57547D31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1456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537086-FB49-4B71-9FD2-DD670A305306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4838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63AAEE-44CF-452B-BC56-7704863D6089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97000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138460-1707-4D6B-A835-4B6909C92AFB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1200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B0463-D3C0-4396-9228-21AF6A102326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15137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50025" y="228600"/>
            <a:ext cx="1960563" cy="31686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63575" y="228600"/>
            <a:ext cx="5734050" cy="31686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BED47D-0B8C-4967-9274-57121FBD76CC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98266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63575" y="1225550"/>
            <a:ext cx="3805238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1213" y="1225550"/>
            <a:ext cx="3806825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65475" y="64770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BDE65452-3284-405B-BC43-88CA72DBD0A0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69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228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33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pattFill prst="pct5">
                  <a:fgClr>
                    <a:schemeClr val="accent2"/>
                  </a:fgClr>
                  <a:bgClr>
                    <a:srgbClr val="FFFF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0" y="6019800"/>
            <a:ext cx="9144000" cy="228600"/>
          </a:xfrm>
          <a:prstGeom prst="rect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1" i="1">
                <a:solidFill>
                  <a:srgbClr val="003300"/>
                </a:solidFill>
                <a:effectLst/>
              </a:defRPr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54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65475" y="6477000"/>
            <a:ext cx="2895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1" i="1">
                <a:effectLst/>
                <a:latin typeface="Arial Narrow" panose="020B060602020203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54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b="1" i="1">
                <a:solidFill>
                  <a:srgbClr val="6600CC"/>
                </a:solidFill>
                <a:effectLst/>
                <a:ea typeface="新細明體" panose="02020500000000000000" pitchFamily="18" charset="-120"/>
              </a:defRPr>
            </a:lvl1pPr>
          </a:lstStyle>
          <a:p>
            <a:fld id="{514B78F4-FFCB-4C8B-ACC5-FF05B740C42E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  <p:sp>
        <p:nvSpPr>
          <p:cNvPr id="105479" name="Rectangle 7" descr="藍色面紙"/>
          <p:cNvSpPr>
            <a:spLocks noGrp="1" noChangeArrowheads="1"/>
          </p:cNvSpPr>
          <p:nvPr>
            <p:ph type="title"/>
          </p:nvPr>
        </p:nvSpPr>
        <p:spPr bwMode="auto">
          <a:xfrm>
            <a:off x="4149725" y="228600"/>
            <a:ext cx="4360863" cy="762000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548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3575" y="1225550"/>
            <a:ext cx="7764463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5481" name="Text Box 9"/>
          <p:cNvSpPr txBox="1">
            <a:spLocks noChangeArrowheads="1"/>
          </p:cNvSpPr>
          <p:nvPr/>
        </p:nvSpPr>
        <p:spPr bwMode="auto">
          <a:xfrm>
            <a:off x="0" y="0"/>
            <a:ext cx="316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endParaRPr lang="zh-TW" altLang="zh-TW" sz="2400">
              <a:effectLst/>
              <a:latin typeface="華康粗圓體(P)" pitchFamily="2" charset="-120"/>
              <a:ea typeface="華康粗圓體(P)" pitchFamily="2" charset="-120"/>
            </a:endParaRPr>
          </a:p>
        </p:txBody>
      </p:sp>
      <p:sp>
        <p:nvSpPr>
          <p:cNvPr id="105483" name="Text Box 11"/>
          <p:cNvSpPr txBox="1">
            <a:spLocks noChangeArrowheads="1"/>
          </p:cNvSpPr>
          <p:nvPr/>
        </p:nvSpPr>
        <p:spPr bwMode="auto">
          <a:xfrm>
            <a:off x="7092950" y="5969000"/>
            <a:ext cx="2051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TW" altLang="en-US" sz="1400" i="1">
                <a:solidFill>
                  <a:schemeClr val="accent2"/>
                </a:solidFill>
                <a:effectLst/>
              </a:rPr>
              <a:t>台灣科技大學電機系</a:t>
            </a:r>
            <a:endParaRPr lang="zh-TW" altLang="en-US" sz="1400">
              <a:effectLst/>
            </a:endParaRPr>
          </a:p>
        </p:txBody>
      </p:sp>
      <p:pic>
        <p:nvPicPr>
          <p:cNvPr id="105486" name="Picture 14" descr="ntust_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115887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2800" b="1" kern="1200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99FF"/>
        </a:buClr>
        <a:buFont typeface="Wingdings" panose="05000000000000000000" pitchFamily="2" charset="2"/>
        <a:buChar char="q"/>
        <a:defRPr kumimoji="1" sz="2400" kern="1200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kumimoji="1" sz="2000" kern="1200">
          <a:solidFill>
            <a:srgbClr val="A5002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F"/>
        <a:defRPr kumimoji="1" sz="2000" kern="1200">
          <a:solidFill>
            <a:srgbClr val="008000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FF99FF"/>
        </a:buClr>
        <a:buFont typeface="Wingdings" panose="05000000000000000000" pitchFamily="2" charset="2"/>
        <a:buChar char="l"/>
        <a:defRPr kumimoji="1" kern="1200">
          <a:solidFill>
            <a:srgbClr val="FF99FF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5-12771-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5-12771-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2F4004-60FB-2378-FECB-D7EED608C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212898"/>
              </p:ext>
            </p:extLst>
          </p:nvPr>
        </p:nvGraphicFramePr>
        <p:xfrm>
          <a:off x="1366168" y="4271989"/>
          <a:ext cx="6400800" cy="1413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50322356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536881184"/>
                    </a:ext>
                  </a:extLst>
                </a:gridCol>
              </a:tblGrid>
              <a:tr h="471115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台灣科技大學 </a:t>
                      </a:r>
                      <a:r>
                        <a:rPr kumimoji="1" lang="en-US" altLang="zh-TW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AI</a:t>
                      </a:r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497009"/>
                  </a:ext>
                </a:extLst>
              </a:tr>
              <a:tr h="471115">
                <a:tc>
                  <a:txBody>
                    <a:bodyPr/>
                    <a:lstStyle/>
                    <a:p>
                      <a:pPr algn="r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指導教授：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羅一峰 博士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971911"/>
                  </a:ext>
                </a:extLst>
              </a:tr>
              <a:tr h="471115">
                <a:tc>
                  <a:txBody>
                    <a:bodyPr/>
                    <a:lstStyle/>
                    <a:p>
                      <a:pPr algn="r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學生：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林志龍 </a:t>
                      </a:r>
                      <a:r>
                        <a:rPr kumimoji="1" lang="en-US" altLang="zh-TW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(M11452803)</a:t>
                      </a:r>
                      <a:endParaRPr kumimoji="1" lang="zh-TW" altLang="en-US" sz="2400" b="0" kern="12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j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36832"/>
                  </a:ext>
                </a:extLst>
              </a:tr>
            </a:tbl>
          </a:graphicData>
        </a:graphic>
      </p:graphicFrame>
      <p:sp>
        <p:nvSpPr>
          <p:cNvPr id="152578" name="Rectangle 2" descr="藍色面紙"/>
          <p:cNvSpPr>
            <a:spLocks noGrp="1" noChangeArrowheads="1"/>
          </p:cNvSpPr>
          <p:nvPr>
            <p:ph type="ctrTitle"/>
          </p:nvPr>
        </p:nvSpPr>
        <p:spPr>
          <a:xfrm>
            <a:off x="685798" y="1616692"/>
            <a:ext cx="7774633" cy="2388372"/>
          </a:xfrm>
          <a:ln/>
        </p:spPr>
        <p:txBody>
          <a:bodyPr lIns="216000" tIns="72000" rIns="216000" bIns="72000" anchor="ctr"/>
          <a:lstStyle/>
          <a:p>
            <a:pPr lvl="0" defTabSz="777875">
              <a:lnSpc>
                <a:spcPct val="150000"/>
              </a:lnSpc>
              <a:spcBef>
                <a:spcPct val="30000"/>
              </a:spcBef>
              <a:defRPr/>
            </a:pPr>
            <a:r>
              <a:rPr lang="en-US" sz="2800" dirty="0"/>
              <a:t>Proposed Methodology: Robust SOH Estimation Framework using AE-BPNN and Transfer Learning</a:t>
            </a:r>
            <a:endParaRPr lang="zh-TW" altLang="zh-TW" sz="2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1B3274-1842-47A2-A49B-46B6E74AEE0F}"/>
              </a:ext>
            </a:extLst>
          </p:cNvPr>
          <p:cNvSpPr/>
          <p:nvPr/>
        </p:nvSpPr>
        <p:spPr bwMode="auto">
          <a:xfrm>
            <a:off x="0" y="6021288"/>
            <a:ext cx="9144000" cy="216024"/>
          </a:xfrm>
          <a:prstGeom prst="rect">
            <a:avLst/>
          </a:prstGeom>
          <a:gradFill flip="none" rotWithShape="1">
            <a:gsLst>
              <a:gs pos="0">
                <a:srgbClr val="5F9EFF"/>
              </a:gs>
              <a:gs pos="36000">
                <a:srgbClr val="81BFFF"/>
              </a:gs>
              <a:gs pos="70000">
                <a:srgbClr val="C6D7EC"/>
              </a:gs>
              <a:gs pos="100000">
                <a:srgbClr val="FDEAFA"/>
              </a:gs>
            </a:gsLst>
            <a:lin ang="0" scaled="1"/>
            <a:tileRect/>
          </a:gra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8D7F64-68FB-4A94-9D60-8F350258A972}"/>
              </a:ext>
            </a:extLst>
          </p:cNvPr>
          <p:cNvSpPr txBox="1"/>
          <p:nvPr/>
        </p:nvSpPr>
        <p:spPr>
          <a:xfrm>
            <a:off x="-540568" y="6006189"/>
            <a:ext cx="4104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b="1" u="sng" dirty="0"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Scientific Reports (2025) 10.1038</a:t>
            </a:r>
            <a:endParaRPr lang="en-US" altLang="zh-TW" sz="1000" b="0" i="0" dirty="0"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C95AA9-1BFB-F40F-4671-9F700E7C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200" dirty="0"/>
              <a:t>Outline</a:t>
            </a:r>
            <a:endParaRPr lang="zh-TW" altLang="en-US" sz="2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C77CF7-69FA-D8CC-018F-6FB92FFF4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75" y="1225550"/>
            <a:ext cx="7847013" cy="4651722"/>
          </a:xfrm>
        </p:spPr>
        <p:txBody>
          <a:bodyPr/>
          <a:lstStyle/>
          <a:p>
            <a:pPr algn="just" hangingPunct="0">
              <a:lnSpc>
                <a:spcPct val="150000"/>
              </a:lnSpc>
            </a:pPr>
            <a:r>
              <a:rPr lang="en-US" sz="2000" dirty="0"/>
              <a:t>Identifying the Gaps</a:t>
            </a:r>
            <a:endParaRPr lang="th-TH" sz="2000" dirty="0"/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Model Selection: AE-BPNN &amp; Denoising Concept </a:t>
            </a:r>
            <a:endParaRPr lang="th-TH" sz="2000" dirty="0"/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Proposed Experiments (3 Scenarios)</a:t>
            </a:r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Open-Source Data Strategy</a:t>
            </a:r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Tentative Project Roadmap</a:t>
            </a:r>
          </a:p>
          <a:p>
            <a:pPr marL="0" indent="0" algn="just" hangingPunct="0">
              <a:lnSpc>
                <a:spcPct val="150000"/>
              </a:lnSpc>
              <a:buNone/>
            </a:pPr>
            <a:endParaRPr lang="th-TH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0E1F7E-E23A-8A46-3CD9-AB28D594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B625-3397-435F-B12D-F437C0075AC8}" type="slidenum">
              <a:rPr lang="en-US" altLang="zh-TW" smtClean="0"/>
              <a:pPr/>
              <a:t>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6526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550B7-0EFB-0004-1686-3D3B6BE29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4D8664-C427-1E56-8DBD-6583A117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Identifying the Gaps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B67D7DB5-26BD-F9BD-578A-3BE81D0E8E0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208119" y="1538197"/>
            <a:ext cx="2825361" cy="2107805"/>
          </a:xfrm>
        </p:spPr>
        <p:txBody>
          <a:bodyPr wrap="square" anchor="t">
            <a:noAutofit/>
          </a:bodyPr>
          <a:lstStyle/>
          <a:p>
            <a:pPr marL="0" indent="0" algn="just" hangingPunct="0">
              <a:lnSpc>
                <a:spcPct val="90000"/>
              </a:lnSpc>
              <a:buNone/>
            </a:pPr>
            <a:r>
              <a:rPr lang="en-US" sz="1800" b="1" dirty="0"/>
              <a:t>Information Loss:</a:t>
            </a:r>
            <a:endParaRPr lang="en-US" altLang="zh-TW" sz="1800" b="1" dirty="0"/>
          </a:p>
          <a:p>
            <a:pPr algn="ju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Issue:</a:t>
            </a:r>
            <a:r>
              <a:rPr lang="en-US" sz="1600" dirty="0"/>
              <a:t> 60 frequency points compressed into an </a:t>
            </a:r>
            <a:r>
              <a:rPr lang="en-US" sz="1600" b="1" dirty="0"/>
              <a:t>8×8 matrix</a:t>
            </a:r>
            <a:r>
              <a:rPr lang="en-US" sz="1600" dirty="0"/>
              <a:t>.</a:t>
            </a:r>
          </a:p>
          <a:p>
            <a:pPr algn="ju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Impact:</a:t>
            </a:r>
            <a:r>
              <a:rPr lang="en-US" sz="1600" dirty="0"/>
              <a:t> Significant loss of spatial correlation and dimensional details.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8B3766-C00C-95C6-55C7-288A5624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altLang="zh-TW" sz="100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2AAD52A-584B-21FC-D5E0-437BD2576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8036174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Scope: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existing reviews focus solely on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single-cell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estimation.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A75C5A-2F7D-48BB-7298-239B608A3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26" y="3465004"/>
            <a:ext cx="2636723" cy="20882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8AE1AD-BEBD-F679-EBEC-85584C3F0C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55" t="10819" b="4070"/>
          <a:stretch>
            <a:fillRect/>
          </a:stretch>
        </p:blipFill>
        <p:spPr>
          <a:xfrm>
            <a:off x="3425230" y="3646002"/>
            <a:ext cx="2670568" cy="1512352"/>
          </a:xfrm>
          <a:prstGeom prst="rect">
            <a:avLst/>
          </a:prstGeom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09A8E543-42B5-AFBD-D41F-5AE67D644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FEDCEB-B346-8347-6E64-37AE68FBFF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949" t="18291" r="19151" b="19760"/>
          <a:stretch>
            <a:fillRect/>
          </a:stretch>
        </p:blipFill>
        <p:spPr>
          <a:xfrm>
            <a:off x="6879297" y="3465004"/>
            <a:ext cx="1819377" cy="1850746"/>
          </a:xfrm>
          <a:prstGeom prst="rect">
            <a:avLst/>
          </a:prstGeom>
        </p:spPr>
      </p:pic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D38A5C5F-020F-EEB5-D97F-A3F9055B1221}"/>
              </a:ext>
            </a:extLst>
          </p:cNvPr>
          <p:cNvSpPr txBox="1">
            <a:spLocks/>
          </p:cNvSpPr>
          <p:nvPr/>
        </p:nvSpPr>
        <p:spPr bwMode="auto">
          <a:xfrm>
            <a:off x="3270687" y="1579465"/>
            <a:ext cx="2755540" cy="2107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>
              <a:lnSpc>
                <a:spcPct val="90000"/>
              </a:lnSpc>
              <a:buNone/>
            </a:pPr>
            <a:r>
              <a:rPr lang="en-US" sz="1800" b="1" dirty="0">
                <a:effectLst/>
              </a:rPr>
              <a:t>Data Scarcity:</a:t>
            </a:r>
          </a:p>
          <a:p>
            <a:pPr algn="just" eaLnBrk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Issue: </a:t>
            </a:r>
            <a:r>
              <a:rPr lang="en-US" sz="1600" dirty="0">
                <a:effectLst/>
              </a:rPr>
              <a:t>Limited laboratory dataset (Only </a:t>
            </a:r>
            <a:r>
              <a:rPr lang="en-US" sz="1600" dirty="0">
                <a:solidFill>
                  <a:srgbClr val="FF0000"/>
                </a:solidFill>
                <a:effectLst/>
              </a:rPr>
              <a:t>8 coin cells</a:t>
            </a:r>
            <a:r>
              <a:rPr lang="en-US" sz="1600" dirty="0">
                <a:effectLst/>
              </a:rPr>
              <a:t>). </a:t>
            </a:r>
          </a:p>
          <a:p>
            <a:pPr algn="just" eaLnBrk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Impact</a:t>
            </a:r>
            <a:r>
              <a:rPr lang="en-US" sz="1600" dirty="0">
                <a:effectLst/>
              </a:rPr>
              <a:t>: High risk of model overfitting and limited training capability.</a:t>
            </a:r>
          </a:p>
        </p:txBody>
      </p:sp>
      <p:sp>
        <p:nvSpPr>
          <p:cNvPr id="20" name="內容版面配置區 2">
            <a:extLst>
              <a:ext uri="{FF2B5EF4-FFF2-40B4-BE49-F238E27FC236}">
                <a16:creationId xmlns:a16="http://schemas.microsoft.com/office/drawing/2014/main" id="{1D6FC369-C312-0F3B-59A8-C37078AC86A5}"/>
              </a:ext>
            </a:extLst>
          </p:cNvPr>
          <p:cNvSpPr txBox="1">
            <a:spLocks/>
          </p:cNvSpPr>
          <p:nvPr/>
        </p:nvSpPr>
        <p:spPr bwMode="auto">
          <a:xfrm>
            <a:off x="6099071" y="1580837"/>
            <a:ext cx="2836810" cy="2107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>
              <a:lnSpc>
                <a:spcPct val="90000"/>
              </a:lnSpc>
              <a:buNone/>
            </a:pPr>
            <a:r>
              <a:rPr lang="en-US" sz="1800" b="1" dirty="0">
                <a:effectLst/>
              </a:rPr>
              <a:t>Imbalanced Temperature:</a:t>
            </a:r>
          </a:p>
          <a:p>
            <a:pPr algn="just" eaLnBrk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Issue: </a:t>
            </a:r>
            <a:r>
              <a:rPr lang="en-US" sz="1600" dirty="0">
                <a:effectLst/>
              </a:rPr>
              <a:t>Data is heavily biased towards 25°C. </a:t>
            </a:r>
          </a:p>
          <a:p>
            <a:pPr algn="just" eaLnBrk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Impact: </a:t>
            </a:r>
            <a:r>
              <a:rPr lang="en-US" sz="1600" dirty="0">
                <a:effectLst/>
              </a:rPr>
              <a:t>Poor generalization for real-world varying temperature conditions.</a:t>
            </a:r>
          </a:p>
        </p:txBody>
      </p:sp>
    </p:spTree>
    <p:extLst>
      <p:ext uri="{BB962C8B-B14F-4D97-AF65-F5344CB8AC3E}">
        <p14:creationId xmlns:p14="http://schemas.microsoft.com/office/powerpoint/2010/main" val="417304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B1B21C-0CD8-49CF-90C1-9E332A3AE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Model Selection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7A72D05F-DEE9-DFCE-02BF-A778DE6F23E3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692895" y="1257199"/>
                <a:ext cx="8271593" cy="3960440"/>
              </a:xfrm>
            </p:spPr>
            <p:txBody>
              <a:bodyPr wrap="square" anchor="t">
                <a:noAutofit/>
              </a:bodyPr>
              <a:lstStyle/>
              <a:p>
                <a:pPr marL="0" indent="0" hangingPunct="0">
                  <a:lnSpc>
                    <a:spcPct val="90000"/>
                  </a:lnSpc>
                  <a:buNone/>
                </a:pPr>
                <a:r>
                  <a:rPr lang="en-US" sz="1800" b="1" dirty="0"/>
                  <a:t>Core Architecture: AE-BPNN :</a:t>
                </a:r>
                <a:endParaRPr lang="en-US" altLang="zh-TW" sz="1800" b="1" dirty="0"/>
              </a:p>
              <a:p>
                <a:pPr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b="1" dirty="0"/>
                  <a:t>Autoencoder (AE): </a:t>
                </a:r>
                <a:r>
                  <a:rPr lang="en-US" sz="1600" dirty="0"/>
                  <a:t>Unsupervised dimensionality reduction </a:t>
                </a:r>
                <a:r>
                  <a:rPr lang="en-US" sz="1600" dirty="0">
                    <a:solidFill>
                      <a:srgbClr val="FF0000"/>
                    </a:solidFill>
                  </a:rPr>
                  <a:t>(compressing EIS to 20 key features).  </a:t>
                </a:r>
              </a:p>
              <a:p>
                <a:pPr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b="1" dirty="0"/>
                  <a:t>BPNN: </a:t>
                </a:r>
                <a:r>
                  <a:rPr lang="en-US" sz="1600" dirty="0"/>
                  <a:t>Accurate SOH estimation using scaled conjugate gradient optimization.  </a:t>
                </a:r>
              </a:p>
              <a:p>
                <a:pPr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b="1" dirty="0"/>
                  <a:t>Advantage: </a:t>
                </a:r>
                <a:r>
                  <a:rPr lang="en-US" sz="1600" dirty="0"/>
                  <a:t>Lightweight, low computational cost, and </a:t>
                </a:r>
                <a:r>
                  <a:rPr lang="en-US" sz="1600" dirty="0">
                    <a:solidFill>
                      <a:srgbClr val="FF0000"/>
                    </a:solidFill>
                  </a:rPr>
                  <a:t>high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800" b="1" dirty="0"/>
              </a:p>
              <a:p>
                <a:pPr marL="0" indent="0" hangingPunct="0">
                  <a:lnSpc>
                    <a:spcPct val="90000"/>
                  </a:lnSpc>
                  <a:buNone/>
                </a:pPr>
                <a:r>
                  <a:rPr lang="en-US" sz="1800" b="1" dirty="0"/>
                  <a:t>Robustness Evaluation (Denoising) :</a:t>
                </a:r>
              </a:p>
              <a:p>
                <a:pPr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b="1" dirty="0"/>
                  <a:t>Method:</a:t>
                </a:r>
                <a:r>
                  <a:rPr lang="en-US" sz="1600" dirty="0"/>
                  <a:t> </a:t>
                </a:r>
                <a:r>
                  <a:rPr lang="en-US" sz="1600" dirty="0">
                    <a:solidFill>
                      <a:srgbClr val="FF0000"/>
                    </a:solidFill>
                  </a:rPr>
                  <a:t>Noise Injection </a:t>
                </a:r>
                <a:r>
                  <a:rPr lang="en-US" sz="1600" dirty="0"/>
                  <a:t>into raw EIS signals (Scenario B). </a:t>
                </a:r>
              </a:p>
              <a:p>
                <a:pPr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b="1" dirty="0"/>
                  <a:t>Objective:</a:t>
                </a:r>
                <a:r>
                  <a:rPr lang="en-US" sz="1600" dirty="0"/>
                  <a:t> To evaluate model stability against noisy data (simulating sensor noise). </a:t>
                </a:r>
              </a:p>
              <a:p>
                <a:pPr hangingPunct="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b="1" dirty="0"/>
                  <a:t>Outcome:</a:t>
                </a:r>
                <a:r>
                  <a:rPr lang="en-US" sz="1600" dirty="0"/>
                  <a:t> Evaluates the model's denoising capability, aligning with the </a:t>
                </a:r>
                <a:r>
                  <a:rPr lang="en-US" sz="1600" dirty="0">
                    <a:solidFill>
                      <a:srgbClr val="FF0000"/>
                    </a:solidFill>
                  </a:rPr>
                  <a:t>DAE (Denoising Autoencoder) concept.</a:t>
                </a:r>
                <a:endParaRPr lang="en-US" altLang="zh-TW" sz="1600" i="0" dirty="0">
                  <a:effectLst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7A72D05F-DEE9-DFCE-02BF-A778DE6F23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692895" y="1257199"/>
                <a:ext cx="8271593" cy="3960440"/>
              </a:xfrm>
              <a:blipFill>
                <a:blip r:embed="rId2"/>
                <a:stretch>
                  <a:fillRect l="-663" t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DAE569-4DB0-4546-A321-C423A9FB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altLang="zh-TW" sz="1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5AC491-0772-3ADB-29B6-C73928714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920" y="4005064"/>
            <a:ext cx="5314277" cy="26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0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0DE5-3911-2FCB-4916-53F788C5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A72FF0-1924-30D3-09C2-8A2E51A0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52" y="197845"/>
            <a:ext cx="4360863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Proposed Experiments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67029AB-2C30-CE4A-ACD3-E1B7D8A7B8C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23528" y="1272559"/>
            <a:ext cx="5616624" cy="979314"/>
          </a:xfrm>
          <a:ln w="19050">
            <a:solidFill>
              <a:schemeClr val="tx2"/>
            </a:solidFill>
          </a:ln>
        </p:spPr>
        <p:txBody>
          <a:bodyPr wrap="square" anchor="t">
            <a:noAutofit/>
          </a:bodyPr>
          <a:lstStyle/>
          <a:p>
            <a:pPr marL="0" indent="0" hangingPunct="0">
              <a:lnSpc>
                <a:spcPct val="90000"/>
              </a:lnSpc>
              <a:buNone/>
            </a:pPr>
            <a:r>
              <a:rPr lang="en-US" sz="1800" b="1" dirty="0"/>
              <a:t>Pre-Experiment: Feature Enhancement </a:t>
            </a:r>
            <a:endParaRPr lang="en-US" altLang="zh-TW" sz="1800" b="1" dirty="0"/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Upgrade: </a:t>
            </a:r>
            <a:r>
              <a:rPr lang="en-US" sz="1600" dirty="0"/>
              <a:t>Enhance EIS image resolution from 8×8 to </a:t>
            </a:r>
            <a:r>
              <a:rPr lang="en-US" sz="1600" dirty="0">
                <a:solidFill>
                  <a:srgbClr val="FF0000"/>
                </a:solidFill>
              </a:rPr>
              <a:t>16×16. </a:t>
            </a:r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Goal: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Reduce </a:t>
            </a:r>
            <a:r>
              <a:rPr lang="en-US" sz="1600" dirty="0"/>
              <a:t>information loss before model training.</a:t>
            </a:r>
          </a:p>
          <a:p>
            <a:pPr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6628C1-8D3D-8F30-4A69-5BBD66DC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altLang="zh-TW" sz="100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9778AD5-B5FF-6B58-B304-D4F519DD8422}"/>
              </a:ext>
            </a:extLst>
          </p:cNvPr>
          <p:cNvSpPr txBox="1">
            <a:spLocks/>
          </p:cNvSpPr>
          <p:nvPr/>
        </p:nvSpPr>
        <p:spPr bwMode="auto">
          <a:xfrm>
            <a:off x="323528" y="2352678"/>
            <a:ext cx="5616624" cy="1119531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>
              <a:lnSpc>
                <a:spcPct val="90000"/>
              </a:lnSpc>
              <a:buNone/>
            </a:pPr>
            <a:r>
              <a:rPr lang="en-US" sz="1800" b="1" dirty="0">
                <a:effectLst/>
              </a:rPr>
              <a:t>Scenario A: Baseline Evaluation </a:t>
            </a:r>
            <a:endParaRPr lang="en-US" altLang="zh-TW" sz="1800" b="1" dirty="0">
              <a:effectLst/>
            </a:endParaRPr>
          </a:p>
          <a:p>
            <a:pPr eaLnBrk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Test: </a:t>
            </a:r>
            <a:r>
              <a:rPr lang="en-US" sz="1600" dirty="0">
                <a:solidFill>
                  <a:srgbClr val="FF0000"/>
                </a:solidFill>
                <a:effectLst/>
              </a:rPr>
              <a:t>AE-BPNN </a:t>
            </a:r>
            <a:r>
              <a:rPr lang="en-US" sz="1600" dirty="0">
                <a:effectLst/>
              </a:rPr>
              <a:t>vs. </a:t>
            </a:r>
            <a:r>
              <a:rPr lang="en-US" sz="1600" dirty="0">
                <a:solidFill>
                  <a:srgbClr val="FF0000"/>
                </a:solidFill>
                <a:effectLst/>
              </a:rPr>
              <a:t>CAE-DNN</a:t>
            </a:r>
            <a:r>
              <a:rPr lang="en-US" sz="1600" dirty="0">
                <a:effectLst/>
              </a:rPr>
              <a:t> (Original).</a:t>
            </a:r>
            <a:r>
              <a:rPr lang="en-US" sz="1600" dirty="0">
                <a:solidFill>
                  <a:srgbClr val="FF0000"/>
                </a:solidFill>
                <a:effectLst/>
              </a:rPr>
              <a:t> </a:t>
            </a:r>
          </a:p>
          <a:p>
            <a:pPr eaLnBrk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Metric: </a:t>
            </a:r>
            <a:r>
              <a:rPr lang="en-US" sz="1600" dirty="0">
                <a:effectLst/>
              </a:rPr>
              <a:t>Baseline accuracy and standard SOH estimation performance.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37F6C920-9D20-427B-905A-324387E64903}"/>
              </a:ext>
            </a:extLst>
          </p:cNvPr>
          <p:cNvSpPr txBox="1">
            <a:spLocks/>
          </p:cNvSpPr>
          <p:nvPr/>
        </p:nvSpPr>
        <p:spPr bwMode="auto">
          <a:xfrm>
            <a:off x="323528" y="3562402"/>
            <a:ext cx="5616624" cy="1090733"/>
          </a:xfrm>
          <a:prstGeom prst="rect">
            <a:avLst/>
          </a:prstGeom>
          <a:noFill/>
          <a:ln w="19050">
            <a:solidFill>
              <a:srgbClr val="1D1D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>
              <a:lnSpc>
                <a:spcPct val="90000"/>
              </a:lnSpc>
              <a:buNone/>
            </a:pPr>
            <a:r>
              <a:rPr lang="en-US" sz="1800" b="1" dirty="0">
                <a:effectLst/>
              </a:rPr>
              <a:t>Scenario B: Robustness Test </a:t>
            </a:r>
            <a:endParaRPr lang="en-US" altLang="zh-TW" sz="1800" b="1" dirty="0">
              <a:effectLst/>
            </a:endParaRPr>
          </a:p>
          <a:p>
            <a:pPr eaLnBrk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Test: </a:t>
            </a:r>
            <a:r>
              <a:rPr lang="en-US" sz="1600" dirty="0">
                <a:effectLst/>
              </a:rPr>
              <a:t>Inject </a:t>
            </a:r>
            <a:r>
              <a:rPr lang="en-US" sz="1600" dirty="0">
                <a:solidFill>
                  <a:srgbClr val="FF0000"/>
                </a:solidFill>
                <a:effectLst/>
              </a:rPr>
              <a:t>simulated noise </a:t>
            </a:r>
            <a:r>
              <a:rPr lang="en-US" sz="1600" dirty="0">
                <a:effectLst/>
              </a:rPr>
              <a:t>into EIS signals. </a:t>
            </a:r>
          </a:p>
          <a:p>
            <a:pPr eaLnBrk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Goal: </a:t>
            </a:r>
            <a:r>
              <a:rPr lang="en-US" sz="1600" dirty="0">
                <a:effectLst/>
              </a:rPr>
              <a:t>Evaluate stability and denoising capability against sensor noise.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9B8FF85D-C1E8-95B7-CF1A-8CFDFCE91612}"/>
              </a:ext>
            </a:extLst>
          </p:cNvPr>
          <p:cNvSpPr txBox="1">
            <a:spLocks/>
          </p:cNvSpPr>
          <p:nvPr/>
        </p:nvSpPr>
        <p:spPr bwMode="auto">
          <a:xfrm>
            <a:off x="323528" y="4743328"/>
            <a:ext cx="5616624" cy="1133943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>
              <a:lnSpc>
                <a:spcPct val="90000"/>
              </a:lnSpc>
              <a:buNone/>
            </a:pPr>
            <a:r>
              <a:rPr lang="it-IT" sz="1800" b="1" dirty="0">
                <a:effectLst/>
              </a:rPr>
              <a:t>Scenario C: Overcoming Data Scarcity</a:t>
            </a:r>
            <a:endParaRPr lang="en-US" altLang="zh-TW" sz="1800" b="1" dirty="0">
              <a:effectLst/>
            </a:endParaRPr>
          </a:p>
          <a:p>
            <a:pPr eaLnBrk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Test: </a:t>
            </a:r>
            <a:r>
              <a:rPr lang="en-US" sz="1600" dirty="0">
                <a:effectLst/>
              </a:rPr>
              <a:t>Apply </a:t>
            </a:r>
            <a:r>
              <a:rPr lang="en-US" sz="1600" b="1" dirty="0">
                <a:solidFill>
                  <a:srgbClr val="FF0000"/>
                </a:solidFill>
                <a:effectLst/>
              </a:rPr>
              <a:t>Transfer Learning</a:t>
            </a:r>
            <a:r>
              <a:rPr lang="en-US" sz="1600" dirty="0">
                <a:effectLst/>
              </a:rPr>
              <a:t>. </a:t>
            </a:r>
          </a:p>
          <a:p>
            <a:pPr eaLnBrk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effectLst/>
              </a:rPr>
              <a:t>Goal: </a:t>
            </a:r>
            <a:r>
              <a:rPr lang="en-US" sz="1600" dirty="0">
                <a:effectLst/>
              </a:rPr>
              <a:t>Prove model efficiency using </a:t>
            </a:r>
            <a:r>
              <a:rPr lang="en-US" sz="1600" dirty="0">
                <a:solidFill>
                  <a:srgbClr val="FF0000"/>
                </a:solidFill>
                <a:effectLst/>
              </a:rPr>
              <a:t>limited lab data </a:t>
            </a:r>
            <a:r>
              <a:rPr lang="en-US" sz="1600" dirty="0">
                <a:effectLst/>
              </a:rPr>
              <a:t>combined with open-source pre-training.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CA769B6-C006-A7D3-69DA-5DE337ED7E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01" t="7349" r="8992" b="5501"/>
          <a:stretch>
            <a:fillRect/>
          </a:stretch>
        </p:blipFill>
        <p:spPr>
          <a:xfrm>
            <a:off x="6118820" y="1063349"/>
            <a:ext cx="2701652" cy="484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5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8ACFD-5618-44A3-EC83-4AE1BEDEB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7B6321-3AAA-EA96-9CA6-1269B952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996" y="187003"/>
            <a:ext cx="4360863" cy="730105"/>
          </a:xfrm>
        </p:spPr>
        <p:txBody>
          <a:bodyPr wrap="square" anchor="ctr">
            <a:normAutofit fontScale="90000"/>
          </a:bodyPr>
          <a:lstStyle/>
          <a:p>
            <a:pPr hangingPunct="0">
              <a:lnSpc>
                <a:spcPct val="150000"/>
              </a:lnSpc>
            </a:pPr>
            <a:r>
              <a:rPr lang="en-US" dirty="0"/>
              <a:t>Open-Source Data Strategy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0F5A0D4-CBFC-3E0C-DA9B-58DD74FC27C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07504" y="1194857"/>
            <a:ext cx="9167465" cy="4320480"/>
          </a:xfrm>
        </p:spPr>
        <p:txBody>
          <a:bodyPr wrap="square" anchor="t">
            <a:noAutofit/>
          </a:bodyPr>
          <a:lstStyle/>
          <a:p>
            <a:pPr marL="0" indent="0" algn="thaiDist" hangingPunct="0">
              <a:lnSpc>
                <a:spcPct val="90000"/>
              </a:lnSpc>
              <a:buNone/>
            </a:pPr>
            <a:r>
              <a:rPr lang="en-US" sz="1800" b="1" dirty="0"/>
              <a:t>Public Dataset for Pre-Training :</a:t>
            </a:r>
            <a:endParaRPr lang="en-US" altLang="zh-TW" sz="1800" b="1" dirty="0"/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Source: </a:t>
            </a:r>
            <a:r>
              <a:rPr lang="en-US" sz="1600" dirty="0">
                <a:solidFill>
                  <a:srgbClr val="FF0000"/>
                </a:solidFill>
              </a:rPr>
              <a:t>NASA</a:t>
            </a:r>
            <a:r>
              <a:rPr lang="en-US" sz="1600" dirty="0"/>
              <a:t> Prognostics Center of Excellence </a:t>
            </a:r>
            <a:r>
              <a:rPr lang="en-US" sz="1600" dirty="0">
                <a:solidFill>
                  <a:srgbClr val="FF0000"/>
                </a:solidFill>
              </a:rPr>
              <a:t>(</a:t>
            </a:r>
            <a:r>
              <a:rPr lang="en-US" sz="1600" dirty="0" err="1">
                <a:solidFill>
                  <a:srgbClr val="FF0000"/>
                </a:solidFill>
              </a:rPr>
              <a:t>PCoE</a:t>
            </a:r>
            <a:r>
              <a:rPr lang="en-US" sz="1600" dirty="0">
                <a:solidFill>
                  <a:srgbClr val="FF0000"/>
                </a:solidFill>
              </a:rPr>
              <a:t>). 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Data Type: </a:t>
            </a:r>
            <a:r>
              <a:rPr lang="en-US" sz="1600" dirty="0"/>
              <a:t>Includes Impedance (EIS) measurements. 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Features: </a:t>
            </a:r>
            <a:r>
              <a:rPr lang="en-US" sz="1600" dirty="0"/>
              <a:t>Provides both </a:t>
            </a:r>
            <a:r>
              <a:rPr lang="en-US" sz="1600" dirty="0">
                <a:solidFill>
                  <a:srgbClr val="FF0000"/>
                </a:solidFill>
              </a:rPr>
              <a:t>Re(Z) and -</a:t>
            </a:r>
            <a:r>
              <a:rPr lang="en-US" sz="1600" dirty="0" err="1">
                <a:solidFill>
                  <a:srgbClr val="FF0000"/>
                </a:solidFill>
              </a:rPr>
              <a:t>Im</a:t>
            </a:r>
            <a:r>
              <a:rPr lang="en-US" sz="1600" dirty="0">
                <a:solidFill>
                  <a:srgbClr val="FF0000"/>
                </a:solidFill>
              </a:rPr>
              <a:t>(Z) </a:t>
            </a:r>
            <a:r>
              <a:rPr lang="en-US" sz="1600" dirty="0"/>
              <a:t>values matching our required format.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 algn="thaiDist" hangingPunct="0">
              <a:lnSpc>
                <a:spcPct val="90000"/>
              </a:lnSpc>
              <a:buNone/>
            </a:pPr>
            <a:r>
              <a:rPr lang="en-US" sz="1800" b="1" dirty="0"/>
              <a:t>Implementation Plan :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Phase 1: </a:t>
            </a:r>
            <a:r>
              <a:rPr lang="en-US" sz="1600" dirty="0"/>
              <a:t>Pre-train AE-BPNN using extensive NASA data. 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Phase 2: </a:t>
            </a:r>
            <a:r>
              <a:rPr lang="en-US" sz="1600" dirty="0"/>
              <a:t>Fine-tune the model using the </a:t>
            </a:r>
            <a:r>
              <a:rPr lang="en-US" sz="1600" dirty="0">
                <a:solidFill>
                  <a:srgbClr val="FF0000"/>
                </a:solidFill>
              </a:rPr>
              <a:t>8 coin cells </a:t>
            </a:r>
            <a:r>
              <a:rPr lang="en-US" sz="1600" dirty="0"/>
              <a:t>from our laboratory. 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Advantage: </a:t>
            </a:r>
            <a:r>
              <a:rPr lang="en-US" sz="1600" dirty="0"/>
              <a:t>Immediate start on coding &amp; model architecture without waiting for new lab experiments.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74209B-EBAC-4692-B047-9A116C06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altLang="zh-TW" sz="1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C81B6A-6F4E-9E90-5682-A52C7E42F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" t="1523" r="54581" b="3381"/>
          <a:stretch>
            <a:fillRect/>
          </a:stretch>
        </p:blipFill>
        <p:spPr>
          <a:xfrm>
            <a:off x="5555188" y="3689081"/>
            <a:ext cx="1683812" cy="27879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647822-96F4-057B-05E9-5ED39DC761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3" r="8514"/>
          <a:stretch>
            <a:fillRect/>
          </a:stretch>
        </p:blipFill>
        <p:spPr>
          <a:xfrm>
            <a:off x="792396" y="3758331"/>
            <a:ext cx="4752528" cy="27571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1BEF39-F14B-11AE-2A9B-1D00D9D09850}"/>
              </a:ext>
            </a:extLst>
          </p:cNvPr>
          <p:cNvSpPr txBox="1"/>
          <p:nvPr/>
        </p:nvSpPr>
        <p:spPr>
          <a:xfrm>
            <a:off x="611560" y="6437411"/>
            <a:ext cx="6991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</a:rPr>
              <a:t>Figure : Data Extraction from MATLAB ( BatteryAgingARC-FY08Q4 B0005 )</a:t>
            </a:r>
          </a:p>
        </p:txBody>
      </p:sp>
    </p:spTree>
    <p:extLst>
      <p:ext uri="{BB962C8B-B14F-4D97-AF65-F5344CB8AC3E}">
        <p14:creationId xmlns:p14="http://schemas.microsoft.com/office/powerpoint/2010/main" val="3581882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C6DA-C83A-45F5-F06E-6361D506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D6D592-C1CA-D458-6E00-0619C8EA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996" y="187003"/>
            <a:ext cx="4456460" cy="730105"/>
          </a:xfrm>
        </p:spPr>
        <p:txBody>
          <a:bodyPr wrap="square" anchor="ctr">
            <a:normAutofit/>
          </a:bodyPr>
          <a:lstStyle/>
          <a:p>
            <a:pPr hangingPunct="0">
              <a:lnSpc>
                <a:spcPct val="150000"/>
              </a:lnSpc>
            </a:pPr>
            <a:r>
              <a:rPr lang="en-US" dirty="0"/>
              <a:t>Tentative Project Roadmap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DA8A69-E3BC-2C61-DD59-6CFA7E366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altLang="zh-TW" sz="100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3EE120A-EE4A-EC31-1104-2A6EEDED8D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B31C9A-1BC5-AA0B-A28E-C282B47E6F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082" b="15672"/>
          <a:stretch>
            <a:fillRect/>
          </a:stretch>
        </p:blipFill>
        <p:spPr>
          <a:xfrm>
            <a:off x="0" y="1421160"/>
            <a:ext cx="9144000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4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E9F7-A744-AC69-07CB-D404F6B03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7E89BF-8DEC-108D-F1B8-66BC6A6E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996" y="187003"/>
            <a:ext cx="4456460" cy="730105"/>
          </a:xfrm>
        </p:spPr>
        <p:txBody>
          <a:bodyPr wrap="square" anchor="ctr">
            <a:noAutofit/>
          </a:bodyPr>
          <a:lstStyle/>
          <a:p>
            <a:pPr hangingPunct="0">
              <a:lnSpc>
                <a:spcPct val="150000"/>
              </a:lnSpc>
            </a:pPr>
            <a:r>
              <a:rPr lang="en-US" sz="1800" dirty="0"/>
              <a:t>Progress: Data Extraction &amp; Consolidation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C6A68B-420A-31C4-4957-4EACFAAC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altLang="zh-TW" sz="100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AD64711-81F6-AEFB-210F-8ECF966A37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A79761-D34F-CDA1-7DA3-7E9C12A07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991883"/>
            <a:ext cx="1877175" cy="3168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90B8A6-513D-CE8F-14DB-39FD5CAC9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996" y="1022310"/>
            <a:ext cx="4318708" cy="3168352"/>
          </a:xfrm>
          <a:prstGeom prst="rect">
            <a:avLst/>
          </a:prstGeom>
        </p:spPr>
      </p:pic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E1B78BBE-1EEC-4F26-6DDC-65B0EF35F53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39964" y="4335489"/>
            <a:ext cx="8464072" cy="1935832"/>
          </a:xfrm>
        </p:spPr>
        <p:txBody>
          <a:bodyPr wrap="square" anchor="t">
            <a:noAutofit/>
          </a:bodyPr>
          <a:lstStyle/>
          <a:p>
            <a:pPr marL="0" indent="0" algn="thaiDist" hangingPunct="0">
              <a:lnSpc>
                <a:spcPct val="90000"/>
              </a:lnSpc>
              <a:buNone/>
            </a:pPr>
            <a:r>
              <a:rPr lang="en-US" sz="1800" b="1" dirty="0"/>
              <a:t>Automated Data Pipeline (MATLAB)</a:t>
            </a:r>
          </a:p>
          <a:p>
            <a:pPr marL="0" indent="0" algn="thaiDist" hangingPunct="0">
              <a:lnSpc>
                <a:spcPct val="90000"/>
              </a:lnSpc>
              <a:buNone/>
            </a:pPr>
            <a:r>
              <a:rPr lang="en-US" sz="1600" b="1" dirty="0"/>
              <a:t>Source: </a:t>
            </a:r>
            <a:r>
              <a:rPr lang="en-US" sz="1600" dirty="0">
                <a:solidFill>
                  <a:srgbClr val="FF0000"/>
                </a:solidFill>
              </a:rPr>
              <a:t>NASA</a:t>
            </a:r>
            <a:r>
              <a:rPr lang="en-US" sz="1600" dirty="0"/>
              <a:t> Prognostics Center of Excellence </a:t>
            </a:r>
            <a:r>
              <a:rPr lang="en-US" sz="1600" dirty="0">
                <a:solidFill>
                  <a:srgbClr val="FF0000"/>
                </a:solidFill>
              </a:rPr>
              <a:t>(</a:t>
            </a:r>
            <a:r>
              <a:rPr lang="en-US" sz="1600" dirty="0" err="1">
                <a:solidFill>
                  <a:srgbClr val="FF0000"/>
                </a:solidFill>
              </a:rPr>
              <a:t>PCoE</a:t>
            </a:r>
            <a:r>
              <a:rPr lang="en-US" sz="1600" dirty="0">
                <a:solidFill>
                  <a:srgbClr val="FF0000"/>
                </a:solidFill>
              </a:rPr>
              <a:t>). 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Scope:</a:t>
            </a:r>
            <a:r>
              <a:rPr lang="en-US" sz="1600" dirty="0"/>
              <a:t> Extracted EIS data simultaneously from 4 baseline cells (</a:t>
            </a:r>
            <a:r>
              <a:rPr lang="en-US" sz="1600" b="1" dirty="0"/>
              <a:t>B0005, B0006, B0007, B0018</a:t>
            </a:r>
            <a:r>
              <a:rPr lang="en-US" sz="1600" dirty="0"/>
              <a:t>).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b="1" dirty="0"/>
              <a:t>Features Extracted:</a:t>
            </a:r>
            <a:r>
              <a:rPr lang="en-US" sz="1600" dirty="0"/>
              <a:t> </a:t>
            </a:r>
            <a:r>
              <a:rPr lang="en-US" sz="1600" dirty="0" err="1"/>
              <a:t>Battery_ID</a:t>
            </a:r>
            <a:r>
              <a:rPr lang="en-US" sz="1600" dirty="0"/>
              <a:t>, Cycle, </a:t>
            </a:r>
            <a:r>
              <a:rPr lang="en-US" sz="1600" dirty="0" err="1"/>
              <a:t>Re_Z</a:t>
            </a:r>
            <a:r>
              <a:rPr lang="en-US" sz="1600" dirty="0"/>
              <a:t>, and </a:t>
            </a:r>
            <a:r>
              <a:rPr lang="en-US" sz="1600" dirty="0" err="1"/>
              <a:t>Neg_Im_Z</a:t>
            </a:r>
            <a:r>
              <a:rPr lang="en-US" sz="1600" dirty="0"/>
              <a:t>.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B0005 = </a:t>
            </a:r>
            <a:r>
              <a:rPr lang="en-US" sz="1600" dirty="0" err="1"/>
              <a:t>Battery_ID</a:t>
            </a:r>
            <a:r>
              <a:rPr lang="en-US" sz="1600" dirty="0"/>
              <a:t> 1, B0006 = </a:t>
            </a:r>
            <a:r>
              <a:rPr lang="en-US" sz="1600" dirty="0" err="1"/>
              <a:t>Battery_ID</a:t>
            </a:r>
            <a:r>
              <a:rPr lang="en-US" sz="1600" dirty="0"/>
              <a:t> 2, B0007 = </a:t>
            </a:r>
            <a:r>
              <a:rPr lang="en-US" sz="1600" dirty="0" err="1"/>
              <a:t>Battery_ID</a:t>
            </a:r>
            <a:r>
              <a:rPr lang="en-US" sz="1600" dirty="0"/>
              <a:t> 3, B0018 = </a:t>
            </a:r>
            <a:r>
              <a:rPr lang="en-US" sz="1600" dirty="0" err="1"/>
              <a:t>Battery_ID</a:t>
            </a:r>
            <a:r>
              <a:rPr lang="en-US" sz="1600" dirty="0"/>
              <a:t> 4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File Format  .csv</a:t>
            </a:r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algn="thaiDist" hangingPunct="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 algn="thaiDist" hangingPunct="0">
              <a:lnSpc>
                <a:spcPct val="9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13629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FAB83-C63F-51AD-13A2-F07259E2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0F5BD3-8107-16DF-31C1-CA06BC5D4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996" y="187003"/>
            <a:ext cx="4456460" cy="730105"/>
          </a:xfrm>
        </p:spPr>
        <p:txBody>
          <a:bodyPr wrap="square" anchor="ctr">
            <a:noAutofit/>
          </a:bodyPr>
          <a:lstStyle/>
          <a:p>
            <a:pPr hangingPunct="0">
              <a:lnSpc>
                <a:spcPct val="150000"/>
              </a:lnSpc>
            </a:pPr>
            <a:r>
              <a:rPr lang="en-US" sz="1800" dirty="0"/>
              <a:t>Proof of Concept: Architecture Verification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184164-BA33-6A29-12AD-C7E5219E3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altLang="zh-TW" sz="100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574CBEF0-5CF7-5CA7-C286-665027FB8E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308DE3-B95B-DB64-9423-4B29F3193583}"/>
              </a:ext>
            </a:extLst>
          </p:cNvPr>
          <p:cNvSpPr txBox="1"/>
          <p:nvPr/>
        </p:nvSpPr>
        <p:spPr>
          <a:xfrm>
            <a:off x="2286000" y="313661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03402B-1579-E258-6E2E-759CD8991E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89" b="10892"/>
          <a:stretch>
            <a:fillRect/>
          </a:stretch>
        </p:blipFill>
        <p:spPr>
          <a:xfrm>
            <a:off x="3130030" y="1988840"/>
            <a:ext cx="5925736" cy="27363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06BE2B-BE5C-D483-4AFC-0728CC596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940423"/>
            <a:ext cx="2880320" cy="293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08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8AA5B-AC78-5743-FBFB-3B886E633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EA5F21-474D-E59C-70F8-06EF5136C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996" y="187003"/>
            <a:ext cx="4456460" cy="730105"/>
          </a:xfrm>
        </p:spPr>
        <p:txBody>
          <a:bodyPr wrap="square" anchor="ctr">
            <a:noAutofit/>
          </a:bodyPr>
          <a:lstStyle/>
          <a:p>
            <a:pPr hangingPunct="0">
              <a:lnSpc>
                <a:spcPct val="150000"/>
              </a:lnSpc>
            </a:pPr>
            <a:r>
              <a:rPr lang="en-US" sz="1800" dirty="0"/>
              <a:t>Immediate Next Steps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9B1584-45F6-3AFD-49A3-EAF3BC85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altLang="zh-TW" sz="100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9C7FB862-4916-F1BF-DFF2-0FA107F609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6EE6C3-4C81-E1E1-7B60-B5741DA2C0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0" t="17574" r="1963" b="16166"/>
          <a:stretch>
            <a:fillRect/>
          </a:stretch>
        </p:blipFill>
        <p:spPr>
          <a:xfrm>
            <a:off x="738680" y="1880828"/>
            <a:ext cx="7971439" cy="3096344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3E929E13-CC64-188B-2B6D-A121B3DCE27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12580" y="1406474"/>
            <a:ext cx="4232036" cy="521095"/>
          </a:xfrm>
        </p:spPr>
        <p:txBody>
          <a:bodyPr wrap="square" anchor="t">
            <a:noAutofit/>
          </a:bodyPr>
          <a:lstStyle/>
          <a:p>
            <a:pPr marL="0" indent="0" algn="thaiDist" hangingPunct="0">
              <a:lnSpc>
                <a:spcPct val="90000"/>
              </a:lnSpc>
              <a:buNone/>
            </a:pPr>
            <a:r>
              <a:rPr lang="en-US" sz="1800" b="1" dirty="0"/>
              <a:t>Phase 1: Foundation and Data Prep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70194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79CAB-001B-9D05-8B7D-69682ECE9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DE577D-9A10-7EFE-FA36-0EFECFB1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928" y="197570"/>
            <a:ext cx="4658667" cy="762000"/>
          </a:xfrm>
        </p:spPr>
        <p:txBody>
          <a:bodyPr wrap="square" anchor="ctr">
            <a:normAutofit/>
          </a:bodyPr>
          <a:lstStyle/>
          <a:p>
            <a:r>
              <a:rPr lang="en-US" altLang="zh-TW" sz="1800" u="sng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Scientific Reports (2025) 10.1038</a:t>
            </a:r>
            <a:endParaRPr lang="en-US" altLang="zh-TW" sz="1800" b="0" dirty="0">
              <a:effectLst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617A4C-AD8D-B751-05E1-36F6C5CC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altLang="zh-TW" sz="100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C1334D90-5BA6-8952-E374-68801D246B6A}"/>
              </a:ext>
            </a:extLst>
          </p:cNvPr>
          <p:cNvSpPr txBox="1">
            <a:spLocks/>
          </p:cNvSpPr>
          <p:nvPr/>
        </p:nvSpPr>
        <p:spPr bwMode="auto">
          <a:xfrm>
            <a:off x="656247" y="2681140"/>
            <a:ext cx="7831506" cy="2003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>
              <a:lnSpc>
                <a:spcPct val="120000"/>
              </a:lnSpc>
              <a:buNone/>
            </a:pPr>
            <a:r>
              <a:rPr lang="en-US" sz="8000" b="1" dirty="0">
                <a:effectLst/>
              </a:rPr>
              <a:t>Thank you</a:t>
            </a:r>
            <a:endParaRPr lang="en-US" sz="7200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24989081"/>
      </p:ext>
    </p:extLst>
  </p:cSld>
  <p:clrMapOvr>
    <a:masterClrMapping/>
  </p:clrMapOvr>
</p:sld>
</file>

<file path=ppt/theme/theme1.xml><?xml version="1.0" encoding="utf-8"?>
<a:theme xmlns:a="http://schemas.openxmlformats.org/drawingml/2006/main" name="電力電子研討會">
  <a:themeElements>
    <a:clrScheme name="電力電子研討會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電力電子研討會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標楷體" panose="03000509000000000000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標楷體" panose="03000509000000000000" pitchFamily="65" charset="-120"/>
          </a:defRPr>
        </a:defPPr>
      </a:lstStyle>
    </a:lnDef>
  </a:objectDefaults>
  <a:extraClrSchemeLst>
    <a:extraClrScheme>
      <a:clrScheme name="電力電子研討會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電力電子研討會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56653CB23E46D428594C3BF9AE3360D" ma:contentTypeVersion="8" ma:contentTypeDescription="建立新的文件。" ma:contentTypeScope="" ma:versionID="ce11e0b95a7e7aac2f65b40ce265d176">
  <xsd:schema xmlns:xsd="http://www.w3.org/2001/XMLSchema" xmlns:xs="http://www.w3.org/2001/XMLSchema" xmlns:p="http://schemas.microsoft.com/office/2006/metadata/properties" xmlns:ns3="6789d5f2-093c-4973-a5f8-1e1f527e41e9" targetNamespace="http://schemas.microsoft.com/office/2006/metadata/properties" ma:root="true" ma:fieldsID="0348dc129f2d2cb9ada6b14072e3b9f5" ns3:_="">
    <xsd:import namespace="6789d5f2-093c-4973-a5f8-1e1f527e41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89d5f2-093c-4973-a5f8-1e1f527e41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141F1D-1938-4272-8450-260B974274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E38D0C-9097-406F-9274-63A5301D1E40}">
  <ds:schemaRefs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6789d5f2-093c-4973-a5f8-1e1f527e41e9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9F99874-14BA-4BB9-860E-8AB3B0ED58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89d5f2-093c-4973-a5f8-1e1f527e41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Office\Templates\電力電子研討會.pot</Template>
  <TotalTime>47169</TotalTime>
  <Words>623</Words>
  <Application>Microsoft Office PowerPoint</Application>
  <PresentationFormat>On-screen Show (4:3)</PresentationFormat>
  <Paragraphs>87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Narrow</vt:lpstr>
      <vt:lpstr>Cambria Math</vt:lpstr>
      <vt:lpstr>Times New Roman</vt:lpstr>
      <vt:lpstr>Wingdings</vt:lpstr>
      <vt:lpstr>華康粗圓體(P)</vt:lpstr>
      <vt:lpstr>電力電子研討會</vt:lpstr>
      <vt:lpstr>Proposed Methodology: Robust SOH Estimation Framework using AE-BPNN and Transfer Learning</vt:lpstr>
      <vt:lpstr>Outline</vt:lpstr>
      <vt:lpstr>Identifying the Gaps</vt:lpstr>
      <vt:lpstr>Model Selection</vt:lpstr>
      <vt:lpstr>Proposed Experiments</vt:lpstr>
      <vt:lpstr>Open-Source Data Strategy</vt:lpstr>
      <vt:lpstr>Tentative Project Roadmap</vt:lpstr>
      <vt:lpstr>Progress: Data Extraction &amp; Consolidation</vt:lpstr>
      <vt:lpstr>Proof of Concept: Architecture Verification</vt:lpstr>
      <vt:lpstr>Immediate Next Steps </vt:lpstr>
      <vt:lpstr>Scientific Reports (2025) 10.1038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高性能感應電動機控制方法</dc:title>
  <dc:creator>Sophie</dc:creator>
  <cp:lastModifiedBy>M11452803</cp:lastModifiedBy>
  <cp:revision>1453</cp:revision>
  <cp:lastPrinted>2000-12-14T11:45:22Z</cp:lastPrinted>
  <dcterms:created xsi:type="dcterms:W3CDTF">1998-01-03T12:05:56Z</dcterms:created>
  <dcterms:modified xsi:type="dcterms:W3CDTF">2026-07-20T20:51:30Z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0x010100856653CB23E46D428594C3BF9AE3360D</vt:lpwstr>
  </property>
</Properties>
</file>