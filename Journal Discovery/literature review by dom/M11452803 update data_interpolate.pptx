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55" r:id="rId5"/>
    <p:sldId id="356" r:id="rId6"/>
    <p:sldId id="449" r:id="rId7"/>
    <p:sldId id="411" r:id="rId8"/>
    <p:sldId id="450" r:id="rId9"/>
    <p:sldId id="451" r:id="rId10"/>
    <p:sldId id="456" r:id="rId11"/>
    <p:sldId id="457" r:id="rId12"/>
    <p:sldId id="458" r:id="rId13"/>
  </p:sldIdLst>
  <p:sldSz cx="9144000" cy="6858000" type="screen4x3"/>
  <p:notesSz cx="7099300" cy="10234613"/>
  <p:defaultTextStyle>
    <a:defPPr>
      <a:defRPr lang="zh-TW"/>
    </a:defPPr>
    <a:lvl1pPr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7">
          <p15:clr>
            <a:srgbClr val="A4A3A4"/>
          </p15:clr>
        </p15:guide>
        <p15:guide id="2" pos="304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1153021" initials="M" lastIdx="1" clrIdx="0">
    <p:extLst>
      <p:ext uri="{19B8F6BF-5375-455C-9EA6-DF929625EA0E}">
        <p15:presenceInfo xmlns:p15="http://schemas.microsoft.com/office/powerpoint/2012/main" userId="M1115302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D1DFF"/>
    <a:srgbClr val="5F9FFF"/>
    <a:srgbClr val="FDEAFA"/>
    <a:srgbClr val="C6D7EC"/>
    <a:srgbClr val="81BFFF"/>
    <a:srgbClr val="5F9EFF"/>
    <a:srgbClr val="FEEBFA"/>
    <a:srgbClr val="CCD9ED"/>
    <a:srgbClr val="7F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73" autoAdjust="0"/>
    <p:restoredTop sz="95033" autoAdjust="0"/>
  </p:normalViewPr>
  <p:slideViewPr>
    <p:cSldViewPr>
      <p:cViewPr varScale="1">
        <p:scale>
          <a:sx n="82" d="100"/>
          <a:sy n="82" d="100"/>
        </p:scale>
        <p:origin x="144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2" d="100"/>
          <a:sy n="42" d="100"/>
        </p:scale>
        <p:origin x="-1253" y="16"/>
      </p:cViewPr>
      <p:guideLst>
        <p:guide orient="horz" pos="2217"/>
        <p:guide pos="30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893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-1588"/>
            <a:ext cx="3076576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t" anchorCtr="0" compatLnSpc="1">
            <a:prstTxWarp prst="textNoShape">
              <a:avLst/>
            </a:prstTxWarp>
          </a:bodyPr>
          <a:lstStyle>
            <a:lvl1pPr algn="l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-1588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t" anchorCtr="0" compatLnSpc="1">
            <a:prstTxWarp prst="textNoShape">
              <a:avLst/>
            </a:prstTxWarp>
          </a:bodyPr>
          <a:lstStyle>
            <a:lvl1pPr algn="r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1713" y="777875"/>
            <a:ext cx="5094287" cy="3821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59338"/>
            <a:ext cx="5205413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463" tIns="47906" rIns="97463" bIns="479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第二階層</a:t>
            </a:r>
          </a:p>
          <a:p>
            <a:pPr lvl="2"/>
            <a:r>
              <a:rPr lang="zh-TW" altLang="en-US"/>
              <a:t>第三階層</a:t>
            </a:r>
          </a:p>
          <a:p>
            <a:pPr lvl="3"/>
            <a:r>
              <a:rPr lang="zh-TW" altLang="en-US"/>
              <a:t>第四階層</a:t>
            </a:r>
          </a:p>
          <a:p>
            <a:pPr lvl="4"/>
            <a:r>
              <a:rPr lang="zh-TW" altLang="en-US"/>
              <a:t>第五階層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721850"/>
            <a:ext cx="3076576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b" anchorCtr="0" compatLnSpc="1">
            <a:prstTxWarp prst="textNoShape">
              <a:avLst/>
            </a:prstTxWarp>
          </a:bodyPr>
          <a:lstStyle>
            <a:lvl1pPr algn="l" defTabSz="971550">
              <a:defRPr sz="1100" i="1">
                <a:effectLst/>
              </a:defRPr>
            </a:lvl1pPr>
          </a:lstStyle>
          <a:p>
            <a:endParaRPr lang="en-US" altLang="zh-TW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24" tIns="0" rIns="19824" bIns="0" numCol="1" anchor="b" anchorCtr="0" compatLnSpc="1">
            <a:prstTxWarp prst="textNoShape">
              <a:avLst/>
            </a:prstTxWarp>
          </a:bodyPr>
          <a:lstStyle>
            <a:lvl1pPr algn="r" defTabSz="971550">
              <a:defRPr sz="1100" i="1">
                <a:effectLst/>
              </a:defRPr>
            </a:lvl1pPr>
          </a:lstStyle>
          <a:p>
            <a:fld id="{AAC00800-7EBB-4CA5-92E4-BAF87A6B2AC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4782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61963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23925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85888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47850" algn="l" defTabSz="777875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777875" rtl="0" eaLnBrk="1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800" b="0" i="0" dirty="0">
              <a:solidFill>
                <a:srgbClr val="ECECEC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150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1800" dirty="0">
              <a:solidFill>
                <a:srgbClr val="1D1D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00800-7EBB-4CA5-92E4-BAF87A6B2AC9}" type="slidenum">
              <a:rPr lang="en-US" altLang="zh-TW" smtClean="0"/>
              <a:pPr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704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DAAED-46F5-4A8D-BBC0-BC6917411C6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6692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AB625-3397-435F-B12D-F437C0075AC8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4809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B9E8D-7EA5-4CE7-8B0C-C86AC0A958FA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0546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63575" y="1225550"/>
            <a:ext cx="3805238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1213" y="1225550"/>
            <a:ext cx="3806825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E2625E-6638-4780-97AE-3A095B674FA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7770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058057-07F8-4D54-807D-91DDB75557A5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9820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FC8EB-D5A2-4BAF-9E02-35AC57547D31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1456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37086-FB49-4B71-9FD2-DD670A305306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838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63AAEE-44CF-452B-BC56-7704863D6089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7000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38460-1707-4D6B-A835-4B6909C92AFB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1200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B0463-D3C0-4396-9228-21AF6A102326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1513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0025" y="228600"/>
            <a:ext cx="1960563" cy="31686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63575" y="228600"/>
            <a:ext cx="5734050" cy="31686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ED47D-0B8C-4967-9274-57121FBD76CC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98266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63575" y="1225550"/>
            <a:ext cx="3805238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1213" y="1225550"/>
            <a:ext cx="3806825" cy="21717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65475" y="64770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BDE65452-3284-405B-BC43-88CA72DBD0A0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69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228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33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pattFill prst="pct5">
                  <a:fgClr>
                    <a:schemeClr val="accent2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0" y="6019800"/>
            <a:ext cx="9144000" cy="228600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 i="1">
                <a:solidFill>
                  <a:srgbClr val="003300"/>
                </a:solidFill>
                <a:effectLst/>
              </a:defRPr>
            </a:lvl1pPr>
          </a:lstStyle>
          <a:p>
            <a:r>
              <a:rPr lang="en-US" altLang="zh-TW"/>
              <a:t>2001/10/20</a:t>
            </a:r>
            <a:endParaRPr lang="en-US" altLang="zh-TW">
              <a:latin typeface="Arial Narrow" panose="020B0606020202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5475" y="64770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1" i="1">
                <a:effectLst/>
                <a:latin typeface="Arial Narrow" panose="020B060602020203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 b="1" i="1">
                <a:solidFill>
                  <a:srgbClr val="6600CC"/>
                </a:solidFill>
                <a:effectLst/>
                <a:ea typeface="新細明體" panose="02020500000000000000" pitchFamily="18" charset="-120"/>
              </a:defRPr>
            </a:lvl1pPr>
          </a:lstStyle>
          <a:p>
            <a:fld id="{514B78F4-FFCB-4C8B-ACC5-FF05B740C42E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  <p:sp>
        <p:nvSpPr>
          <p:cNvPr id="105479" name="Rectangle 7" descr="藍色面紙"/>
          <p:cNvSpPr>
            <a:spLocks noGrp="1" noChangeArrowheads="1"/>
          </p:cNvSpPr>
          <p:nvPr>
            <p:ph type="title"/>
          </p:nvPr>
        </p:nvSpPr>
        <p:spPr bwMode="auto">
          <a:xfrm>
            <a:off x="4149725" y="228600"/>
            <a:ext cx="4360863" cy="762000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548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3575" y="1225550"/>
            <a:ext cx="7764463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5481" name="Text Box 9"/>
          <p:cNvSpPr txBox="1">
            <a:spLocks noChangeArrowheads="1"/>
          </p:cNvSpPr>
          <p:nvPr/>
        </p:nvSpPr>
        <p:spPr bwMode="auto">
          <a:xfrm>
            <a:off x="0" y="0"/>
            <a:ext cx="316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endParaRPr lang="zh-TW" altLang="zh-TW" sz="2400">
              <a:effectLst/>
              <a:latin typeface="華康粗圓體(P)" pitchFamily="2" charset="-120"/>
              <a:ea typeface="華康粗圓體(P)" pitchFamily="2" charset="-120"/>
            </a:endParaRP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7092950" y="5969000"/>
            <a:ext cx="2051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TW" altLang="en-US" sz="1400" i="1">
                <a:solidFill>
                  <a:schemeClr val="accent2"/>
                </a:solidFill>
                <a:effectLst/>
              </a:rPr>
              <a:t>台灣科技大學電機系</a:t>
            </a:r>
            <a:endParaRPr lang="zh-TW" altLang="en-US" sz="1400">
              <a:effectLst/>
            </a:endParaRPr>
          </a:p>
        </p:txBody>
      </p:sp>
      <p:pic>
        <p:nvPicPr>
          <p:cNvPr id="105486" name="Picture 14" descr="ntust_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11588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2800" b="1" kern="1200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2800" b="1">
          <a:solidFill>
            <a:schemeClr val="accent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99FF"/>
        </a:buClr>
        <a:buFont typeface="Wingdings" panose="05000000000000000000" pitchFamily="2" charset="2"/>
        <a:buChar char="q"/>
        <a:defRPr kumimoji="1" sz="2400" kern="1200">
          <a:solidFill>
            <a:srgbClr val="0000F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kumimoji="1" sz="2000" kern="1200">
          <a:solidFill>
            <a:srgbClr val="A5002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F"/>
        <a:defRPr kumimoji="1" sz="2000" kern="1200">
          <a:solidFill>
            <a:srgbClr val="008000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FF99FF"/>
        </a:buClr>
        <a:buFont typeface="Wingdings" panose="05000000000000000000" pitchFamily="2" charset="2"/>
        <a:buChar char="l"/>
        <a:defRPr kumimoji="1" kern="1200">
          <a:solidFill>
            <a:srgbClr val="FF99FF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5-12771-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2F4004-60FB-2378-FECB-D7EED608C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212898"/>
              </p:ext>
            </p:extLst>
          </p:nvPr>
        </p:nvGraphicFramePr>
        <p:xfrm>
          <a:off x="1366168" y="4271989"/>
          <a:ext cx="6400800" cy="141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50322356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536881184"/>
                    </a:ext>
                  </a:extLst>
                </a:gridCol>
              </a:tblGrid>
              <a:tr h="471115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台灣科技大學 </a:t>
                      </a:r>
                      <a:r>
                        <a:rPr kumimoji="1" lang="en-US" altLang="zh-TW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AI</a:t>
                      </a:r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497009"/>
                  </a:ext>
                </a:extLst>
              </a:tr>
              <a:tr h="471115"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指導教授：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羅一峰 博士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971911"/>
                  </a:ext>
                </a:extLst>
              </a:tr>
              <a:tr h="471115">
                <a:tc>
                  <a:txBody>
                    <a:bodyPr/>
                    <a:lstStyle/>
                    <a:p>
                      <a:pPr algn="r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學生：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林志龍 </a:t>
                      </a:r>
                      <a:r>
                        <a:rPr kumimoji="1" lang="en-US" altLang="zh-TW" sz="2400" b="0" kern="12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j-cs"/>
                        </a:rPr>
                        <a:t>(M11452803)</a:t>
                      </a:r>
                      <a:endParaRPr kumimoji="1" lang="zh-TW" altLang="en-US" sz="2400" b="0" kern="12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j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36832"/>
                  </a:ext>
                </a:extLst>
              </a:tr>
            </a:tbl>
          </a:graphicData>
        </a:graphic>
      </p:graphicFrame>
      <p:sp>
        <p:nvSpPr>
          <p:cNvPr id="152578" name="Rectangle 2" descr="藍色面紙"/>
          <p:cNvSpPr>
            <a:spLocks noGrp="1" noChangeArrowheads="1"/>
          </p:cNvSpPr>
          <p:nvPr>
            <p:ph type="ctrTitle"/>
          </p:nvPr>
        </p:nvSpPr>
        <p:spPr>
          <a:xfrm>
            <a:off x="685798" y="1616692"/>
            <a:ext cx="7774633" cy="2388372"/>
          </a:xfrm>
          <a:ln/>
        </p:spPr>
        <p:txBody>
          <a:bodyPr lIns="216000" tIns="72000" rIns="216000" bIns="72000" anchor="ctr"/>
          <a:lstStyle/>
          <a:p>
            <a:pPr lvl="0" defTabSz="777875">
              <a:lnSpc>
                <a:spcPct val="150000"/>
              </a:lnSpc>
              <a:spcBef>
                <a:spcPct val="30000"/>
              </a:spcBef>
              <a:defRPr/>
            </a:pPr>
            <a:r>
              <a:rPr lang="en-US" sz="2400" dirty="0"/>
              <a:t>State-of-Health (SOH) Estimation of Lithium-Ion Batteries Using Two-Stage Autoencoder and BPNN</a:t>
            </a:r>
            <a:br>
              <a:rPr lang="en-US" sz="2400" dirty="0"/>
            </a:br>
            <a:r>
              <a:rPr lang="en-US" sz="1800" b="0" dirty="0"/>
              <a:t>Pipeline Pre-processing &amp; Autoencoder Validation</a:t>
            </a:r>
            <a:endParaRPr lang="zh-TW" altLang="zh-TW" sz="2400" b="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1B3274-1842-47A2-A49B-46B6E74AEE0F}"/>
              </a:ext>
            </a:extLst>
          </p:cNvPr>
          <p:cNvSpPr/>
          <p:nvPr/>
        </p:nvSpPr>
        <p:spPr bwMode="auto">
          <a:xfrm>
            <a:off x="0" y="6021288"/>
            <a:ext cx="9144000" cy="216024"/>
          </a:xfrm>
          <a:prstGeom prst="rect">
            <a:avLst/>
          </a:prstGeom>
          <a:gradFill flip="none" rotWithShape="1">
            <a:gsLst>
              <a:gs pos="0">
                <a:srgbClr val="5F9EFF"/>
              </a:gs>
              <a:gs pos="36000">
                <a:srgbClr val="81BFFF"/>
              </a:gs>
              <a:gs pos="70000">
                <a:srgbClr val="C6D7EC"/>
              </a:gs>
              <a:gs pos="100000">
                <a:srgbClr val="FDEAFA"/>
              </a:gs>
            </a:gsLst>
            <a:lin ang="0" scaled="1"/>
            <a:tileRect/>
          </a:gra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8D7F64-68FB-4A94-9D60-8F350258A972}"/>
              </a:ext>
            </a:extLst>
          </p:cNvPr>
          <p:cNvSpPr txBox="1"/>
          <p:nvPr/>
        </p:nvSpPr>
        <p:spPr>
          <a:xfrm>
            <a:off x="-540568" y="6006189"/>
            <a:ext cx="4104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b="1" u="sng" dirty="0"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Scientific Reports (2025) 10.1038</a:t>
            </a:r>
            <a:endParaRPr lang="en-US" altLang="zh-TW" sz="1000" b="0" i="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95AA9-1BFB-F40F-4671-9F700E7C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200" dirty="0"/>
              <a:t>Outline</a:t>
            </a:r>
            <a:endParaRPr lang="zh-TW" altLang="en-US" sz="2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C77CF7-69FA-D8CC-018F-6FB92FFF4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75" y="1225550"/>
            <a:ext cx="7847013" cy="4651722"/>
          </a:xfrm>
        </p:spPr>
        <p:txBody>
          <a:bodyPr/>
          <a:lstStyle/>
          <a:p>
            <a:pPr algn="just" hangingPunct="0">
              <a:lnSpc>
                <a:spcPct val="150000"/>
              </a:lnSpc>
            </a:pPr>
            <a:r>
              <a:rPr lang="en-US" sz="2000" dirty="0"/>
              <a:t>Dataset Overview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Spatial Pre-processing (Data Interpolation)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Feature Selection (Intrinsic Dimensionality)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Autoencoder Spatial Performance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Diagnostic of Latent Space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Root Cause Analysis (Proving the Hypothesis)</a:t>
            </a:r>
          </a:p>
          <a:p>
            <a:pPr algn="just" hangingPunct="0">
              <a:lnSpc>
                <a:spcPct val="150000"/>
              </a:lnSpc>
            </a:pPr>
            <a:r>
              <a:rPr lang="en-US" sz="2000" dirty="0"/>
              <a:t>Next Steps (Moving to BPNN)</a:t>
            </a:r>
            <a:endParaRPr lang="th-TH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0E1F7E-E23A-8A46-3CD9-AB28D594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B625-3397-435F-B12D-F437C0075AC8}" type="slidenum">
              <a:rPr lang="en-US" altLang="zh-TW" smtClean="0"/>
              <a:pPr/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6526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0B7-0EFB-0004-1686-3D3B6BE2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D8664-C427-1E56-8DBD-6583A117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Dataset Overview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8B3766-C00C-95C6-55C7-288A5624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zh-TW" sz="100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AAD52A-584B-21FC-D5E0-437BD2576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036174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Scope: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existing reviews focus solely on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single-cell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estimation.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09A8E543-42B5-AFBD-D41F-5AE67D644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D38A5C5F-020F-EEB5-D97F-A3F9055B1221}"/>
              </a:ext>
            </a:extLst>
          </p:cNvPr>
          <p:cNvSpPr txBox="1">
            <a:spLocks/>
          </p:cNvSpPr>
          <p:nvPr/>
        </p:nvSpPr>
        <p:spPr bwMode="auto">
          <a:xfrm>
            <a:off x="251520" y="3740233"/>
            <a:ext cx="4896544" cy="2107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q"/>
              <a:defRPr kumimoji="1" sz="2400" kern="120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2000" kern="1200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F"/>
              <a:defRPr kumimoji="1" sz="20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99FF"/>
              </a:buClr>
              <a:buFont typeface="Wingdings" panose="05000000000000000000" pitchFamily="2" charset="2"/>
              <a:buChar char="l"/>
              <a:defRPr kumimoji="1" kern="1200">
                <a:solidFill>
                  <a:srgbClr val="FF99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600" b="1" dirty="0"/>
              <a:t>Data Source:</a:t>
            </a:r>
            <a:r>
              <a:rPr lang="en-US" sz="1600" dirty="0"/>
              <a:t> We are using 4 lithium-ion batteries from the NASA dataset.</a:t>
            </a:r>
          </a:p>
          <a:p>
            <a:pPr lvl="0"/>
            <a:r>
              <a:rPr lang="en-US" sz="1600" b="1" dirty="0"/>
              <a:t>Data Types:</a:t>
            </a:r>
            <a:r>
              <a:rPr lang="en-US" sz="1600" dirty="0"/>
              <a:t> The dataset records Electrochemical Impedance Spectroscopy (EIS) and Capacity (Ah) for each cycle.</a:t>
            </a:r>
          </a:p>
          <a:p>
            <a:pPr lvl="0"/>
            <a:r>
              <a:rPr lang="en-US" sz="1600" b="1" dirty="0"/>
              <a:t>Objective:</a:t>
            </a:r>
            <a:r>
              <a:rPr lang="en-US" sz="1600" dirty="0"/>
              <a:t> Our AI pipeline uses the Impedance records to predict this exact capacity drop (State of Health - SOH).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7353101-626F-EEA2-B1A6-3A823FC6D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625967"/>
              </p:ext>
            </p:extLst>
          </p:nvPr>
        </p:nvGraphicFramePr>
        <p:xfrm>
          <a:off x="1340671" y="1222410"/>
          <a:ext cx="6665280" cy="2171701"/>
        </p:xfrm>
        <a:graphic>
          <a:graphicData uri="http://schemas.openxmlformats.org/drawingml/2006/table">
            <a:tbl>
              <a:tblPr/>
              <a:tblGrid>
                <a:gridCol w="1333056">
                  <a:extLst>
                    <a:ext uri="{9D8B030D-6E8A-4147-A177-3AD203B41FA5}">
                      <a16:colId xmlns:a16="http://schemas.microsoft.com/office/drawing/2014/main" val="3574389414"/>
                    </a:ext>
                  </a:extLst>
                </a:gridCol>
                <a:gridCol w="1333056">
                  <a:extLst>
                    <a:ext uri="{9D8B030D-6E8A-4147-A177-3AD203B41FA5}">
                      <a16:colId xmlns:a16="http://schemas.microsoft.com/office/drawing/2014/main" val="1110433346"/>
                    </a:ext>
                  </a:extLst>
                </a:gridCol>
                <a:gridCol w="1333056">
                  <a:extLst>
                    <a:ext uri="{9D8B030D-6E8A-4147-A177-3AD203B41FA5}">
                      <a16:colId xmlns:a16="http://schemas.microsoft.com/office/drawing/2014/main" val="334841525"/>
                    </a:ext>
                  </a:extLst>
                </a:gridCol>
                <a:gridCol w="1333056">
                  <a:extLst>
                    <a:ext uri="{9D8B030D-6E8A-4147-A177-3AD203B41FA5}">
                      <a16:colId xmlns:a16="http://schemas.microsoft.com/office/drawing/2014/main" val="661269358"/>
                    </a:ext>
                  </a:extLst>
                </a:gridCol>
                <a:gridCol w="1333056">
                  <a:extLst>
                    <a:ext uri="{9D8B030D-6E8A-4147-A177-3AD203B41FA5}">
                      <a16:colId xmlns:a16="http://schemas.microsoft.com/office/drawing/2014/main" val="38712332"/>
                    </a:ext>
                  </a:extLst>
                </a:gridCol>
              </a:tblGrid>
              <a:tr h="81111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Battery ID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Total Cycles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Total Impedance Records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Initial Capacity (Ah)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Final Capacity (Ah)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753906"/>
                  </a:ext>
                </a:extLst>
              </a:tr>
              <a:tr h="3401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B0005 (1)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614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10,842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1.85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1.32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023347"/>
                  </a:ext>
                </a:extLst>
              </a:tr>
              <a:tr h="3401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B0006 (2)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614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10,842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2.03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1.18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392634"/>
                  </a:ext>
                </a:extLst>
              </a:tr>
              <a:tr h="3401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B0007 (3)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614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10,842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1.89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1.43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029844"/>
                  </a:ext>
                </a:extLst>
              </a:tr>
              <a:tr h="3401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B0018 (4)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319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2,067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1.85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1.34</a:t>
                      </a:r>
                    </a:p>
                  </a:txBody>
                  <a:tcPr marL="78495" marR="78495" marT="52330" marB="5233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31406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B4BB9DF0-CD2C-C931-C9A6-99082F0DE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4001207"/>
            <a:ext cx="1452785" cy="16343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DC29F5-A58A-B8D5-D425-638783B2E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897" y="3954186"/>
            <a:ext cx="1297317" cy="172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4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B1B21C-0CD8-49CF-90C1-9E332A3A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25" y="228600"/>
            <a:ext cx="4360863" cy="762000"/>
          </a:xfrm>
        </p:spPr>
        <p:txBody>
          <a:bodyPr wrap="square" anchor="ctr">
            <a:noAutofit/>
          </a:bodyPr>
          <a:lstStyle/>
          <a:p>
            <a:r>
              <a:rPr lang="en-US" sz="2000" dirty="0"/>
              <a:t>Spatial Pre-processing </a:t>
            </a:r>
            <a:br>
              <a:rPr lang="en-US" sz="2000" dirty="0"/>
            </a:br>
            <a:r>
              <a:rPr lang="en-US" sz="2000" dirty="0"/>
              <a:t>(Data Interpolation)</a:t>
            </a:r>
            <a:endParaRPr lang="zh-TW" altLang="en-US" sz="2000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A72D05F-DEE9-DFCE-02BF-A778DE6F23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3568" y="1412776"/>
            <a:ext cx="8271593" cy="2171801"/>
          </a:xfrm>
        </p:spPr>
        <p:txBody>
          <a:bodyPr wrap="square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/>
              <a:t>Goal:</a:t>
            </a:r>
            <a:r>
              <a:rPr lang="en-US" sz="1600" dirty="0"/>
              <a:t> Resize raw data to 256 features (16x16) for the Autoencoder.</a:t>
            </a:r>
          </a:p>
          <a:p>
            <a:pPr lvl="0">
              <a:lnSpc>
                <a:spcPct val="150000"/>
              </a:lnSpc>
            </a:pPr>
            <a:r>
              <a:rPr lang="en-US" sz="1600" b="1" dirty="0"/>
              <a:t>Problem:</a:t>
            </a:r>
            <a:r>
              <a:rPr lang="en-US" sz="1600" dirty="0"/>
              <a:t> Linear interpolation creates artificial jagged edges (noise).</a:t>
            </a:r>
          </a:p>
          <a:p>
            <a:pPr lvl="0">
              <a:lnSpc>
                <a:spcPct val="150000"/>
              </a:lnSpc>
            </a:pPr>
            <a:r>
              <a:rPr lang="en-US" sz="1600" b="1" dirty="0"/>
              <a:t>Solution:</a:t>
            </a:r>
            <a:r>
              <a:rPr lang="en-US" sz="1600" dirty="0"/>
              <a:t> Used </a:t>
            </a:r>
            <a:r>
              <a:rPr lang="en-US" sz="1600" b="1" dirty="0"/>
              <a:t>Cubic Spline</a:t>
            </a:r>
            <a:r>
              <a:rPr lang="en-US" sz="1600" dirty="0"/>
              <a:t> interpolation.</a:t>
            </a:r>
          </a:p>
          <a:p>
            <a:pPr lvl="0">
              <a:lnSpc>
                <a:spcPct val="150000"/>
              </a:lnSpc>
            </a:pPr>
            <a:r>
              <a:rPr lang="en-US" sz="1600" b="1" dirty="0"/>
              <a:t>Result:</a:t>
            </a:r>
            <a:r>
              <a:rPr lang="en-US" sz="1600" dirty="0"/>
              <a:t> Preserves the true physical shape of the electrochemical Nyquist arc.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DAE569-4DB0-4546-A321-C423A9FB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altLang="zh-TW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DE0DF-0511-7CC6-662A-757C098B253A}"/>
              </a:ext>
            </a:extLst>
          </p:cNvPr>
          <p:cNvSpPr txBox="1"/>
          <p:nvPr/>
        </p:nvSpPr>
        <p:spPr>
          <a:xfrm>
            <a:off x="2483768" y="990600"/>
            <a:ext cx="7902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Step 1: Physics-Based Data Interpolation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B10C75-7594-95E4-8793-7060617C9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347120"/>
            <a:ext cx="5040560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0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0DE5-3911-2FCB-4916-53F788C5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A72FF0-1924-30D3-09C2-8A2E51A0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52" y="197845"/>
            <a:ext cx="4360863" cy="762000"/>
          </a:xfrm>
        </p:spPr>
        <p:txBody>
          <a:bodyPr wrap="square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Feature Selection (Intrinsic </a:t>
            </a:r>
            <a:r>
              <a:rPr lang="en-US" sz="1600" dirty="0"/>
              <a:t>Dimensionality</a:t>
            </a:r>
            <a:r>
              <a:rPr lang="en-US" sz="1800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6628C1-8D3D-8F30-4A69-5BBD66DC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altLang="zh-TW" sz="100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13C68273-6F20-3E1F-C39E-513554C8ED4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11560" y="1329177"/>
            <a:ext cx="8271593" cy="2171801"/>
          </a:xfrm>
        </p:spPr>
        <p:txBody>
          <a:bodyPr wrap="square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/>
              <a:t>Goal:</a:t>
            </a:r>
            <a:r>
              <a:rPr lang="en-US" sz="1600" dirty="0"/>
              <a:t> Find the exact number of latent nodes needed for the Autoencoder.</a:t>
            </a:r>
          </a:p>
          <a:p>
            <a:pPr lvl="0">
              <a:lnSpc>
                <a:spcPct val="150000"/>
              </a:lnSpc>
            </a:pPr>
            <a:r>
              <a:rPr lang="en-US" sz="1600" b="1" dirty="0"/>
              <a:t>Method:</a:t>
            </a:r>
            <a:r>
              <a:rPr lang="en-US" sz="1600" dirty="0"/>
              <a:t> Principal Component Analysis (PCA).</a:t>
            </a:r>
          </a:p>
          <a:p>
            <a:pPr lvl="0">
              <a:lnSpc>
                <a:spcPct val="150000"/>
              </a:lnSpc>
            </a:pPr>
            <a:r>
              <a:rPr lang="en-US" sz="1600" b="1" dirty="0"/>
              <a:t>Result:</a:t>
            </a:r>
            <a:r>
              <a:rPr lang="en-US" sz="1600" dirty="0"/>
              <a:t> </a:t>
            </a:r>
            <a:r>
              <a:rPr lang="en-US" sz="1600" b="1" dirty="0"/>
              <a:t>9 components</a:t>
            </a:r>
            <a:r>
              <a:rPr lang="en-US" sz="1600" dirty="0"/>
              <a:t> retain </a:t>
            </a:r>
            <a:r>
              <a:rPr lang="en-US" sz="1600" b="1" dirty="0"/>
              <a:t>99%</a:t>
            </a:r>
            <a:r>
              <a:rPr lang="en-US" sz="1600" dirty="0"/>
              <a:t> of the original variance.</a:t>
            </a:r>
          </a:p>
          <a:p>
            <a:pPr lvl="0">
              <a:lnSpc>
                <a:spcPct val="150000"/>
              </a:lnSpc>
            </a:pPr>
            <a:r>
              <a:rPr lang="en-US" sz="1600" b="1" dirty="0"/>
              <a:t>Conclusion:</a:t>
            </a:r>
            <a:r>
              <a:rPr lang="en-US" sz="1600" dirty="0"/>
              <a:t> Bottleneck size is mathematically set to 9. Using 20 nodes causes redundancy.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4FE50-8106-D2C8-246A-3F239FFF5674}"/>
              </a:ext>
            </a:extLst>
          </p:cNvPr>
          <p:cNvSpPr txBox="1"/>
          <p:nvPr/>
        </p:nvSpPr>
        <p:spPr>
          <a:xfrm>
            <a:off x="4034383" y="9598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Step 2: Finding the Optimal Bottleneck Size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6F77A7-9371-35CF-74B2-D09F75D89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033" y="3068960"/>
            <a:ext cx="4905934" cy="29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5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ACFD-5618-44A3-EC83-4AE1BEDE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7B6321-3AAA-EA96-9CA6-1269B952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360863" cy="730105"/>
          </a:xfrm>
        </p:spPr>
        <p:txBody>
          <a:bodyPr wrap="square" anchor="ctr">
            <a:noAutofit/>
          </a:bodyPr>
          <a:lstStyle/>
          <a:p>
            <a:pPr hangingPunct="0">
              <a:lnSpc>
                <a:spcPct val="150000"/>
              </a:lnSpc>
            </a:pPr>
            <a:r>
              <a:rPr lang="en-US" sz="2000" dirty="0"/>
              <a:t>Autoencoder Spatial Performance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0F5A0D4-CBFC-3E0C-DA9B-58DD74FC27C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85292" y="1366813"/>
            <a:ext cx="7848872" cy="2401331"/>
          </a:xfrm>
        </p:spPr>
        <p:txBody>
          <a:bodyPr wrap="square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1700" b="1" dirty="0"/>
              <a:t>Model:</a:t>
            </a:r>
            <a:r>
              <a:rPr lang="en-US" sz="1700" dirty="0"/>
              <a:t> Standard Autoencoder (9 Latent Nodes).</a:t>
            </a:r>
          </a:p>
          <a:p>
            <a:pPr lvl="0">
              <a:lnSpc>
                <a:spcPct val="150000"/>
              </a:lnSpc>
            </a:pPr>
            <a:r>
              <a:rPr lang="en-US" sz="1700" b="1" dirty="0"/>
              <a:t>Result:</a:t>
            </a:r>
            <a:r>
              <a:rPr lang="en-US" sz="1700" dirty="0"/>
              <a:t> The reconstructed signal (red) perfectly matches the original signal (blue) within 1 cycle.</a:t>
            </a:r>
          </a:p>
          <a:p>
            <a:pPr lvl="0">
              <a:lnSpc>
                <a:spcPct val="150000"/>
              </a:lnSpc>
            </a:pPr>
            <a:r>
              <a:rPr lang="en-US" sz="1700" b="1" dirty="0"/>
              <a:t>Conclusion:</a:t>
            </a:r>
            <a:r>
              <a:rPr lang="en-US" sz="1700" dirty="0"/>
              <a:t> The AE compresses and rebuilds the spatial features without data loss.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74209B-EBAC-4692-B047-9A116C06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altLang="zh-TW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2D1DE-E0B2-9511-F475-7F10AED7346E}"/>
              </a:ext>
            </a:extLst>
          </p:cNvPr>
          <p:cNvSpPr txBox="1"/>
          <p:nvPr/>
        </p:nvSpPr>
        <p:spPr>
          <a:xfrm>
            <a:off x="4034383" y="9598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Step 3: Autoencoder Reconstruction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648E3D-4FA0-F0D1-C506-32C8660EF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380" y="3068960"/>
            <a:ext cx="5658390" cy="282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82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67AC-F595-4052-5844-06C34307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3ADA90-F7D0-0EAC-5BAB-E6C0A17A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360863" cy="730105"/>
          </a:xfrm>
        </p:spPr>
        <p:txBody>
          <a:bodyPr wrap="square" anchor="ctr">
            <a:noAutofit/>
          </a:bodyPr>
          <a:lstStyle/>
          <a:p>
            <a:pPr hangingPunct="0">
              <a:lnSpc>
                <a:spcPct val="150000"/>
              </a:lnSpc>
            </a:pPr>
            <a:r>
              <a:rPr lang="en-US" sz="2400" dirty="0"/>
              <a:t>Diagnostic of Latent Space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DD8C5E5-1D3D-89AE-5E7E-E18535ECF45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85291" y="1366813"/>
            <a:ext cx="8121091" cy="2401331"/>
          </a:xfrm>
        </p:spPr>
        <p:txBody>
          <a:bodyPr wrap="square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1700" b="1" dirty="0"/>
              <a:t>Observation:</a:t>
            </a:r>
            <a:r>
              <a:rPr lang="en-US" sz="1700" dirty="0"/>
              <a:t> The 9 latent nodes show high-frequency "sawtooth" patterns over time (cycles).</a:t>
            </a:r>
          </a:p>
          <a:p>
            <a:pPr lvl="0">
              <a:lnSpc>
                <a:spcPct val="150000"/>
              </a:lnSpc>
            </a:pPr>
            <a:r>
              <a:rPr lang="en-US" sz="1700" b="1" dirty="0"/>
              <a:t>Analysis:</a:t>
            </a:r>
            <a:r>
              <a:rPr lang="en-US" sz="1700" dirty="0"/>
              <a:t> The Autoencoder is a </a:t>
            </a:r>
            <a:r>
              <a:rPr lang="en-US" sz="1700" i="1" dirty="0"/>
              <a:t>stateless</a:t>
            </a:r>
            <a:r>
              <a:rPr lang="en-US" sz="1700" dirty="0"/>
              <a:t> spatial model. It processes one cycle at a time.</a:t>
            </a:r>
          </a:p>
          <a:p>
            <a:pPr lvl="0">
              <a:lnSpc>
                <a:spcPct val="150000"/>
              </a:lnSpc>
            </a:pPr>
            <a:r>
              <a:rPr lang="en-US" sz="1700" b="1" dirty="0"/>
              <a:t>Hypothesis:</a:t>
            </a:r>
            <a:r>
              <a:rPr lang="en-US" sz="1700" dirty="0"/>
              <a:t> The jitter is not a model error. It comes directly from the raw data.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0C8F79-CFD7-9F0D-04C1-17E25F32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altLang="zh-TW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6B9F2-6A3C-6B28-5212-A46F582CEB80}"/>
              </a:ext>
            </a:extLst>
          </p:cNvPr>
          <p:cNvSpPr txBox="1"/>
          <p:nvPr/>
        </p:nvSpPr>
        <p:spPr>
          <a:xfrm>
            <a:off x="4034383" y="9598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Step 4: The Temporal Jitter Issue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3B7D07-48AC-944D-5E4C-8B118D59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904" y="3140968"/>
            <a:ext cx="5436096" cy="310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99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7C83-2CD6-6C16-B586-DC92C070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B4F1B6-8495-C4BA-B7D2-80EEF062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360863" cy="730105"/>
          </a:xfrm>
        </p:spPr>
        <p:txBody>
          <a:bodyPr wrap="square" anchor="ctr">
            <a:noAutofit/>
          </a:bodyPr>
          <a:lstStyle/>
          <a:p>
            <a:pPr hangingPunct="0">
              <a:lnSpc>
                <a:spcPct val="150000"/>
              </a:lnSpc>
            </a:pPr>
            <a:r>
              <a:rPr lang="en-US" sz="1600" dirty="0"/>
              <a:t>Root Cause Analysis (Proving the Hypothesis)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2E60FE7-5BF0-0E6C-852C-9DA90D84321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19511" y="1329177"/>
            <a:ext cx="8047149" cy="2401331"/>
          </a:xfrm>
        </p:spPr>
        <p:txBody>
          <a:bodyPr wrap="square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/>
              <a:t>Evidence:</a:t>
            </a:r>
            <a:r>
              <a:rPr lang="en-US" sz="1600" dirty="0"/>
              <a:t> Zooming in on the raw NASA Capacity data (Cycles 300-400).</a:t>
            </a:r>
          </a:p>
          <a:p>
            <a:pPr lvl="0">
              <a:lnSpc>
                <a:spcPct val="150000"/>
              </a:lnSpc>
            </a:pPr>
            <a:r>
              <a:rPr lang="en-US" sz="1600" b="1" dirty="0"/>
              <a:t>Fact:</a:t>
            </a:r>
            <a:r>
              <a:rPr lang="en-US" sz="1600" dirty="0"/>
              <a:t> The raw data inherently jumps up and down between cycles (Rest time recovery, sensor error).</a:t>
            </a:r>
          </a:p>
          <a:p>
            <a:pPr lvl="0">
              <a:lnSpc>
                <a:spcPct val="150000"/>
              </a:lnSpc>
            </a:pPr>
            <a:r>
              <a:rPr lang="en-US" sz="1600" b="1" dirty="0"/>
              <a:t>Conclusion:</a:t>
            </a:r>
            <a:r>
              <a:rPr lang="en-US" sz="1600" dirty="0"/>
              <a:t> We cannot use "Moving Average" to fix this, as it causes </a:t>
            </a:r>
            <a:r>
              <a:rPr lang="en-US" sz="1600" b="1" dirty="0"/>
              <a:t>Data Leakage</a:t>
            </a:r>
            <a:r>
              <a:rPr lang="en-US" sz="1600" dirty="0"/>
              <a:t> (using future data).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0266D7-7364-8CF7-3845-FE673781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altLang="zh-TW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7F833-5D28-2764-0A35-F45AC3581571}"/>
              </a:ext>
            </a:extLst>
          </p:cNvPr>
          <p:cNvSpPr txBox="1"/>
          <p:nvPr/>
        </p:nvSpPr>
        <p:spPr>
          <a:xfrm>
            <a:off x="4034383" y="9598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Root Cause: Inherent Dataset Noise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67022A-5DAE-4017-DA8F-7CBDB2070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275" y="3222430"/>
            <a:ext cx="5351450" cy="267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C239-3EFF-52E6-56A3-38B3389CF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ED4012-9335-DC98-83A3-AB7196768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996" y="187003"/>
            <a:ext cx="4360863" cy="730105"/>
          </a:xfrm>
        </p:spPr>
        <p:txBody>
          <a:bodyPr wrap="square" anchor="ctr">
            <a:noAutofit/>
          </a:bodyPr>
          <a:lstStyle/>
          <a:p>
            <a:pPr hangingPunct="0">
              <a:lnSpc>
                <a:spcPct val="150000"/>
              </a:lnSpc>
            </a:pPr>
            <a:r>
              <a:rPr lang="en-US" sz="2000" dirty="0"/>
              <a:t>Next Steps (Moving to BPNN)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8788C90-E11D-773D-48A1-84A47EF0BA0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67544" y="1772816"/>
            <a:ext cx="8047149" cy="2401331"/>
          </a:xfrm>
        </p:spPr>
        <p:txBody>
          <a:bodyPr wrap="square" anchor="t">
            <a:noAutofit/>
          </a:bodyPr>
          <a:lstStyle/>
          <a:p>
            <a:pPr lvl="0">
              <a:spcBef>
                <a:spcPts val="1000"/>
              </a:spcBef>
            </a:pPr>
            <a:r>
              <a:rPr lang="en-US" sz="2000" b="1" dirty="0"/>
              <a:t>Current Status:</a:t>
            </a:r>
            <a:r>
              <a:rPr lang="en-US" sz="2000" dirty="0"/>
              <a:t> AE Pipeline (Stage 1) is fully verified and locked (Bottleneck = 9).</a:t>
            </a:r>
          </a:p>
          <a:p>
            <a:pPr lvl="0">
              <a:spcBef>
                <a:spcPts val="1000"/>
              </a:spcBef>
            </a:pPr>
            <a:r>
              <a:rPr lang="en-US" sz="2000" b="1" dirty="0"/>
              <a:t>Next Phase:</a:t>
            </a:r>
            <a:r>
              <a:rPr lang="en-US" sz="2000" dirty="0"/>
              <a:t> Train the BPNN (Regression model) to find the global SOH trend.</a:t>
            </a:r>
          </a:p>
          <a:p>
            <a:pPr lvl="0">
              <a:spcBef>
                <a:spcPts val="1000"/>
              </a:spcBef>
            </a:pPr>
            <a:r>
              <a:rPr lang="en-US" sz="2000" b="1" dirty="0"/>
              <a:t>Strategy:</a:t>
            </a:r>
            <a:endParaRPr lang="en-US" sz="2000" dirty="0"/>
          </a:p>
          <a:p>
            <a:pPr lvl="1">
              <a:spcBef>
                <a:spcPts val="1000"/>
              </a:spcBef>
            </a:pPr>
            <a:r>
              <a:rPr lang="en-US" dirty="0"/>
              <a:t>Use a </a:t>
            </a:r>
            <a:r>
              <a:rPr lang="en-US" b="1" dirty="0"/>
              <a:t>Shallow Network</a:t>
            </a:r>
            <a:r>
              <a:rPr lang="en-US" dirty="0"/>
              <a:t> to avoid memorizing the sawtooth noise.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Apply </a:t>
            </a:r>
            <a:r>
              <a:rPr lang="en-US" b="1" dirty="0"/>
              <a:t>L2 Regularization (Weight Decay)</a:t>
            </a:r>
            <a:r>
              <a:rPr lang="en-US" dirty="0"/>
              <a:t> to force the model to find the smooth monotonic degradation trend.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EB4427-6404-A257-3BBE-C0869791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2AB625-3397-435F-B12D-F437C0075AC8}" type="slidenum">
              <a:rPr lang="en-US" altLang="zh-TW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altLang="zh-TW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A0C11-D936-4BFF-7C94-35AB093424D0}"/>
              </a:ext>
            </a:extLst>
          </p:cNvPr>
          <p:cNvSpPr txBox="1"/>
          <p:nvPr/>
        </p:nvSpPr>
        <p:spPr>
          <a:xfrm>
            <a:off x="4034383" y="9598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Next Steps: Handling Temporal Noise in BPNN</a:t>
            </a:r>
          </a:p>
        </p:txBody>
      </p:sp>
    </p:spTree>
    <p:extLst>
      <p:ext uri="{BB962C8B-B14F-4D97-AF65-F5344CB8AC3E}">
        <p14:creationId xmlns:p14="http://schemas.microsoft.com/office/powerpoint/2010/main" val="654910668"/>
      </p:ext>
    </p:extLst>
  </p:cSld>
  <p:clrMapOvr>
    <a:masterClrMapping/>
  </p:clrMapOvr>
</p:sld>
</file>

<file path=ppt/theme/theme1.xml><?xml version="1.0" encoding="utf-8"?>
<a:theme xmlns:a="http://schemas.openxmlformats.org/drawingml/2006/main" name="電力電子研討會">
  <a:themeElements>
    <a:clrScheme name="電力電子研討會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電力電子研討會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lnDef>
  </a:objectDefaults>
  <a:extraClrSchemeLst>
    <a:extraClrScheme>
      <a:clrScheme name="電力電子研討會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電力電子研討會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電力電子研討會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56653CB23E46D428594C3BF9AE3360D" ma:contentTypeVersion="8" ma:contentTypeDescription="建立新的文件。" ma:contentTypeScope="" ma:versionID="ce11e0b95a7e7aac2f65b40ce265d176">
  <xsd:schema xmlns:xsd="http://www.w3.org/2001/XMLSchema" xmlns:xs="http://www.w3.org/2001/XMLSchema" xmlns:p="http://schemas.microsoft.com/office/2006/metadata/properties" xmlns:ns3="6789d5f2-093c-4973-a5f8-1e1f527e41e9" targetNamespace="http://schemas.microsoft.com/office/2006/metadata/properties" ma:root="true" ma:fieldsID="0348dc129f2d2cb9ada6b14072e3b9f5" ns3:_="">
    <xsd:import namespace="6789d5f2-093c-4973-a5f8-1e1f527e41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9d5f2-093c-4973-a5f8-1e1f527e41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F99874-14BA-4BB9-860E-8AB3B0ED58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89d5f2-093c-4973-a5f8-1e1f527e41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E38D0C-9097-406F-9274-63A5301D1E40}">
  <ds:schemaRefs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6789d5f2-093c-4973-a5f8-1e1f527e41e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2141F1D-1938-4272-8450-260B974274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Office\Templates\電力電子研討會.pot</Template>
  <TotalTime>47225</TotalTime>
  <Words>612</Words>
  <Application>Microsoft Office PowerPoint</Application>
  <PresentationFormat>On-screen Show (4:3)</PresentationFormat>
  <Paragraphs>89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Narrow</vt:lpstr>
      <vt:lpstr>Times New Roman</vt:lpstr>
      <vt:lpstr>Wingdings</vt:lpstr>
      <vt:lpstr>華康粗圓體(P)</vt:lpstr>
      <vt:lpstr>電力電子研討會</vt:lpstr>
      <vt:lpstr>State-of-Health (SOH) Estimation of Lithium-Ion Batteries Using Two-Stage Autoencoder and BPNN Pipeline Pre-processing &amp; Autoencoder Validation</vt:lpstr>
      <vt:lpstr>Outline</vt:lpstr>
      <vt:lpstr>Dataset Overview</vt:lpstr>
      <vt:lpstr>Spatial Pre-processing  (Data Interpolation)</vt:lpstr>
      <vt:lpstr>Feature Selection (Intrinsic Dimensionality)</vt:lpstr>
      <vt:lpstr>Autoencoder Spatial Performance</vt:lpstr>
      <vt:lpstr>Diagnostic of Latent Space</vt:lpstr>
      <vt:lpstr>Root Cause Analysis (Proving the Hypothesis)</vt:lpstr>
      <vt:lpstr>Next Steps (Moving to BPNN)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高性能感應電動機控制方法</dc:title>
  <dc:creator>Sophie</dc:creator>
  <cp:lastModifiedBy>M11452803</cp:lastModifiedBy>
  <cp:revision>1455</cp:revision>
  <cp:lastPrinted>2000-12-14T11:45:22Z</cp:lastPrinted>
  <dcterms:created xsi:type="dcterms:W3CDTF">1998-01-03T12:05:56Z</dcterms:created>
  <dcterms:modified xsi:type="dcterms:W3CDTF">2026-08-17T21:45:12Z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0x010100856653CB23E46D428594C3BF9AE3360D</vt:lpwstr>
  </property>
</Properties>
</file>