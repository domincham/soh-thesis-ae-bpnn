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4"/>
  </p:sldMasterIdLst>
  <p:notesMasterIdLst>
    <p:notesMasterId r:id="rId19"/>
  </p:notesMasterIdLst>
  <p:handoutMasterIdLst>
    <p:handoutMasterId r:id="rId20"/>
  </p:handoutMasterIdLst>
  <p:sldIdLst>
    <p:sldId id="355" r:id="rId5"/>
    <p:sldId id="356" r:id="rId6"/>
    <p:sldId id="449" r:id="rId7"/>
    <p:sldId id="411" r:id="rId8"/>
    <p:sldId id="450" r:id="rId9"/>
    <p:sldId id="451" r:id="rId10"/>
    <p:sldId id="452" r:id="rId11"/>
    <p:sldId id="453" r:id="rId12"/>
    <p:sldId id="454" r:id="rId13"/>
    <p:sldId id="455" r:id="rId14"/>
    <p:sldId id="456" r:id="rId15"/>
    <p:sldId id="457" r:id="rId16"/>
    <p:sldId id="458" r:id="rId17"/>
    <p:sldId id="448" r:id="rId18"/>
  </p:sldIdLst>
  <p:sldSz cx="9144000" cy="6858000" type="screen4x3"/>
  <p:notesSz cx="7099300" cy="10234613"/>
  <p:defaultTextStyle>
    <a:defPPr>
      <a:defRPr lang="zh-TW"/>
    </a:defPPr>
    <a:lvl1pPr algn="ctr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6pPr>
    <a:lvl7pPr marL="2743200" algn="l" defTabSz="914400" rtl="0" eaLnBrk="1" latinLnBrk="0" hangingPunct="1"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7pPr>
    <a:lvl8pPr marL="3200400" algn="l" defTabSz="914400" rtl="0" eaLnBrk="1" latinLnBrk="0" hangingPunct="1"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8pPr>
    <a:lvl9pPr marL="3657600" algn="l" defTabSz="914400" rtl="0" eaLnBrk="1" latinLnBrk="0" hangingPunct="1"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17">
          <p15:clr>
            <a:srgbClr val="A4A3A4"/>
          </p15:clr>
        </p15:guide>
        <p15:guide id="2" pos="304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1153021" initials="M" lastIdx="1" clrIdx="0">
    <p:extLst>
      <p:ext uri="{19B8F6BF-5375-455C-9EA6-DF929625EA0E}">
        <p15:presenceInfo xmlns:p15="http://schemas.microsoft.com/office/powerpoint/2012/main" userId="M11153021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1DFF"/>
    <a:srgbClr val="5F9FFF"/>
    <a:srgbClr val="FDEAFA"/>
    <a:srgbClr val="C6D7EC"/>
    <a:srgbClr val="81BFFF"/>
    <a:srgbClr val="5F9EFF"/>
    <a:srgbClr val="FEEBFA"/>
    <a:srgbClr val="CCD9ED"/>
    <a:srgbClr val="7FBDFF"/>
    <a:srgbClr val="5E9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佈景主題樣式 2 - 輔色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73" autoAdjust="0"/>
    <p:restoredTop sz="95033" autoAdjust="0"/>
  </p:normalViewPr>
  <p:slideViewPr>
    <p:cSldViewPr>
      <p:cViewPr>
        <p:scale>
          <a:sx n="100" d="100"/>
          <a:sy n="100" d="100"/>
        </p:scale>
        <p:origin x="917" y="-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2" d="100"/>
          <a:sy n="42" d="100"/>
        </p:scale>
        <p:origin x="-1253" y="16"/>
      </p:cViewPr>
      <p:guideLst>
        <p:guide orient="horz" pos="2217"/>
        <p:guide pos="304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88939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8:27:57.60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0,'0'1,"1"0,-1 0,1 0,0 0,-1 0,1-1,0 1,0 0,0 0,0-1,-1 1,1 0,0-1,0 1,0-1,0 1,0-1,0 0,0 0,1 1,-1-1,0 0,2 0,31 5,-32-5,309 4,-169-6,-48 1,103 3,-107 8,28 1,-95-11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8:27:59.45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0,'992'0,"-971"0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8:28:05.96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0,'1062'0,"-1038"0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8:28:08.43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2,'113'-1,"123"3,-143 8,31 1,-8-13,85 4,-113 8,-48-4,43 0,-61-6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8:28:09.88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0,'956'0,"-932"0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8:28:11.20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0,'326'13,"-107"-8,-29-1,-102 6,35 1,-4-12,-112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8:42:32.98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0,'427'16,"-187"-12,-30-2,-167 5,-27-2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8:42:33.92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23,'170'2,"182"-4,-240-9,25-1,-124 12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8:42:34.90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0,'728'0,"-715"0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8:42:36.07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0,'480'16,"-213"-10,-192-7,-54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8:42:37.03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0,'836'0,"-774"4,-37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8:42:37.92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0,'120'5,"122"22,58 4,-65-30,-147-2,-64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8:42:38.44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8:42:38.44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8:42:38.44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-1588"/>
            <a:ext cx="3076576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824" tIns="0" rIns="19824" bIns="0" numCol="1" anchor="t" anchorCtr="0" compatLnSpc="1">
            <a:prstTxWarp prst="textNoShape">
              <a:avLst/>
            </a:prstTxWarp>
          </a:bodyPr>
          <a:lstStyle>
            <a:lvl1pPr algn="l" defTabSz="971550">
              <a:defRPr sz="1100" i="1">
                <a:effectLst/>
              </a:defRPr>
            </a:lvl1pPr>
          </a:lstStyle>
          <a:p>
            <a:endParaRPr lang="en-US" altLang="zh-TW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-1588"/>
            <a:ext cx="30765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824" tIns="0" rIns="19824" bIns="0" numCol="1" anchor="t" anchorCtr="0" compatLnSpc="1">
            <a:prstTxWarp prst="textNoShape">
              <a:avLst/>
            </a:prstTxWarp>
          </a:bodyPr>
          <a:lstStyle>
            <a:lvl1pPr algn="r" defTabSz="971550">
              <a:defRPr sz="1100" i="1">
                <a:effectLst/>
              </a:defRPr>
            </a:lvl1pPr>
          </a:lstStyle>
          <a:p>
            <a:endParaRPr lang="en-US" altLang="zh-TW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01713" y="777875"/>
            <a:ext cx="5094287" cy="38211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59338"/>
            <a:ext cx="5205413" cy="4605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463" tIns="47906" rIns="97463" bIns="479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第二階層</a:t>
            </a:r>
          </a:p>
          <a:p>
            <a:pPr lvl="2"/>
            <a:r>
              <a:rPr lang="zh-TW" altLang="en-US"/>
              <a:t>第三階層</a:t>
            </a:r>
          </a:p>
          <a:p>
            <a:pPr lvl="3"/>
            <a:r>
              <a:rPr lang="zh-TW" altLang="en-US"/>
              <a:t>第四階層</a:t>
            </a:r>
          </a:p>
          <a:p>
            <a:pPr lvl="4"/>
            <a:r>
              <a:rPr lang="zh-TW" altLang="en-US"/>
              <a:t>第五階層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-1588" y="9721850"/>
            <a:ext cx="3076576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824" tIns="0" rIns="19824" bIns="0" numCol="1" anchor="b" anchorCtr="0" compatLnSpc="1">
            <a:prstTxWarp prst="textNoShape">
              <a:avLst/>
            </a:prstTxWarp>
          </a:bodyPr>
          <a:lstStyle>
            <a:lvl1pPr algn="l" defTabSz="971550">
              <a:defRPr sz="1100" i="1">
                <a:effectLst/>
              </a:defRPr>
            </a:lvl1pPr>
          </a:lstStyle>
          <a:p>
            <a:endParaRPr lang="en-US" altLang="zh-TW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824" tIns="0" rIns="19824" bIns="0" numCol="1" anchor="b" anchorCtr="0" compatLnSpc="1">
            <a:prstTxWarp prst="textNoShape">
              <a:avLst/>
            </a:prstTxWarp>
          </a:bodyPr>
          <a:lstStyle>
            <a:lvl1pPr algn="r" defTabSz="971550">
              <a:defRPr sz="1100" i="1">
                <a:effectLst/>
              </a:defRPr>
            </a:lvl1pPr>
          </a:lstStyle>
          <a:p>
            <a:fld id="{AAC00800-7EBB-4CA5-92E4-BAF87A6B2AC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34782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777875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61963" algn="l" defTabSz="777875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23925" algn="l" defTabSz="777875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85888" algn="l" defTabSz="777875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47850" algn="l" defTabSz="777875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777875" rtl="0" eaLnBrk="1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sz="1800" b="0" i="0" dirty="0">
              <a:solidFill>
                <a:srgbClr val="ECECEC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71506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sz="1800" dirty="0">
              <a:solidFill>
                <a:srgbClr val="1D1DFF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5704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29E50-A3CA-060B-425A-8D63DAC02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DF5908C-613E-5E93-6C69-FF909E891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D5CEF4B-59ED-2207-F911-834FFDAAD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實驗平台由 </a:t>
            </a:r>
            <a:r>
              <a:rPr lang="en-US" altLang="zh-TW" b="1" dirty="0" err="1"/>
              <a:t>Arbin</a:t>
            </a:r>
            <a:r>
              <a:rPr lang="en-US" altLang="zh-TW" b="1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LBT </a:t>
            </a:r>
            <a:r>
              <a:rPr lang="zh-TW" altLang="en-US" dirty="0"/>
              <a:t>系列 電池充放電測試儀、高低溫試驗箱，以及一台主控電腦組成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97417B-3D8A-5B8D-2377-3F94A55E83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14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26109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DDAAED-46F5-4A8D-BBC0-BC6917411C65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466922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2AB625-3397-435F-B12D-F437C0075AC8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848095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5B9E8D-7EA5-4CE7-8B0C-C86AC0A958FA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50546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63575" y="1225550"/>
            <a:ext cx="3805238" cy="21717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1213" y="1225550"/>
            <a:ext cx="3806825" cy="21717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E2625E-6638-4780-97AE-3A095B674FA5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377704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058057-07F8-4D54-807D-91DDB75557A5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98201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9FC8EB-D5A2-4BAF-9E02-35AC57547D31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14560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537086-FB49-4B71-9FD2-DD670A305306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48385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63AAEE-44CF-452B-BC56-7704863D6089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970006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138460-1707-4D6B-A835-4B6909C92AFB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1200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5B0463-D3C0-4396-9228-21AF6A102326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15137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50025" y="228600"/>
            <a:ext cx="1960563" cy="316865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63575" y="228600"/>
            <a:ext cx="5734050" cy="316865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BED47D-0B8C-4967-9274-57121FBD76CC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98266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149725" y="228600"/>
            <a:ext cx="4360863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63575" y="1225550"/>
            <a:ext cx="3805238" cy="21717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1213" y="1225550"/>
            <a:ext cx="3806825" cy="21717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0" y="64770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65475" y="6477000"/>
            <a:ext cx="2895600" cy="2286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fld id="{BDE65452-3284-405B-BC43-88CA72DBD0A0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69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ChangeArrowheads="1"/>
          </p:cNvSpPr>
          <p:nvPr/>
        </p:nvSpPr>
        <p:spPr bwMode="auto">
          <a:xfrm>
            <a:off x="0" y="609600"/>
            <a:ext cx="9144000" cy="228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33CC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pattFill prst="pct5">
                  <a:fgClr>
                    <a:schemeClr val="accent2"/>
                  </a:fgClr>
                  <a:bgClr>
                    <a:srgbClr val="FFFFFF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5475" name="Rectangle 3"/>
          <p:cNvSpPr>
            <a:spLocks noChangeArrowheads="1"/>
          </p:cNvSpPr>
          <p:nvPr/>
        </p:nvSpPr>
        <p:spPr bwMode="auto">
          <a:xfrm>
            <a:off x="0" y="6019800"/>
            <a:ext cx="9144000" cy="228600"/>
          </a:xfrm>
          <a:prstGeom prst="rect">
            <a:avLst/>
          </a:prstGeom>
          <a:gradFill rotWithShape="0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54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1" i="1">
                <a:solidFill>
                  <a:srgbClr val="003300"/>
                </a:solidFill>
                <a:effectLst/>
              </a:defRPr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054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65475" y="6477000"/>
            <a:ext cx="2895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1" i="1">
                <a:effectLst/>
                <a:latin typeface="Arial Narrow" panose="020B060602020203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1054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800" b="1" i="1">
                <a:solidFill>
                  <a:srgbClr val="6600CC"/>
                </a:solidFill>
                <a:effectLst/>
                <a:ea typeface="新細明體" panose="02020500000000000000" pitchFamily="18" charset="-120"/>
              </a:defRPr>
            </a:lvl1pPr>
          </a:lstStyle>
          <a:p>
            <a:fld id="{514B78F4-FFCB-4C8B-ACC5-FF05B740C42E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  <p:sp>
        <p:nvSpPr>
          <p:cNvPr id="105479" name="Rectangle 7" descr="藍色面紙"/>
          <p:cNvSpPr>
            <a:spLocks noGrp="1" noChangeArrowheads="1"/>
          </p:cNvSpPr>
          <p:nvPr>
            <p:ph type="title"/>
          </p:nvPr>
        </p:nvSpPr>
        <p:spPr bwMode="auto">
          <a:xfrm>
            <a:off x="4149725" y="228600"/>
            <a:ext cx="4360863" cy="762000"/>
          </a:xfrm>
          <a:prstGeom prst="rect">
            <a:avLst/>
          </a:prstGeom>
          <a:blipFill dpi="0" rotWithShape="0">
            <a:blip r:embed="rId14"/>
            <a:srcRect/>
            <a:tile tx="0" ty="0" sx="100000" sy="100000" flip="none" algn="tl"/>
          </a:blip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548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3575" y="1225550"/>
            <a:ext cx="7764463" cy="217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5481" name="Text Box 9"/>
          <p:cNvSpPr txBox="1">
            <a:spLocks noChangeArrowheads="1"/>
          </p:cNvSpPr>
          <p:nvPr/>
        </p:nvSpPr>
        <p:spPr bwMode="auto">
          <a:xfrm>
            <a:off x="0" y="0"/>
            <a:ext cx="3165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endParaRPr lang="zh-TW" altLang="zh-TW" sz="2400">
              <a:effectLst/>
              <a:latin typeface="華康粗圓體(P)" pitchFamily="2" charset="-120"/>
              <a:ea typeface="華康粗圓體(P)" pitchFamily="2" charset="-120"/>
            </a:endParaRPr>
          </a:p>
        </p:txBody>
      </p:sp>
      <p:sp>
        <p:nvSpPr>
          <p:cNvPr id="105483" name="Text Box 11"/>
          <p:cNvSpPr txBox="1">
            <a:spLocks noChangeArrowheads="1"/>
          </p:cNvSpPr>
          <p:nvPr/>
        </p:nvSpPr>
        <p:spPr bwMode="auto">
          <a:xfrm>
            <a:off x="7092950" y="5969000"/>
            <a:ext cx="2051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TW" altLang="en-US" sz="1400" i="1">
                <a:solidFill>
                  <a:schemeClr val="accent2"/>
                </a:solidFill>
                <a:effectLst/>
              </a:rPr>
              <a:t>台灣科技大學電機系</a:t>
            </a:r>
            <a:endParaRPr lang="zh-TW" altLang="en-US" sz="1400">
              <a:effectLst/>
            </a:endParaRPr>
          </a:p>
        </p:txBody>
      </p:sp>
      <p:pic>
        <p:nvPicPr>
          <p:cNvPr id="105486" name="Picture 14" descr="ntust_logo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0"/>
            <a:ext cx="1158875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2800" b="1" kern="1200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2pPr>
      <a:lvl3pPr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3pPr>
      <a:lvl4pPr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4pPr>
      <a:lvl5pPr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FF99FF"/>
        </a:buClr>
        <a:buFont typeface="Wingdings" panose="05000000000000000000" pitchFamily="2" charset="2"/>
        <a:buChar char="q"/>
        <a:defRPr kumimoji="1" sz="2400" kern="1200">
          <a:solidFill>
            <a:srgbClr val="0000FF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kumimoji="1" sz="2000" kern="1200">
          <a:solidFill>
            <a:srgbClr val="A5002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F"/>
        <a:defRPr kumimoji="1" sz="2000" kern="1200">
          <a:solidFill>
            <a:srgbClr val="008000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FF99FF"/>
        </a:buClr>
        <a:buFont typeface="Wingdings" panose="05000000000000000000" pitchFamily="2" charset="2"/>
        <a:buChar char="l"/>
        <a:defRPr kumimoji="1" kern="1200">
          <a:solidFill>
            <a:srgbClr val="FF99FF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est.2023.10668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2" Type="http://schemas.openxmlformats.org/officeDocument/2006/relationships/customXml" Target="../ink/ink5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.xml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5" Type="http://schemas.openxmlformats.org/officeDocument/2006/relationships/image" Target="../media/image18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5.png"/><Relationship Id="rId14" Type="http://schemas.openxmlformats.org/officeDocument/2006/relationships/customXml" Target="../ink/ink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13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12" Type="http://schemas.openxmlformats.org/officeDocument/2006/relationships/customXml" Target="../ink/ink11.xml"/><Relationship Id="rId17" Type="http://schemas.openxmlformats.org/officeDocument/2006/relationships/image" Target="../media/image29.png"/><Relationship Id="rId2" Type="http://schemas.openxmlformats.org/officeDocument/2006/relationships/image" Target="../media/image21.png"/><Relationship Id="rId16" Type="http://schemas.openxmlformats.org/officeDocument/2006/relationships/customXml" Target="../ink/ink13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8.xml"/><Relationship Id="rId11" Type="http://schemas.openxmlformats.org/officeDocument/2006/relationships/image" Target="../media/image26.png"/><Relationship Id="rId5" Type="http://schemas.openxmlformats.org/officeDocument/2006/relationships/image" Target="../media/image23.png"/><Relationship Id="rId15" Type="http://schemas.openxmlformats.org/officeDocument/2006/relationships/image" Target="../media/image28.png"/><Relationship Id="rId10" Type="http://schemas.openxmlformats.org/officeDocument/2006/relationships/customXml" Target="../ink/ink10.xml"/><Relationship Id="rId4" Type="http://schemas.openxmlformats.org/officeDocument/2006/relationships/customXml" Target="../ink/ink7.xml"/><Relationship Id="rId9" Type="http://schemas.openxmlformats.org/officeDocument/2006/relationships/image" Target="../media/image25.png"/><Relationship Id="rId14" Type="http://schemas.openxmlformats.org/officeDocument/2006/relationships/customXml" Target="../ink/ink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est.2023.10668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B2F4004-60FB-2378-FECB-D7EED608C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513633"/>
              </p:ext>
            </p:extLst>
          </p:nvPr>
        </p:nvGraphicFramePr>
        <p:xfrm>
          <a:off x="1366168" y="4271989"/>
          <a:ext cx="6400800" cy="1413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50322356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1536881184"/>
                    </a:ext>
                  </a:extLst>
                </a:gridCol>
              </a:tblGrid>
              <a:tr h="471115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zh-TW" altLang="en-US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台灣科技大學 </a:t>
                      </a:r>
                      <a:r>
                        <a:rPr kumimoji="1" lang="en-US" altLang="zh-TW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AI</a:t>
                      </a:r>
                      <a:r>
                        <a:rPr kumimoji="1" lang="zh-TW" altLang="en-US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497009"/>
                  </a:ext>
                </a:extLst>
              </a:tr>
              <a:tr h="471115">
                <a:tc>
                  <a:txBody>
                    <a:bodyPr/>
                    <a:lstStyle/>
                    <a:p>
                      <a:pPr algn="r"/>
                      <a:r>
                        <a:rPr kumimoji="1" lang="zh-TW" altLang="en-US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指導教授：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zh-TW" altLang="en-US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羅一峰 博士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971911"/>
                  </a:ext>
                </a:extLst>
              </a:tr>
              <a:tr h="471115">
                <a:tc>
                  <a:txBody>
                    <a:bodyPr/>
                    <a:lstStyle/>
                    <a:p>
                      <a:pPr algn="r"/>
                      <a:r>
                        <a:rPr kumimoji="1" lang="zh-TW" altLang="en-US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學生：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zh-TW" altLang="en-US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林志龍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36832"/>
                  </a:ext>
                </a:extLst>
              </a:tr>
            </a:tbl>
          </a:graphicData>
        </a:graphic>
      </p:graphicFrame>
      <p:sp>
        <p:nvSpPr>
          <p:cNvPr id="152578" name="Rectangle 2" descr="藍色面紙"/>
          <p:cNvSpPr>
            <a:spLocks noGrp="1" noChangeArrowheads="1"/>
          </p:cNvSpPr>
          <p:nvPr>
            <p:ph type="ctrTitle"/>
          </p:nvPr>
        </p:nvSpPr>
        <p:spPr>
          <a:xfrm>
            <a:off x="685799" y="1616692"/>
            <a:ext cx="7772400" cy="2388372"/>
          </a:xfrm>
          <a:ln/>
        </p:spPr>
        <p:txBody>
          <a:bodyPr lIns="216000" tIns="72000" rIns="216000" bIns="72000" anchor="ctr"/>
          <a:lstStyle/>
          <a:p>
            <a:pPr lvl="0" defTabSz="777875">
              <a:lnSpc>
                <a:spcPct val="150000"/>
              </a:lnSpc>
              <a:spcBef>
                <a:spcPct val="30000"/>
              </a:spcBef>
              <a:defRPr/>
            </a:pPr>
            <a:r>
              <a:rPr lang="en-US" sz="2400" dirty="0"/>
              <a:t>Convolutional autoencoder-based SOH estimation of lithium-ion batteries using electrochemical impedance spectroscopy</a:t>
            </a:r>
            <a:endParaRPr lang="zh-TW" altLang="zh-TW" sz="24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B1B3274-1842-47A2-A49B-46B6E74AEE0F}"/>
              </a:ext>
            </a:extLst>
          </p:cNvPr>
          <p:cNvSpPr/>
          <p:nvPr/>
        </p:nvSpPr>
        <p:spPr bwMode="auto">
          <a:xfrm>
            <a:off x="0" y="6021288"/>
            <a:ext cx="9144000" cy="216024"/>
          </a:xfrm>
          <a:prstGeom prst="rect">
            <a:avLst/>
          </a:prstGeom>
          <a:gradFill flip="none" rotWithShape="1">
            <a:gsLst>
              <a:gs pos="0">
                <a:srgbClr val="5F9EFF"/>
              </a:gs>
              <a:gs pos="36000">
                <a:srgbClr val="81BFFF"/>
              </a:gs>
              <a:gs pos="70000">
                <a:srgbClr val="C6D7EC"/>
              </a:gs>
              <a:gs pos="100000">
                <a:srgbClr val="FDEAFA"/>
              </a:gs>
            </a:gsLst>
            <a:lin ang="0" scaled="1"/>
            <a:tileRect/>
          </a:gra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A8D7F64-68FB-4A94-9D60-8F350258A972}"/>
              </a:ext>
            </a:extLst>
          </p:cNvPr>
          <p:cNvSpPr txBox="1"/>
          <p:nvPr/>
        </p:nvSpPr>
        <p:spPr>
          <a:xfrm>
            <a:off x="-540568" y="6006189"/>
            <a:ext cx="41044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b="1" u="sng" dirty="0">
                <a:effectLst/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Journal of Energy Storage 60 (2023) 106680</a:t>
            </a:r>
            <a:endParaRPr lang="en-US" altLang="zh-TW" sz="1000" b="0" i="0" dirty="0">
              <a:effectLst/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C95AA9-1BFB-F40F-4671-9F700E7C9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200" dirty="0"/>
              <a:t>Outline</a:t>
            </a:r>
            <a:endParaRPr lang="zh-TW" altLang="en-US" sz="2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C77CF7-69FA-D8CC-018F-6FB92FFF4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575" y="1225550"/>
            <a:ext cx="7847013" cy="4651722"/>
          </a:xfrm>
        </p:spPr>
        <p:txBody>
          <a:bodyPr/>
          <a:lstStyle/>
          <a:p>
            <a:pPr algn="just" hangingPunct="0">
              <a:lnSpc>
                <a:spcPct val="150000"/>
              </a:lnSpc>
            </a:pPr>
            <a:r>
              <a:rPr lang="en-US" altLang="zh-TW" sz="2000" dirty="0"/>
              <a:t>Introduction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Objectives &amp; Contributions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Data Preprocessing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Model Architecture (CAE-DNN)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Experimental Setup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Result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Discussion and Conclusion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Critical Review / Future Work</a:t>
            </a: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0E1F7E-E23A-8A46-3CD9-AB28D5948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B625-3397-435F-B12D-F437C0075AC8}" type="slidenum">
              <a:rPr lang="en-US" altLang="zh-TW" smtClean="0"/>
              <a:pPr/>
              <a:t>2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565268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550B7-0EFB-0004-1686-3D3B6BE29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4D8664-C427-1E56-8DBD-6583A1171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25" y="228600"/>
            <a:ext cx="4360863" cy="762000"/>
          </a:xfrm>
        </p:spPr>
        <p:txBody>
          <a:bodyPr wrap="square" anchor="ctr">
            <a:normAutofit/>
          </a:bodyPr>
          <a:lstStyle/>
          <a:p>
            <a:r>
              <a:rPr lang="en-US" altLang="zh-TW" dirty="0"/>
              <a:t>Introduction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B67D7DB5-26BD-F9BD-578A-3BE81D0E8E09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23528" y="1225550"/>
            <a:ext cx="4336929" cy="4795738"/>
          </a:xfrm>
        </p:spPr>
        <p:txBody>
          <a:bodyPr wrap="square" anchor="t">
            <a:noAutofit/>
          </a:bodyPr>
          <a:lstStyle/>
          <a:p>
            <a:pPr marL="0" indent="0" algn="just" hangingPunct="0">
              <a:lnSpc>
                <a:spcPct val="90000"/>
              </a:lnSpc>
              <a:buNone/>
            </a:pPr>
            <a:r>
              <a:rPr lang="en-US" sz="1800" b="1" dirty="0"/>
              <a:t>Crucial Role of Li-ion Batteries:</a:t>
            </a:r>
            <a:endParaRPr lang="en-US" altLang="zh-TW" sz="1800" b="1" dirty="0"/>
          </a:p>
          <a:p>
            <a:pPr algn="ju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dirty="0"/>
              <a:t>Li-ion batteries are central to EVs and consumer electronics, requiring accurate </a:t>
            </a:r>
            <a:r>
              <a:rPr lang="en-US" sz="1600" b="1" dirty="0">
                <a:solidFill>
                  <a:srgbClr val="FF0000"/>
                </a:solidFill>
              </a:rPr>
              <a:t>State-of-Health (SOH)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monitoring for safety and longevity.</a:t>
            </a:r>
          </a:p>
          <a:p>
            <a:pPr algn="ju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0" indent="0" algn="just" hangingPunct="0">
              <a:lnSpc>
                <a:spcPct val="90000"/>
              </a:lnSpc>
              <a:buNone/>
            </a:pPr>
            <a:r>
              <a:rPr lang="en-US" sz="1800" b="1" dirty="0"/>
              <a:t>Limitations of Traditional Methods?</a:t>
            </a:r>
          </a:p>
          <a:p>
            <a:pPr algn="ju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/>
              <a:t>Equivalent Circuit Models (ECMs): </a:t>
            </a:r>
            <a:r>
              <a:rPr lang="en-US" sz="1600" dirty="0"/>
              <a:t>Rely on constructing physical circuit models</a:t>
            </a:r>
            <a:r>
              <a:rPr lang="th-TH" sz="1600" dirty="0"/>
              <a:t> </a:t>
            </a:r>
            <a:r>
              <a:rPr lang="en-US" sz="1600" dirty="0"/>
              <a:t>which require complex parameter identification. </a:t>
            </a:r>
          </a:p>
          <a:p>
            <a:pPr algn="ju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/>
              <a:t>Manual Feature Extraction: </a:t>
            </a:r>
            <a:r>
              <a:rPr lang="en-US" sz="1600" dirty="0"/>
              <a:t>Methods like Gray analysis or SVD are time-consuming and prone to human error . </a:t>
            </a:r>
          </a:p>
          <a:p>
            <a:pPr algn="ju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/>
              <a:t>The Gap: </a:t>
            </a:r>
            <a:r>
              <a:rPr lang="en-US" sz="1600" dirty="0"/>
              <a:t>There is a need for an </a:t>
            </a:r>
            <a:r>
              <a:rPr lang="en-US" sz="1600" dirty="0">
                <a:solidFill>
                  <a:srgbClr val="C00000"/>
                </a:solidFill>
              </a:rPr>
              <a:t>automatic method</a:t>
            </a:r>
            <a:r>
              <a:rPr lang="en-US" sz="1600" dirty="0"/>
              <a:t> that doesn't rely on pre-defined physical models.</a:t>
            </a:r>
            <a:endParaRPr lang="en-US" altLang="zh-TW" sz="1600" i="0" dirty="0"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6A086D-3CAB-E946-1C7C-D36688B2F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457" y="2168860"/>
            <a:ext cx="4366098" cy="2412268"/>
          </a:xfrm>
          <a:prstGeom prst="rect">
            <a:avLst/>
          </a:prstGeom>
          <a:noFill/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8B3766-C00C-95C6-55C7-288A56248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altLang="zh-TW" sz="100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2AAD52A-584B-21FC-D5E0-437BD2576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8036174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Scope: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Most existing reviews focus solely on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single-cell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estimation.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047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B1B21C-0CD8-49CF-90C1-9E332A3AE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25" y="228600"/>
            <a:ext cx="4360863" cy="762000"/>
          </a:xfrm>
        </p:spPr>
        <p:txBody>
          <a:bodyPr wrap="square" anchor="ctr">
            <a:normAutofit/>
          </a:bodyPr>
          <a:lstStyle/>
          <a:p>
            <a:r>
              <a:rPr lang="en-US" altLang="zh-TW" dirty="0"/>
              <a:t>Introduction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7A72D05F-DEE9-DFCE-02BF-A778DE6F23E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23528" y="1225550"/>
            <a:ext cx="8424936" cy="2707506"/>
          </a:xfrm>
        </p:spPr>
        <p:txBody>
          <a:bodyPr wrap="square" anchor="t">
            <a:noAutofit/>
          </a:bodyPr>
          <a:lstStyle/>
          <a:p>
            <a:pPr marL="0" indent="0" hangingPunct="0">
              <a:lnSpc>
                <a:spcPct val="90000"/>
              </a:lnSpc>
              <a:buNone/>
            </a:pPr>
            <a:r>
              <a:rPr lang="en-US" sz="1800" b="1" dirty="0"/>
              <a:t>Why use EIS Data?:</a:t>
            </a:r>
            <a:endParaRPr lang="en-US" altLang="zh-TW" sz="1800" b="1" dirty="0"/>
          </a:p>
          <a:p>
            <a:pPr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dirty="0"/>
              <a:t>EIS (Electrochemical Impedance Spectroscopy) sees </a:t>
            </a:r>
            <a:r>
              <a:rPr lang="en-US" sz="1600" dirty="0">
                <a:solidFill>
                  <a:srgbClr val="C00000"/>
                </a:solidFill>
              </a:rPr>
              <a:t>"inside" </a:t>
            </a:r>
            <a:r>
              <a:rPr lang="en-US" sz="1600" dirty="0"/>
              <a:t>the battery . </a:t>
            </a:r>
          </a:p>
          <a:p>
            <a:pPr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dirty="0"/>
              <a:t>As shown in Fig. 2: The graph changes clearly when SOH drops (from 100% to 80%) . </a:t>
            </a:r>
          </a:p>
          <a:p>
            <a:pPr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dirty="0"/>
              <a:t>This makes it great for tracking battery health.</a:t>
            </a:r>
          </a:p>
          <a:p>
            <a:pPr marL="0" indent="0" hangingPunct="0">
              <a:lnSpc>
                <a:spcPct val="90000"/>
              </a:lnSpc>
              <a:buNone/>
            </a:pPr>
            <a:r>
              <a:rPr lang="en-US" sz="1800" b="1" dirty="0"/>
              <a:t>Our Solution: Deep Learning?</a:t>
            </a:r>
          </a:p>
          <a:p>
            <a:pPr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dirty="0"/>
              <a:t>We use a model called </a:t>
            </a:r>
            <a:r>
              <a:rPr lang="en-US" sz="1600" dirty="0">
                <a:solidFill>
                  <a:srgbClr val="C00000"/>
                </a:solidFill>
              </a:rPr>
              <a:t>CAE (Convolutional Autoencoder). </a:t>
            </a:r>
          </a:p>
          <a:p>
            <a:pPr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dirty="0"/>
              <a:t>It learns features automatically from </a:t>
            </a:r>
            <a:r>
              <a:rPr lang="en-US" sz="1600" dirty="0">
                <a:solidFill>
                  <a:srgbClr val="C00000"/>
                </a:solidFill>
              </a:rPr>
              <a:t>EIS data</a:t>
            </a:r>
            <a:r>
              <a:rPr lang="en-US" sz="1600" dirty="0"/>
              <a:t>. </a:t>
            </a:r>
          </a:p>
          <a:p>
            <a:pPr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/>
              <a:t>Benefit</a:t>
            </a:r>
            <a:r>
              <a:rPr lang="en-US" sz="1600" dirty="0"/>
              <a:t>: No need for manual calculation or physical models.</a:t>
            </a:r>
            <a:endParaRPr lang="en-US" altLang="zh-TW" sz="1600" i="0" dirty="0"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4E067C-6738-77CE-A29F-AE3AB3DB45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47664" y="3573016"/>
            <a:ext cx="6376262" cy="2297063"/>
          </a:xfrm>
          <a:prstGeom prst="rect">
            <a:avLst/>
          </a:prstGeom>
          <a:noFill/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DAE569-4DB0-4546-A321-C423A9FB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altLang="zh-TW" sz="1000"/>
          </a:p>
        </p:txBody>
      </p:sp>
    </p:spTree>
    <p:extLst>
      <p:ext uri="{BB962C8B-B14F-4D97-AF65-F5344CB8AC3E}">
        <p14:creationId xmlns:p14="http://schemas.microsoft.com/office/powerpoint/2010/main" val="1442707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50DE5-3911-2FCB-4916-53F788C5B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A72FF0-1924-30D3-09C2-8A2E51A0A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25" y="228600"/>
            <a:ext cx="4360863" cy="762000"/>
          </a:xfrm>
        </p:spPr>
        <p:txBody>
          <a:bodyPr wrap="square"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Objectives &amp; Contributions</a:t>
            </a: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C67029AB-2C30-CE4A-ACD3-E1B7D8A7B8C0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23528" y="1225550"/>
            <a:ext cx="8424936" cy="2203450"/>
          </a:xfrm>
        </p:spPr>
        <p:txBody>
          <a:bodyPr wrap="square" anchor="t">
            <a:noAutofit/>
          </a:bodyPr>
          <a:lstStyle/>
          <a:p>
            <a:pPr marL="0" indent="0" hangingPunct="0">
              <a:lnSpc>
                <a:spcPct val="90000"/>
              </a:lnSpc>
              <a:buNone/>
            </a:pPr>
            <a:r>
              <a:rPr lang="en-US" sz="1800" b="1" dirty="0"/>
              <a:t>Main Objective:</a:t>
            </a:r>
            <a:endParaRPr lang="en-US" altLang="zh-TW" sz="1800" b="1" dirty="0"/>
          </a:p>
          <a:p>
            <a:pPr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dirty="0"/>
              <a:t>To build a Deep Learning model </a:t>
            </a:r>
            <a:r>
              <a:rPr lang="en-US" sz="1600" dirty="0">
                <a:solidFill>
                  <a:srgbClr val="C00000"/>
                </a:solidFill>
              </a:rPr>
              <a:t>(</a:t>
            </a:r>
            <a:r>
              <a:rPr lang="en-US" sz="1600" b="1" dirty="0">
                <a:solidFill>
                  <a:srgbClr val="C00000"/>
                </a:solidFill>
              </a:rPr>
              <a:t>CAE-DNN</a:t>
            </a:r>
            <a:r>
              <a:rPr lang="en-US" sz="1600" dirty="0">
                <a:solidFill>
                  <a:srgbClr val="C00000"/>
                </a:solidFill>
              </a:rPr>
              <a:t>) </a:t>
            </a:r>
            <a:r>
              <a:rPr lang="en-US" sz="1600" dirty="0"/>
              <a:t>for SOH estimation using only EIS data.</a:t>
            </a:r>
          </a:p>
          <a:p>
            <a:pPr marL="0" indent="0" hangingPunct="0">
              <a:lnSpc>
                <a:spcPct val="90000"/>
              </a:lnSpc>
              <a:buNone/>
            </a:pPr>
            <a:endParaRPr lang="en-US" sz="1600" dirty="0"/>
          </a:p>
          <a:p>
            <a:pPr marL="0" indent="0" hangingPunct="0">
              <a:lnSpc>
                <a:spcPct val="90000"/>
              </a:lnSpc>
              <a:buNone/>
            </a:pPr>
            <a:r>
              <a:rPr lang="en-US" sz="1800" b="1" dirty="0"/>
              <a:t>Our Key Innovations?</a:t>
            </a:r>
          </a:p>
          <a:p>
            <a:pPr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/>
              <a:t>New Data Format: </a:t>
            </a:r>
            <a:r>
              <a:rPr lang="en-US" sz="1600" dirty="0"/>
              <a:t>We transform raw EIS data into </a:t>
            </a:r>
            <a:r>
              <a:rPr lang="en-US" sz="1600" dirty="0">
                <a:solidFill>
                  <a:srgbClr val="C00000"/>
                </a:solidFill>
              </a:rPr>
              <a:t>2D Images </a:t>
            </a:r>
            <a:r>
              <a:rPr lang="en-US" sz="1600" dirty="0"/>
              <a:t>to work better with AI. </a:t>
            </a:r>
          </a:p>
          <a:p>
            <a:pPr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/>
              <a:t>Automatic Learning: </a:t>
            </a:r>
            <a:r>
              <a:rPr lang="en-US" sz="1600" dirty="0"/>
              <a:t>We use an </a:t>
            </a:r>
            <a:r>
              <a:rPr lang="en-US" sz="1600" dirty="0">
                <a:solidFill>
                  <a:srgbClr val="C00000"/>
                </a:solidFill>
              </a:rPr>
              <a:t>Autoencoder</a:t>
            </a:r>
            <a:r>
              <a:rPr lang="en-US" sz="1600" dirty="0"/>
              <a:t> to extract features automatically. No need for manual calculation or labeling .</a:t>
            </a:r>
            <a:endParaRPr lang="en-US" altLang="zh-TW" sz="1600" i="0" dirty="0"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F22904-FB06-5FC1-248F-4B6D883E05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1600" y="3356992"/>
            <a:ext cx="7501968" cy="2373026"/>
          </a:xfrm>
          <a:prstGeom prst="rect">
            <a:avLst/>
          </a:prstGeom>
          <a:noFill/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6628C1-8D3D-8F30-4A69-5BBD66DC2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altLang="zh-TW" sz="1000"/>
          </a:p>
        </p:txBody>
      </p:sp>
    </p:spTree>
    <p:extLst>
      <p:ext uri="{BB962C8B-B14F-4D97-AF65-F5344CB8AC3E}">
        <p14:creationId xmlns:p14="http://schemas.microsoft.com/office/powerpoint/2010/main" val="3696758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8ACFD-5618-44A3-EC83-4AE1BEDEB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7B6321-3AAA-EA96-9CA6-1269B9522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9996" y="187003"/>
            <a:ext cx="4360863" cy="730105"/>
          </a:xfrm>
        </p:spPr>
        <p:txBody>
          <a:bodyPr wrap="square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Data Preprocessing</a:t>
            </a: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0F5A0D4-CBFC-3E0C-DA9B-58DD74FC27C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57063" y="1340768"/>
            <a:ext cx="4360863" cy="4320480"/>
          </a:xfrm>
        </p:spPr>
        <p:txBody>
          <a:bodyPr wrap="square" anchor="t">
            <a:noAutofit/>
          </a:bodyPr>
          <a:lstStyle/>
          <a:p>
            <a:pPr marL="0" indent="0" algn="thaiDist" hangingPunct="0">
              <a:lnSpc>
                <a:spcPct val="90000"/>
              </a:lnSpc>
              <a:buNone/>
            </a:pPr>
            <a:r>
              <a:rPr lang="en-US" sz="1800" b="1" dirty="0"/>
              <a:t>Raw Data Input:</a:t>
            </a:r>
            <a:endParaRPr lang="en-US" altLang="zh-TW" sz="1800" b="1" dirty="0"/>
          </a:p>
          <a:p>
            <a:pPr algn="thaiDi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dirty="0"/>
              <a:t>We measure impedance (Z) at </a:t>
            </a:r>
            <a:r>
              <a:rPr lang="en-US" sz="1600" dirty="0">
                <a:solidFill>
                  <a:srgbClr val="C00000"/>
                </a:solidFill>
              </a:rPr>
              <a:t>60 different frequencies</a:t>
            </a:r>
            <a:r>
              <a:rPr lang="en-US" sz="1600" dirty="0"/>
              <a:t>.</a:t>
            </a:r>
          </a:p>
          <a:p>
            <a:pPr algn="thaiDi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dirty="0"/>
              <a:t>Total 120 values (Real and Imaginary parts).</a:t>
            </a:r>
            <a:endParaRPr lang="th-TH" sz="1600" dirty="0"/>
          </a:p>
          <a:p>
            <a:pPr algn="thaiDi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0" indent="0" algn="thaiDist" hangingPunct="0">
              <a:lnSpc>
                <a:spcPct val="90000"/>
              </a:lnSpc>
              <a:buNone/>
            </a:pPr>
            <a:r>
              <a:rPr lang="en-US" sz="1800" b="1" dirty="0"/>
              <a:t>Key Steps </a:t>
            </a:r>
          </a:p>
          <a:p>
            <a:pPr algn="thaiDi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/>
              <a:t>Normalize</a:t>
            </a:r>
            <a:r>
              <a:rPr lang="en-US" sz="1600" dirty="0"/>
              <a:t>: Scale the values to make them easy to learn.</a:t>
            </a:r>
          </a:p>
          <a:p>
            <a:pPr algn="thaiDi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/>
              <a:t>Add Statistics</a:t>
            </a:r>
            <a:r>
              <a:rPr lang="en-US" sz="1600" dirty="0"/>
              <a:t>: We add 4 values (Min, Max, Mean, Std) to give more information.</a:t>
            </a:r>
          </a:p>
          <a:p>
            <a:pPr algn="thaiDi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/>
              <a:t>Reshape to 2D</a:t>
            </a:r>
            <a:r>
              <a:rPr lang="en-US" sz="1600" dirty="0"/>
              <a:t>: We turn the data into an 8x8 matrix.</a:t>
            </a:r>
            <a:endParaRPr lang="th-TH" sz="1600" dirty="0"/>
          </a:p>
          <a:p>
            <a:pPr algn="thaiDi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0" indent="0" algn="thaiDist" hangingPunct="0">
              <a:lnSpc>
                <a:spcPct val="90000"/>
              </a:lnSpc>
              <a:buNone/>
            </a:pPr>
            <a:r>
              <a:rPr lang="en-US" sz="1800" b="1" dirty="0"/>
              <a:t>Result</a:t>
            </a:r>
          </a:p>
          <a:p>
            <a:pPr algn="thaiDi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dirty="0"/>
              <a:t>The data becomes a 2D Image with 2 channels (Real &amp; Imaginary).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74209B-EBAC-4692-B047-9A116C06F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 altLang="zh-TW" sz="1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9A2444-840D-DDC7-09A9-DA6D8826ED34}"/>
              </a:ext>
            </a:extLst>
          </p:cNvPr>
          <p:cNvSpPr txBox="1"/>
          <p:nvPr/>
        </p:nvSpPr>
        <p:spPr>
          <a:xfrm>
            <a:off x="4615820" y="892364"/>
            <a:ext cx="35821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Transforming Data into "Images"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2059D6-8AEC-9629-E6E5-F21F1D027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000" y="1747198"/>
            <a:ext cx="4549014" cy="336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882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6C1E0-5A76-EC53-4F27-3624C9FAC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DF5F94-4803-9F3B-91CA-5BD38093A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936" y="162259"/>
            <a:ext cx="4656931" cy="730105"/>
          </a:xfrm>
        </p:spPr>
        <p:txBody>
          <a:bodyPr wrap="square"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Model Architecture (CAE-DNN)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E2BEDA13-7407-2837-43F5-468084596748}"/>
                  </a:ext>
                </a:extLst>
              </p:cNvPr>
              <p:cNvSpPr>
                <a:spLocks noGrp="1"/>
              </p:cNvSpPr>
              <p:nvPr>
                <p:ph type="body" sz="half" idx="1"/>
              </p:nvPr>
            </p:nvSpPr>
            <p:spPr>
              <a:xfrm>
                <a:off x="81885" y="1268760"/>
                <a:ext cx="4320480" cy="4320480"/>
              </a:xfrm>
            </p:spPr>
            <p:txBody>
              <a:bodyPr wrap="square" anchor="t">
                <a:noAutofit/>
              </a:bodyPr>
              <a:lstStyle/>
              <a:p>
                <a:pPr marL="0" indent="0" algn="thaiDist" hangingPunct="0">
                  <a:lnSpc>
                    <a:spcPct val="90000"/>
                  </a:lnSpc>
                  <a:buNone/>
                </a:pPr>
                <a:r>
                  <a:rPr lang="en-US" sz="1550" b="1" dirty="0"/>
                  <a:t>Stage 1: Unsupervised Feature Learning (CAE):</a:t>
                </a:r>
                <a:endParaRPr lang="en-US" altLang="zh-TW" sz="1550" b="1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300" dirty="0"/>
                  <a:t>We use a </a:t>
                </a:r>
                <a:r>
                  <a:rPr lang="en-US" sz="1300" b="1" dirty="0">
                    <a:solidFill>
                      <a:srgbClr val="C00000"/>
                    </a:solidFill>
                  </a:rPr>
                  <a:t>Convolutional Autoencoder (CAE)</a:t>
                </a:r>
                <a:r>
                  <a:rPr lang="en-US" sz="1300" dirty="0">
                    <a:solidFill>
                      <a:srgbClr val="C00000"/>
                    </a:solidFill>
                  </a:rPr>
                  <a:t>.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300" b="1" dirty="0"/>
                  <a:t>Input</a:t>
                </a:r>
                <a:r>
                  <a:rPr lang="en-US" sz="1300" dirty="0"/>
                  <a:t>: The</a:t>
                </a:r>
                <a:r>
                  <a:rPr lang="en-US" sz="1300" dirty="0">
                    <a:solidFill>
                      <a:srgbClr val="C00000"/>
                    </a:solidFill>
                  </a:rPr>
                  <a:t> </a:t>
                </a:r>
                <a14:m>
                  <m:oMath xmlns:m="http://schemas.openxmlformats.org/officeDocument/2006/math">
                    <m:r>
                      <a:rPr lang="en-US" sz="1300">
                        <a:solidFill>
                          <a:srgbClr val="C00000"/>
                        </a:solidFill>
                      </a:rPr>
                      <m:t>8</m:t>
                    </m:r>
                    <m:r>
                      <a:rPr lang="en-US" sz="1300">
                        <a:solidFill>
                          <a:srgbClr val="C00000"/>
                        </a:solidFill>
                      </a:rPr>
                      <m:t>×</m:t>
                    </m:r>
                    <m:r>
                      <a:rPr lang="en-US" sz="1300">
                        <a:solidFill>
                          <a:srgbClr val="C00000"/>
                        </a:solidFill>
                      </a:rPr>
                      <m:t>8</m:t>
                    </m:r>
                  </m:oMath>
                </a14:m>
                <a:r>
                  <a:rPr lang="en-US" sz="1300" dirty="0">
                    <a:solidFill>
                      <a:srgbClr val="C00000"/>
                    </a:solidFill>
                  </a:rPr>
                  <a:t> image </a:t>
                </a:r>
                <a:r>
                  <a:rPr lang="en-US" sz="1300" dirty="0"/>
                  <a:t>from the previous step</a:t>
                </a:r>
                <a:r>
                  <a:rPr lang="th-TH" sz="1300" dirty="0"/>
                  <a:t>.</a:t>
                </a:r>
                <a:endParaRPr lang="en-US" sz="13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300" b="1" dirty="0"/>
                  <a:t>Process</a:t>
                </a:r>
                <a:r>
                  <a:rPr lang="en-US" sz="1300" dirty="0"/>
                  <a:t>: The model learns to compress the image into a </a:t>
                </a:r>
                <a:r>
                  <a:rPr lang="en-US" sz="1300" b="1" dirty="0">
                    <a:solidFill>
                      <a:srgbClr val="C00000"/>
                    </a:solidFill>
                  </a:rPr>
                  <a:t>Latent Vector</a:t>
                </a:r>
                <a:r>
                  <a:rPr lang="en-US" sz="1300" dirty="0">
                    <a:solidFill>
                      <a:srgbClr val="C00000"/>
                    </a:solidFill>
                  </a:rPr>
                  <a:t> </a:t>
                </a:r>
                <a:r>
                  <a:rPr lang="en-US" sz="1300" dirty="0"/>
                  <a:t>(size 256) automatically.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300" b="1" dirty="0"/>
                  <a:t>Goal</a:t>
                </a:r>
                <a:r>
                  <a:rPr lang="en-US" sz="1300" dirty="0"/>
                  <a:t>: To extract the best features and remove noise.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sz="1600" dirty="0"/>
              </a:p>
              <a:p>
                <a:pPr marL="0" indent="0" algn="thaiDist" hangingPunct="0">
                  <a:lnSpc>
                    <a:spcPct val="90000"/>
                  </a:lnSpc>
                  <a:buNone/>
                </a:pPr>
                <a:r>
                  <a:rPr lang="en-US" sz="1700" b="1" dirty="0"/>
                  <a:t>Stage 2: Supervised SOH Estimation (DNN): 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300" dirty="0"/>
                  <a:t>We use a </a:t>
                </a:r>
                <a:r>
                  <a:rPr lang="en-US" sz="1300" b="1" dirty="0"/>
                  <a:t>Deep Neural Network (DNN)</a:t>
                </a:r>
                <a:r>
                  <a:rPr lang="en-US" sz="1300" dirty="0"/>
                  <a:t>.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300" b="1" dirty="0"/>
                  <a:t>Input</a:t>
                </a:r>
                <a:r>
                  <a:rPr lang="en-US" sz="1300" dirty="0"/>
                  <a:t>: </a:t>
                </a:r>
                <a:r>
                  <a:rPr lang="en-US" sz="1300" dirty="0">
                    <a:solidFill>
                      <a:srgbClr val="C00000"/>
                    </a:solidFill>
                  </a:rPr>
                  <a:t>The Latent Vector </a:t>
                </a:r>
                <a:r>
                  <a:rPr lang="en-US" sz="1300" dirty="0"/>
                  <a:t>from Stage 1.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300" b="1" dirty="0"/>
                  <a:t>Structure</a:t>
                </a:r>
                <a:r>
                  <a:rPr lang="en-US" sz="1300" dirty="0"/>
                  <a:t>: It has 4 hidden layers (256 </a:t>
                </a:r>
                <a14:m>
                  <m:oMath xmlns:m="http://schemas.openxmlformats.org/officeDocument/2006/math">
                    <m:r>
                      <a:rPr lang="en-US" sz="1300"/>
                      <m:t>→</m:t>
                    </m:r>
                  </m:oMath>
                </a14:m>
                <a:r>
                  <a:rPr lang="en-US" sz="1300" dirty="0"/>
                  <a:t> 128 </a:t>
                </a:r>
                <a14:m>
                  <m:oMath xmlns:m="http://schemas.openxmlformats.org/officeDocument/2006/math">
                    <m:r>
                      <a:rPr lang="en-US" sz="1300"/>
                      <m:t>→</m:t>
                    </m:r>
                  </m:oMath>
                </a14:m>
                <a:r>
                  <a:rPr lang="en-US" sz="1300" dirty="0"/>
                  <a:t> 64 </a:t>
                </a:r>
                <a14:m>
                  <m:oMath xmlns:m="http://schemas.openxmlformats.org/officeDocument/2006/math">
                    <m:r>
                      <a:rPr lang="en-US" sz="1300"/>
                      <m:t>→</m:t>
                    </m:r>
                  </m:oMath>
                </a14:m>
                <a:r>
                  <a:rPr lang="en-US" sz="1300" dirty="0"/>
                  <a:t> 32).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300" b="1" dirty="0"/>
                  <a:t>Output</a:t>
                </a:r>
                <a:r>
                  <a:rPr lang="en-US" sz="1300" dirty="0"/>
                  <a:t>: The model predicts the </a:t>
                </a:r>
                <a:r>
                  <a:rPr lang="en-US" sz="1300" b="1" dirty="0">
                    <a:solidFill>
                      <a:srgbClr val="C00000"/>
                    </a:solidFill>
                  </a:rPr>
                  <a:t>Charge Capacity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300" smtClean="0">
                            <a:solidFill>
                              <a:srgbClr val="C00000"/>
                            </a:solidFill>
                          </a:rPr>
                        </m:ctrlPr>
                      </m:sSubPr>
                      <m:e>
                        <m:r>
                          <a:rPr lang="ar-AE" sz="1300" i="1">
                            <a:solidFill>
                              <a:srgbClr val="C00000"/>
                            </a:solidFill>
                          </a:rPr>
                          <m:t>𝑄</m:t>
                        </m:r>
                      </m:e>
                      <m:sub>
                        <m:r>
                          <a:rPr lang="ar-AE" sz="1300" i="1">
                            <a:solidFill>
                              <a:srgbClr val="C00000"/>
                            </a:solidFill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300" dirty="0">
                    <a:solidFill>
                      <a:srgbClr val="C00000"/>
                    </a:solidFill>
                  </a:rPr>
                  <a:t>) </a:t>
                </a:r>
                <a:r>
                  <a:rPr lang="en-US" sz="1300" dirty="0"/>
                  <a:t>to find the SOH.</a:t>
                </a:r>
              </a:p>
              <a:p>
                <a:pPr algn="thaiDist" hangingPunct="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endParaRPr lang="en-US" sz="1600" dirty="0"/>
              </a:p>
            </p:txBody>
          </p:sp>
        </mc:Choice>
        <mc:Fallback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E2BEDA13-7407-2837-43F5-4680845967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81885" y="1268760"/>
                <a:ext cx="4320480" cy="4320480"/>
              </a:xfrm>
              <a:blipFill>
                <a:blip r:embed="rId2"/>
                <a:stretch>
                  <a:fillRect l="-846" t="-846" r="-1834" b="-66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EF2B05-FAAD-BAF0-FBEC-EE1170ABB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altLang="zh-TW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21426D-5103-1F98-58E1-D0166C60189F}"/>
              </a:ext>
            </a:extLst>
          </p:cNvPr>
          <p:cNvSpPr txBox="1"/>
          <p:nvPr/>
        </p:nvSpPr>
        <p:spPr>
          <a:xfrm>
            <a:off x="4615820" y="892364"/>
            <a:ext cx="35821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A Two-Stage Deep Learning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92DBA2-493C-C6FA-64A9-B0607FA69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1844824"/>
            <a:ext cx="4706140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945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D17DE-D1C2-6CCE-259C-B23C50CA6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917A9D-0406-7476-5CE5-AED254604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936" y="162259"/>
            <a:ext cx="4656931" cy="730105"/>
          </a:xfrm>
        </p:spPr>
        <p:txBody>
          <a:bodyPr wrap="square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Experimental Setup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E243B94E-0569-5D56-8F62-7FAE3DDB8368}"/>
                  </a:ext>
                </a:extLst>
              </p:cNvPr>
              <p:cNvSpPr>
                <a:spLocks noGrp="1"/>
              </p:cNvSpPr>
              <p:nvPr>
                <p:ph type="body" sz="half" idx="1"/>
              </p:nvPr>
            </p:nvSpPr>
            <p:spPr>
              <a:xfrm>
                <a:off x="179532" y="1268760"/>
                <a:ext cx="4320480" cy="4320480"/>
              </a:xfrm>
            </p:spPr>
            <p:txBody>
              <a:bodyPr wrap="square" anchor="t">
                <a:noAutofit/>
              </a:bodyPr>
              <a:lstStyle/>
              <a:p>
                <a:pPr marL="0" indent="0" algn="thaiDist" hangingPunct="0">
                  <a:lnSpc>
                    <a:spcPct val="90000"/>
                  </a:lnSpc>
                  <a:buNone/>
                </a:pPr>
                <a:r>
                  <a:rPr lang="en-US" sz="1800" b="1" dirty="0"/>
                  <a:t>The Batteries:</a:t>
                </a:r>
                <a:endParaRPr lang="en-US" altLang="zh-TW" sz="1800" b="1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We used 8 Li-ion coin cells </a:t>
                </a:r>
                <a:r>
                  <a:rPr lang="en-US" sz="1400" dirty="0">
                    <a:solidFill>
                      <a:srgbClr val="C00000"/>
                    </a:solidFill>
                  </a:rPr>
                  <a:t>(</a:t>
                </a:r>
                <a:r>
                  <a:rPr lang="en-US" sz="1400" dirty="0" err="1">
                    <a:solidFill>
                      <a:srgbClr val="C00000"/>
                    </a:solidFill>
                  </a:rPr>
                  <a:t>Eunicell</a:t>
                </a:r>
                <a:r>
                  <a:rPr lang="en-US" sz="1400" dirty="0">
                    <a:solidFill>
                      <a:srgbClr val="C00000"/>
                    </a:solidFill>
                  </a:rPr>
                  <a:t> LR2032).</a:t>
                </a:r>
                <a:endParaRPr lang="en-US" sz="1600" dirty="0">
                  <a:solidFill>
                    <a:srgbClr val="C00000"/>
                  </a:solidFill>
                </a:endParaRPr>
              </a:p>
              <a:p>
                <a:pPr marL="0" indent="0" algn="thaiDist" hangingPunct="0">
                  <a:lnSpc>
                    <a:spcPct val="90000"/>
                  </a:lnSpc>
                  <a:buNone/>
                </a:pPr>
                <a:r>
                  <a:rPr lang="en-US" sz="1800" b="1" dirty="0"/>
                  <a:t>Test Conditions: 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Tested at 3 temperatures: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400"/>
                        </m:ctrlPr>
                      </m:sSupPr>
                      <m:e>
                        <m:r>
                          <a:rPr lang="ar-AE" sz="1400"/>
                          <m:t>25</m:t>
                        </m:r>
                      </m:e>
                      <m:sup>
                        <m:r>
                          <a:rPr lang="ar-AE" sz="1400"/>
                          <m:t>∘</m:t>
                        </m:r>
                      </m:sup>
                    </m:sSup>
                    <m:r>
                      <a:rPr lang="ar-AE" sz="1400" i="1"/>
                      <m:t>𝐶</m:t>
                    </m:r>
                  </m:oMath>
                </a14:m>
                <a:r>
                  <a:rPr lang="ar-AE" sz="1400" b="1" dirty="0"/>
                  <a:t>,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400"/>
                        </m:ctrlPr>
                      </m:sSupPr>
                      <m:e>
                        <m:r>
                          <a:rPr lang="ar-AE" sz="1400"/>
                          <m:t>35</m:t>
                        </m:r>
                      </m:e>
                      <m:sup>
                        <m:r>
                          <a:rPr lang="ar-AE" sz="1400"/>
                          <m:t>∘</m:t>
                        </m:r>
                      </m:sup>
                    </m:sSup>
                    <m:r>
                      <a:rPr lang="ar-AE" sz="1400" i="1"/>
                      <m:t>𝐶</m:t>
                    </m:r>
                  </m:oMath>
                </a14:m>
                <a:r>
                  <a:rPr lang="ar-AE" sz="1400" b="1" dirty="0"/>
                  <a:t>, </a:t>
                </a:r>
                <a:r>
                  <a:rPr lang="en-US" sz="1400" dirty="0"/>
                  <a:t>and</a:t>
                </a:r>
                <a:r>
                  <a:rPr lang="en-US" sz="1400" b="1" dirty="0"/>
                  <a:t>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400"/>
                        </m:ctrlPr>
                      </m:sSupPr>
                      <m:e>
                        <m:r>
                          <a:rPr lang="ar-AE" sz="1400"/>
                          <m:t>45</m:t>
                        </m:r>
                      </m:e>
                      <m:sup>
                        <m:r>
                          <a:rPr lang="ar-AE" sz="1400"/>
                          <m:t>∘</m:t>
                        </m:r>
                      </m:sup>
                    </m:sSup>
                    <m:r>
                      <a:rPr lang="ar-AE" sz="1400" i="1"/>
                      <m:t>𝐶</m:t>
                    </m:r>
                  </m:oMath>
                </a14:m>
                <a:r>
                  <a:rPr lang="en-US" sz="1400" dirty="0"/>
                  <a:t>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800" b="1" dirty="0"/>
                  <a:t>Data Splitting </a:t>
                </a:r>
                <a:r>
                  <a:rPr lang="en-US" sz="1800" dirty="0"/>
                  <a:t>: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400" b="1" dirty="0"/>
                  <a:t>Training</a:t>
                </a:r>
                <a:r>
                  <a:rPr lang="en-US" sz="1400" dirty="0"/>
                  <a:t>: </a:t>
                </a:r>
                <a:r>
                  <a:rPr lang="en-US" sz="1400" dirty="0">
                    <a:solidFill>
                      <a:srgbClr val="C00000"/>
                    </a:solidFill>
                  </a:rPr>
                  <a:t>6 cells </a:t>
                </a:r>
                <a:r>
                  <a:rPr lang="en-US" sz="1400" dirty="0"/>
                  <a:t>(mostly at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400"/>
                        </m:ctrlPr>
                      </m:sSupPr>
                      <m:e>
                        <m:r>
                          <a:rPr lang="ar-AE" sz="1400"/>
                          <m:t>25</m:t>
                        </m:r>
                      </m:e>
                      <m:sup>
                        <m:r>
                          <a:rPr lang="ar-AE" sz="1400"/>
                          <m:t>∘</m:t>
                        </m:r>
                      </m:sup>
                    </m:sSup>
                    <m:r>
                      <a:rPr lang="ar-AE" sz="1400" i="1"/>
                      <m:t>𝐶</m:t>
                    </m:r>
                  </m:oMath>
                </a14:m>
                <a:r>
                  <a:rPr lang="ar-AE" sz="1400" dirty="0"/>
                  <a:t>.</a:t>
                </a:r>
                <a:r>
                  <a:rPr lang="en-US" sz="1400" dirty="0"/>
                  <a:t>)</a:t>
                </a:r>
                <a:endParaRPr lang="ar-AE" sz="14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400" b="1" dirty="0"/>
                  <a:t>Testing</a:t>
                </a:r>
                <a:r>
                  <a:rPr lang="en-US" sz="1400" dirty="0"/>
                  <a:t>: </a:t>
                </a:r>
                <a:r>
                  <a:rPr lang="en-US" sz="1400" dirty="0">
                    <a:solidFill>
                      <a:srgbClr val="C00000"/>
                    </a:solidFill>
                  </a:rPr>
                  <a:t>2 cells </a:t>
                </a:r>
                <a:r>
                  <a:rPr lang="en-US" sz="1400" dirty="0"/>
                  <a:t>(at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400"/>
                        </m:ctrlPr>
                      </m:sSupPr>
                      <m:e>
                        <m:r>
                          <a:rPr lang="ar-AE" sz="1400"/>
                          <m:t>35</m:t>
                        </m:r>
                      </m:e>
                      <m:sup>
                        <m:r>
                          <a:rPr lang="ar-AE" sz="1400"/>
                          <m:t>∘</m:t>
                        </m:r>
                      </m:sup>
                    </m:sSup>
                    <m:r>
                      <a:rPr lang="ar-AE" sz="1400" i="1"/>
                      <m:t>𝐶</m:t>
                    </m:r>
                  </m:oMath>
                </a14:m>
                <a:r>
                  <a:rPr lang="ar-AE" sz="1400" dirty="0"/>
                  <a:t> </a:t>
                </a:r>
                <a:r>
                  <a:rPr lang="en-US" sz="1400" dirty="0"/>
                  <a:t>and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400"/>
                        </m:ctrlPr>
                      </m:sSupPr>
                      <m:e>
                        <m:r>
                          <a:rPr lang="ar-AE" sz="1400"/>
                          <m:t>45</m:t>
                        </m:r>
                      </m:e>
                      <m:sup>
                        <m:r>
                          <a:rPr lang="ar-AE" sz="1400"/>
                          <m:t>∘</m:t>
                        </m:r>
                      </m:sup>
                    </m:sSup>
                    <m:r>
                      <a:rPr lang="ar-AE" sz="1400" i="1" smtClean="0"/>
                      <m:t>𝐶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1400" dirty="0"/>
                  <a:t>)</a:t>
                </a:r>
                <a:r>
                  <a:rPr lang="ar-AE" sz="1400" dirty="0"/>
                  <a:t> </a:t>
                </a:r>
                <a:endParaRPr lang="en-US" sz="14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400" b="1" dirty="0"/>
                  <a:t>Goal</a:t>
                </a:r>
                <a:r>
                  <a:rPr lang="en-US" sz="1400" dirty="0"/>
                  <a:t>: To check if the model works well on </a:t>
                </a:r>
                <a:r>
                  <a:rPr lang="en-US" sz="1400" b="1" dirty="0"/>
                  <a:t>new temperatures</a:t>
                </a:r>
                <a:r>
                  <a:rPr lang="en-US" sz="1400" dirty="0"/>
                  <a:t>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800" b="1" dirty="0"/>
                  <a:t>Comparison Models: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We compared our model against 5 methods: </a:t>
                </a:r>
                <a:r>
                  <a:rPr lang="en-US" sz="1400" b="1" dirty="0">
                    <a:solidFill>
                      <a:srgbClr val="C00000"/>
                    </a:solidFill>
                  </a:rPr>
                  <a:t>GPR, RF, SVR, FNN, and CNN</a:t>
                </a:r>
                <a:r>
                  <a:rPr lang="en-US" sz="1400" dirty="0">
                    <a:solidFill>
                      <a:srgbClr val="C00000"/>
                    </a:solidFill>
                  </a:rPr>
                  <a:t>.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algn="thaiDist" hangingPunct="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endParaRPr lang="en-US" sz="1600" dirty="0"/>
              </a:p>
            </p:txBody>
          </p:sp>
        </mc:Choice>
        <mc:Fallback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E243B94E-0569-5D56-8F62-7FAE3DDB83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79532" y="1268760"/>
                <a:ext cx="4320480" cy="4320480"/>
              </a:xfrm>
              <a:blipFill>
                <a:blip r:embed="rId2"/>
                <a:stretch>
                  <a:fillRect l="-1128" t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9D3B63D-486E-B1B3-507B-D3B277476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 altLang="zh-TW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4CB7DC-61D1-517A-10D3-629D9F15D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2420888"/>
            <a:ext cx="4671000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996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ADFB9-C13E-134C-CCFC-231025CD4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B6CEB2-37FE-D5FC-3D3C-1D175C97B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936" y="162259"/>
            <a:ext cx="4656931" cy="730105"/>
          </a:xfrm>
        </p:spPr>
        <p:txBody>
          <a:bodyPr wrap="square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Result Quantitative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E6E5DCBD-F774-AD17-B374-546EC381863B}"/>
                  </a:ext>
                </a:extLst>
              </p:cNvPr>
              <p:cNvSpPr>
                <a:spLocks noGrp="1"/>
              </p:cNvSpPr>
              <p:nvPr>
                <p:ph type="body" sz="half" idx="1"/>
              </p:nvPr>
            </p:nvSpPr>
            <p:spPr>
              <a:xfrm>
                <a:off x="93534" y="1412776"/>
                <a:ext cx="4338662" cy="4320480"/>
              </a:xfrm>
            </p:spPr>
            <p:txBody>
              <a:bodyPr wrap="square" anchor="t">
                <a:noAutofit/>
              </a:bodyPr>
              <a:lstStyle/>
              <a:p>
                <a:pPr marL="0" indent="0" algn="thaiDist" hangingPunct="0">
                  <a:lnSpc>
                    <a:spcPct val="90000"/>
                  </a:lnSpc>
                  <a:buNone/>
                </a:pPr>
                <a:r>
                  <a:rPr lang="en-US" sz="1800" b="1" dirty="0"/>
                  <a:t>The Winner:</a:t>
                </a:r>
                <a:endParaRPr lang="en-US" altLang="zh-TW" sz="1800" b="1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The CAE-DNN model performed the best among all 6 models.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800" b="1" dirty="0"/>
                  <a:t>Test at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800"/>
                        </m:ctrlPr>
                      </m:sSupPr>
                      <m:e>
                        <m:r>
                          <a:rPr lang="ar-AE" sz="1800"/>
                          <m:t>35</m:t>
                        </m:r>
                      </m:e>
                      <m:sup>
                        <m:r>
                          <a:rPr lang="ar-AE" sz="1800"/>
                          <m:t>∘</m:t>
                        </m:r>
                      </m:sup>
                    </m:sSup>
                    <m:r>
                      <a:rPr lang="ar-AE" sz="1800" i="1" smtClean="0"/>
                      <m:t>𝐶</m:t>
                    </m:r>
                  </m:oMath>
                </a14:m>
                <a:r>
                  <a:rPr lang="en-US" sz="1800" dirty="0"/>
                  <a:t>: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CAE-DNN got the highest accuracy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400"/>
                        </m:ctrlPr>
                      </m:sSupPr>
                      <m:e>
                        <m:r>
                          <a:rPr lang="ar-AE" sz="1400" i="1"/>
                          <m:t>𝑅</m:t>
                        </m:r>
                      </m:e>
                      <m:sup>
                        <m:r>
                          <a:rPr lang="ar-AE" sz="1400"/>
                          <m:t>2</m:t>
                        </m:r>
                      </m:sup>
                    </m:sSup>
                    <m:r>
                      <a:rPr lang="ar-AE" sz="1400"/>
                      <m:t>=</m:t>
                    </m:r>
                    <m:r>
                      <a:rPr lang="ar-AE" sz="1400"/>
                      <m:t>0</m:t>
                    </m:r>
                    <m:r>
                      <a:rPr lang="ar-AE" sz="1400"/>
                      <m:t>.</m:t>
                    </m:r>
                    <m:r>
                      <a:rPr lang="ar-AE" sz="1400"/>
                      <m:t>9657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800" b="1" dirty="0"/>
                  <a:t>Test at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800"/>
                        </m:ctrlPr>
                      </m:sSupPr>
                      <m:e>
                        <m:r>
                          <a:rPr lang="ar-AE" sz="1800"/>
                          <m:t>45</m:t>
                        </m:r>
                      </m:e>
                      <m:sup>
                        <m:r>
                          <a:rPr lang="ar-AE" sz="1800"/>
                          <m:t>∘</m:t>
                        </m:r>
                      </m:sup>
                    </m:sSup>
                    <m:r>
                      <a:rPr lang="ar-AE" sz="1800" i="1" smtClean="0"/>
                      <m:t>𝐶</m:t>
                    </m:r>
                  </m:oMath>
                </a14:m>
                <a:r>
                  <a:rPr lang="ar-AE" sz="1800" b="1" dirty="0"/>
                  <a:t> </a:t>
                </a:r>
                <a:r>
                  <a:rPr lang="en-US" sz="1800" b="1" dirty="0"/>
                  <a:t>(Critical Result):	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Standard models failed. For example, normal </a:t>
                </a:r>
                <a:r>
                  <a:rPr lang="en-US" sz="1400" b="1" dirty="0"/>
                  <a:t>CNN</a:t>
                </a:r>
                <a:r>
                  <a:rPr lang="en-US" sz="1400" dirty="0"/>
                  <a:t> dropped to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400"/>
                        </m:ctrlPr>
                      </m:sSupPr>
                      <m:e>
                        <m:r>
                          <a:rPr lang="ar-AE" sz="1400" i="1"/>
                          <m:t>𝑅</m:t>
                        </m:r>
                      </m:e>
                      <m:sup>
                        <m:r>
                          <a:rPr lang="ar-AE" sz="1400"/>
                          <m:t>2</m:t>
                        </m:r>
                      </m:sup>
                    </m:sSup>
                    <m:r>
                      <a:rPr lang="ar-AE" sz="1400"/>
                      <m:t>=</m:t>
                    </m:r>
                    <m:r>
                      <a:rPr lang="ar-AE" sz="1400"/>
                      <m:t>0</m:t>
                    </m:r>
                    <m:r>
                      <a:rPr lang="ar-AE" sz="1400"/>
                      <m:t>.</m:t>
                    </m:r>
                    <m:r>
                      <a:rPr lang="ar-AE" sz="1400"/>
                      <m:t>35</m:t>
                    </m:r>
                  </m:oMath>
                </a14:m>
                <a:r>
                  <a:rPr lang="ar-AE" sz="1400" dirty="0"/>
                  <a:t>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400" b="1" dirty="0"/>
                  <a:t>CAE-DNN </a:t>
                </a:r>
                <a:r>
                  <a:rPr lang="en-US" sz="1400" dirty="0"/>
                  <a:t>remained very accurate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400"/>
                        </m:ctrlPr>
                      </m:sSupPr>
                      <m:e>
                        <m:r>
                          <a:rPr lang="ar-AE" sz="1400" i="1"/>
                          <m:t>𝑅</m:t>
                        </m:r>
                      </m:e>
                      <m:sup>
                        <m:r>
                          <a:rPr lang="ar-AE" sz="1400"/>
                          <m:t>2</m:t>
                        </m:r>
                      </m:sup>
                    </m:sSup>
                    <m:r>
                      <a:rPr lang="ar-AE" sz="1400"/>
                      <m:t>=</m:t>
                    </m:r>
                    <m:r>
                      <a:rPr lang="ar-AE" sz="1400"/>
                      <m:t>0</m:t>
                    </m:r>
                    <m:r>
                      <a:rPr lang="ar-AE" sz="1400"/>
                      <m:t>.</m:t>
                    </m:r>
                    <m:r>
                      <a:rPr lang="ar-AE" sz="1400"/>
                      <m:t>97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400" i="1" dirty="0">
                    <a:solidFill>
                      <a:srgbClr val="C00000"/>
                    </a:solidFill>
                  </a:rPr>
                  <a:t>Conclusion</a:t>
                </a:r>
                <a:r>
                  <a:rPr lang="en-US" sz="1400" i="1" dirty="0"/>
                  <a:t>:</a:t>
                </a:r>
                <a:r>
                  <a:rPr lang="en-US" sz="1400" dirty="0"/>
                  <a:t> </a:t>
                </a:r>
                <a:r>
                  <a:rPr lang="en-US" sz="1400" b="1" dirty="0"/>
                  <a:t>CAE-DNN</a:t>
                </a:r>
                <a:r>
                  <a:rPr lang="en-US" sz="1400" dirty="0"/>
                  <a:t> is </a:t>
                </a:r>
                <a:r>
                  <a:rPr lang="en-US" sz="1400" dirty="0">
                    <a:solidFill>
                      <a:srgbClr val="C00000"/>
                    </a:solidFill>
                  </a:rPr>
                  <a:t>robust</a:t>
                </a:r>
                <a:r>
                  <a:rPr lang="en-US" sz="1400" dirty="0"/>
                  <a:t> even at high temperatures.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algn="thaiDist" hangingPunct="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endParaRPr lang="en-US" sz="1600" dirty="0"/>
              </a:p>
            </p:txBody>
          </p:sp>
        </mc:Choice>
        <mc:Fallback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E6E5DCBD-F774-AD17-B374-546EC38186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93534" y="1412776"/>
                <a:ext cx="4338662" cy="4320480"/>
              </a:xfrm>
              <a:blipFill>
                <a:blip r:embed="rId2"/>
                <a:stretch>
                  <a:fillRect l="-1124" t="-1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D9C82B-E01E-8CAB-68E7-F1328BEEF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 altLang="zh-TW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B521D1-85BB-DA1F-FF30-B06A98833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764" y="2025158"/>
            <a:ext cx="4698702" cy="280768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C583BDF-2FF9-93DD-C4E3-270C8211CC76}"/>
                  </a:ext>
                </a:extLst>
              </p14:cNvPr>
              <p14:cNvContentPartPr/>
              <p14:nvPr/>
            </p14:nvContentPartPr>
            <p14:xfrm>
              <a:off x="7185240" y="3665340"/>
              <a:ext cx="372600" cy="15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C583BDF-2FF9-93DD-C4E3-270C8211CC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49600" y="3593340"/>
                <a:ext cx="44424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CB19832-4AB3-2589-F117-A1389CB467BE}"/>
                  </a:ext>
                </a:extLst>
              </p14:cNvPr>
              <p14:cNvContentPartPr/>
              <p14:nvPr/>
            </p14:nvContentPartPr>
            <p14:xfrm>
              <a:off x="8488440" y="3718620"/>
              <a:ext cx="36504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CB19832-4AB3-2589-F117-A1389CB467B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52800" y="3646620"/>
                <a:ext cx="43668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39CA15F-2430-B56B-88E1-B579B357B18A}"/>
                  </a:ext>
                </a:extLst>
              </p14:cNvPr>
              <p14:cNvContentPartPr/>
              <p14:nvPr/>
            </p14:nvContentPartPr>
            <p14:xfrm>
              <a:off x="7825320" y="2925900"/>
              <a:ext cx="39132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39CA15F-2430-B56B-88E1-B579B357B18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89680" y="2853900"/>
                <a:ext cx="4629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8C7416F-4016-3198-1A46-E6C07159E5E3}"/>
                  </a:ext>
                </a:extLst>
              </p14:cNvPr>
              <p14:cNvContentPartPr/>
              <p14:nvPr/>
            </p14:nvContentPartPr>
            <p14:xfrm>
              <a:off x="7185240" y="4654980"/>
              <a:ext cx="402120" cy="165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8C7416F-4016-3198-1A46-E6C07159E5E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149600" y="4583340"/>
                <a:ext cx="47376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D6DC55D-EA15-787B-118A-3F9DB849A448}"/>
                  </a:ext>
                </a:extLst>
              </p14:cNvPr>
              <p14:cNvContentPartPr/>
              <p14:nvPr/>
            </p14:nvContentPartPr>
            <p14:xfrm>
              <a:off x="7863480" y="4671180"/>
              <a:ext cx="3531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D6DC55D-EA15-787B-118A-3F9DB849A44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827840" y="4599180"/>
                <a:ext cx="4248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B6FEE00-6801-3004-5866-66F846663EFB}"/>
                  </a:ext>
                </a:extLst>
              </p14:cNvPr>
              <p14:cNvContentPartPr/>
              <p14:nvPr/>
            </p14:nvContentPartPr>
            <p14:xfrm>
              <a:off x="8496000" y="4648140"/>
              <a:ext cx="386280" cy="158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B6FEE00-6801-3004-5866-66F846663EF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460360" y="4576140"/>
                <a:ext cx="457920" cy="15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0914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17207-6BFE-88B7-9081-70EBA832F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D5AE1-BC18-CC38-65E7-58E493E94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936" y="162259"/>
            <a:ext cx="4656931" cy="730105"/>
          </a:xfrm>
        </p:spPr>
        <p:txBody>
          <a:bodyPr wrap="square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Result Visual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10289B-5AD6-2B24-2B97-9BF13AAFD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n-US" altLang="zh-TW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529BEDF-0C25-377C-CA0E-7B1F29908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052736"/>
            <a:ext cx="6840760" cy="48791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BDC7DC7-C792-5B2E-8554-6C1BC367215C}"/>
                  </a:ext>
                </a:extLst>
              </p:cNvPr>
              <p:cNvSpPr txBox="1"/>
              <p:nvPr/>
            </p:nvSpPr>
            <p:spPr>
              <a:xfrm>
                <a:off x="-180528" y="2967335"/>
                <a:ext cx="257403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Test at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ar-AE" sz="240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ar-AE" sz="240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ar-AE" sz="2400" b="1" dirty="0"/>
                  <a:t> </a:t>
                </a:r>
                <a:endParaRPr lang="en-US" sz="2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BDC7DC7-C792-5B2E-8554-6C1BC3672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0528" y="2967335"/>
                <a:ext cx="2574032" cy="461665"/>
              </a:xfrm>
              <a:prstGeom prst="rect">
                <a:avLst/>
              </a:prstGeom>
              <a:blipFill>
                <a:blip r:embed="rId3"/>
                <a:stretch>
                  <a:fillRect t="-11842" b="-35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8236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30B8B-E084-F6E2-E147-E2E05A76A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6C3149-9EB1-708E-C491-46F0CED74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936" y="162259"/>
            <a:ext cx="4656931" cy="730105"/>
          </a:xfrm>
        </p:spPr>
        <p:txBody>
          <a:bodyPr wrap="square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Discussion and Conclusion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AE724F78-B9F3-BB7C-12BB-B6B521C8B705}"/>
                  </a:ext>
                </a:extLst>
              </p:cNvPr>
              <p:cNvSpPr>
                <a:spLocks noGrp="1"/>
              </p:cNvSpPr>
              <p:nvPr>
                <p:ph type="body" sz="half" idx="1"/>
              </p:nvPr>
            </p:nvSpPr>
            <p:spPr>
              <a:xfrm>
                <a:off x="251520" y="1196752"/>
                <a:ext cx="9014971" cy="3240360"/>
              </a:xfrm>
            </p:spPr>
            <p:txBody>
              <a:bodyPr wrap="square" anchor="t">
                <a:noAutofit/>
              </a:bodyPr>
              <a:lstStyle/>
              <a:p>
                <a:pPr marL="0" indent="0">
                  <a:buNone/>
                </a:pPr>
                <a:r>
                  <a:rPr lang="en-US" sz="1800" b="1" dirty="0"/>
                  <a:t>Ablation Study (Testing Parameters)</a:t>
                </a:r>
                <a:r>
                  <a:rPr lang="en-US" sz="1800" dirty="0"/>
                  <a:t>:</a:t>
                </a:r>
                <a:endParaRPr lang="th-TH" sz="18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We tested different model settings to find the best one.</a:t>
                </a:r>
                <a:endParaRPr lang="th-TH" sz="14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400" b="1" dirty="0"/>
                  <a:t>Filters</a:t>
                </a:r>
                <a:r>
                  <a:rPr lang="en-US" sz="1400" dirty="0"/>
                  <a:t>: Adding more filters did not help. </a:t>
                </a:r>
                <a:r>
                  <a:rPr lang="en-US" sz="1400" b="1" dirty="0">
                    <a:solidFill>
                      <a:srgbClr val="C00000"/>
                    </a:solidFill>
                  </a:rPr>
                  <a:t>4 filters</a:t>
                </a:r>
                <a:r>
                  <a:rPr lang="en-US" sz="1400" dirty="0">
                    <a:solidFill>
                      <a:srgbClr val="C00000"/>
                    </a:solidFill>
                  </a:rPr>
                  <a:t> </a:t>
                </a:r>
                <a:r>
                  <a:rPr lang="en-US" sz="1400" dirty="0"/>
                  <a:t>were enough to learn features.</a:t>
                </a:r>
                <a:endParaRPr lang="th-TH" sz="14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400" b="1" dirty="0"/>
                  <a:t>Kernels</a:t>
                </a:r>
                <a:r>
                  <a:rPr lang="en-US" sz="1400" dirty="0"/>
                  <a:t>: Bigger kernels (3x3) were worse because our input image (</a:t>
                </a:r>
                <a14:m>
                  <m:oMath xmlns:m="http://schemas.openxmlformats.org/officeDocument/2006/math">
                    <m:r>
                      <a:rPr lang="en-US" sz="1400"/>
                      <m:t>8×8</m:t>
                    </m:r>
                  </m:oMath>
                </a14:m>
                <a:r>
                  <a:rPr lang="en-US" sz="1400" dirty="0"/>
                  <a:t>) is small.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800" b="1" dirty="0"/>
                  <a:t>Optimal Settings (As seen in Table 5)</a:t>
                </a:r>
                <a:r>
                  <a:rPr lang="en-US" sz="1800" dirty="0"/>
                  <a:t>:</a:t>
                </a:r>
                <a:endParaRPr lang="th-TH" sz="18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The best result came from using </a:t>
                </a:r>
                <a:r>
                  <a:rPr lang="en-US" sz="1400" b="1" dirty="0">
                    <a:solidFill>
                      <a:srgbClr val="C00000"/>
                    </a:solidFill>
                  </a:rPr>
                  <a:t>4 filters</a:t>
                </a:r>
                <a:r>
                  <a:rPr lang="en-US" sz="1400" dirty="0">
                    <a:solidFill>
                      <a:srgbClr val="C00000"/>
                    </a:solidFill>
                  </a:rPr>
                  <a:t> and a </a:t>
                </a:r>
                <a:r>
                  <a:rPr lang="en-US" sz="1400" b="1" dirty="0">
                    <a:solidFill>
                      <a:srgbClr val="C00000"/>
                    </a:solidFill>
                  </a:rPr>
                  <a:t>dropout rate of 0.03</a:t>
                </a:r>
                <a:r>
                  <a:rPr lang="en-US" sz="1400" dirty="0">
                    <a:solidFill>
                      <a:srgbClr val="C00000"/>
                    </a:solidFill>
                  </a:rPr>
                  <a:t>.</a:t>
                </a:r>
                <a:endParaRPr lang="th-TH" sz="1400" dirty="0">
                  <a:solidFill>
                    <a:srgbClr val="C00000"/>
                  </a:solidFill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Changing these values increased the error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800" b="1" dirty="0"/>
                  <a:t>Why is CAE better than CNN?</a:t>
                </a:r>
                <a:r>
                  <a:rPr lang="en-US" sz="1800" dirty="0"/>
                  <a:t>:</a:t>
                </a:r>
                <a:endParaRPr lang="th-TH" sz="18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400" b="1" dirty="0"/>
                  <a:t>Unsupervised Learning</a:t>
                </a:r>
                <a:r>
                  <a:rPr lang="en-US" sz="1400" dirty="0"/>
                  <a:t>: The Autoencoder extracts features automatically without labels</a:t>
                </a:r>
                <a:endParaRPr lang="th-TH" sz="14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400" b="1" dirty="0"/>
                  <a:t>Denoising</a:t>
                </a:r>
                <a:r>
                  <a:rPr lang="en-US" sz="1400" dirty="0"/>
                  <a:t>: It helps remove </a:t>
                </a:r>
                <a:r>
                  <a:rPr lang="en-US" sz="1400" b="1" dirty="0">
                    <a:solidFill>
                      <a:srgbClr val="C00000"/>
                    </a:solidFill>
                  </a:rPr>
                  <a:t>noise</a:t>
                </a:r>
                <a:r>
                  <a:rPr lang="en-US" sz="1400" dirty="0"/>
                  <a:t> from the EIS data, making the model more robust than a standard CNN</a:t>
                </a:r>
              </a:p>
            </p:txBody>
          </p:sp>
        </mc:Choice>
        <mc:Fallback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AE724F78-B9F3-BB7C-12BB-B6B521C8B7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251520" y="1196752"/>
                <a:ext cx="9014971" cy="3240360"/>
              </a:xfrm>
              <a:blipFill>
                <a:blip r:embed="rId2"/>
                <a:stretch>
                  <a:fillRect l="-541" t="-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B5E1C7-1312-C89E-C9DF-233DDD99C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en-US" altLang="zh-TW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14A3DC2-4B7B-D0B0-FF0A-1BF754EED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42" y="4585027"/>
            <a:ext cx="8381116" cy="204129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3176F19-1757-FF8B-ED02-7E2CF51CDB44}"/>
                  </a:ext>
                </a:extLst>
              </p14:cNvPr>
              <p14:cNvContentPartPr/>
              <p14:nvPr/>
            </p14:nvContentPartPr>
            <p14:xfrm>
              <a:off x="5296020" y="5547420"/>
              <a:ext cx="337320" cy="126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3176F19-1757-FF8B-ED02-7E2CF51CDB4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60020" y="5475420"/>
                <a:ext cx="40896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4CABF7B-7E69-F1DC-17E9-20E28E5057AF}"/>
                  </a:ext>
                </a:extLst>
              </p14:cNvPr>
              <p14:cNvContentPartPr/>
              <p14:nvPr/>
            </p14:nvContentPartPr>
            <p14:xfrm>
              <a:off x="5913060" y="5531580"/>
              <a:ext cx="282600" cy="9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4CABF7B-7E69-F1DC-17E9-20E28E5057A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77060" y="5459580"/>
                <a:ext cx="35424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7F777A3-C7FC-15A6-400C-FAFD9D0F2CE9}"/>
                  </a:ext>
                </a:extLst>
              </p14:cNvPr>
              <p14:cNvContentPartPr/>
              <p14:nvPr/>
            </p14:nvContentPartPr>
            <p14:xfrm>
              <a:off x="6538020" y="5531940"/>
              <a:ext cx="267120" cy="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7F777A3-C7FC-15A6-400C-FAFD9D0F2CE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502020" y="5459940"/>
                <a:ext cx="3387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2C7C9D2-EFD7-5033-645B-8AE20F18CF33}"/>
                  </a:ext>
                </a:extLst>
              </p14:cNvPr>
              <p14:cNvContentPartPr/>
              <p14:nvPr/>
            </p14:nvContentPartPr>
            <p14:xfrm>
              <a:off x="7086660" y="5547420"/>
              <a:ext cx="303840" cy="79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2C7C9D2-EFD7-5033-645B-8AE20F18CF3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50660" y="5475420"/>
                <a:ext cx="37548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62C8923-DCA3-30EC-83CE-D8012D2431C9}"/>
                  </a:ext>
                </a:extLst>
              </p14:cNvPr>
              <p14:cNvContentPartPr/>
              <p14:nvPr/>
            </p14:nvContentPartPr>
            <p14:xfrm>
              <a:off x="7681020" y="5554980"/>
              <a:ext cx="332640" cy="32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62C8923-DCA3-30EC-83CE-D8012D2431C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645020" y="5482980"/>
                <a:ext cx="40428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89BB5D1-3542-0282-0D8C-66A2934251BA}"/>
                  </a:ext>
                </a:extLst>
              </p14:cNvPr>
              <p14:cNvContentPartPr/>
              <p14:nvPr/>
            </p14:nvContentPartPr>
            <p14:xfrm>
              <a:off x="8267820" y="5554980"/>
              <a:ext cx="363600" cy="23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89BB5D1-3542-0282-0D8C-66A2934251B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31820" y="5482980"/>
                <a:ext cx="43524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C01E0F0-081F-6BE0-5B34-BB7577FD458D}"/>
                  </a:ext>
                </a:extLst>
              </p14:cNvPr>
              <p14:cNvContentPartPr/>
              <p14:nvPr/>
            </p14:nvContentPartPr>
            <p14:xfrm>
              <a:off x="10035420" y="5768460"/>
              <a:ext cx="3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C01E0F0-081F-6BE0-5B34-BB7577FD458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999420" y="5696460"/>
                <a:ext cx="72000" cy="14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823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DB57A-57AC-517C-D0A6-B0819CFE5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E47517-955E-20D0-8C90-1A10BAB72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936" y="162259"/>
            <a:ext cx="4656931" cy="730105"/>
          </a:xfrm>
        </p:spPr>
        <p:txBody>
          <a:bodyPr wrap="square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Discussion and Conclusion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7F36B70C-A423-9C64-2138-B605B926F7D5}"/>
                  </a:ext>
                </a:extLst>
              </p:cNvPr>
              <p:cNvSpPr>
                <a:spLocks noGrp="1"/>
              </p:cNvSpPr>
              <p:nvPr>
                <p:ph type="body" sz="half" idx="1"/>
              </p:nvPr>
            </p:nvSpPr>
            <p:spPr>
              <a:xfrm>
                <a:off x="251520" y="1196752"/>
                <a:ext cx="8640959" cy="3240360"/>
              </a:xfrm>
            </p:spPr>
            <p:txBody>
              <a:bodyPr wrap="square" anchor="t">
                <a:noAutofit/>
              </a:bodyPr>
              <a:lstStyle/>
              <a:p>
                <a:pPr marL="0" indent="0">
                  <a:buNone/>
                </a:pPr>
                <a:r>
                  <a:rPr lang="en-US" sz="1800" b="1" dirty="0"/>
                  <a:t>Successful Method</a:t>
                </a:r>
                <a:r>
                  <a:rPr lang="en-US" sz="1800" dirty="0"/>
                  <a:t>: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We successfully created a Deep Learning </a:t>
                </a:r>
                <a:r>
                  <a:rPr lang="en-US" sz="1600" dirty="0">
                    <a:solidFill>
                      <a:srgbClr val="C00000"/>
                    </a:solidFill>
                  </a:rPr>
                  <a:t>model (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CAE-DNN</a:t>
                </a:r>
                <a:r>
                  <a:rPr lang="en-US" sz="1600" dirty="0">
                    <a:solidFill>
                      <a:srgbClr val="C00000"/>
                    </a:solidFill>
                  </a:rPr>
                  <a:t>) </a:t>
                </a:r>
                <a:r>
                  <a:rPr lang="en-US" sz="1600" dirty="0"/>
                  <a:t>to estimate battery health using EIS data.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800" b="1" dirty="0"/>
                  <a:t>Key Innovation</a:t>
                </a:r>
                <a:r>
                  <a:rPr lang="en-US" sz="1800" dirty="0"/>
                  <a:t>: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Transforming EIS data into 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2D images</a:t>
                </a:r>
                <a:r>
                  <a:rPr lang="en-US" sz="1600" dirty="0">
                    <a:solidFill>
                      <a:srgbClr val="C00000"/>
                    </a:solidFill>
                  </a:rPr>
                  <a:t> </a:t>
                </a:r>
                <a:r>
                  <a:rPr lang="en-US" sz="1600" dirty="0"/>
                  <a:t>allows the model to learn hidden features automatically.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800" b="1" dirty="0"/>
                  <a:t>Performance</a:t>
                </a:r>
                <a:r>
                  <a:rPr lang="en-US" sz="1800" dirty="0"/>
                  <a:t>: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The model works </a:t>
                </a:r>
                <a:r>
                  <a:rPr lang="en-US" sz="1600" dirty="0">
                    <a:solidFill>
                      <a:srgbClr val="C00000"/>
                    </a:solidFill>
                  </a:rPr>
                  <a:t>very well </a:t>
                </a:r>
                <a:r>
                  <a:rPr lang="en-US" sz="1600" dirty="0"/>
                  <a:t>even at high </a:t>
                </a:r>
                <a:r>
                  <a:rPr lang="en-US" sz="1600" dirty="0">
                    <a:solidFill>
                      <a:srgbClr val="C00000"/>
                    </a:solidFill>
                  </a:rPr>
                  <a:t>temperatures (up to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600">
                            <a:solidFill>
                              <a:srgbClr val="C00000"/>
                            </a:solidFill>
                          </a:rPr>
                        </m:ctrlPr>
                      </m:sSupPr>
                      <m:e>
                        <m:r>
                          <a:rPr lang="ar-AE" sz="1600">
                            <a:solidFill>
                              <a:srgbClr val="C00000"/>
                            </a:solidFill>
                          </a:rPr>
                          <m:t>45</m:t>
                        </m:r>
                      </m:e>
                      <m:sup>
                        <m:r>
                          <a:rPr lang="ar-AE" sz="1600">
                            <a:solidFill>
                              <a:srgbClr val="C00000"/>
                            </a:solidFill>
                          </a:rPr>
                          <m:t>∘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ar-AE" sz="1600" dirty="0"/>
                  <a:t> </a:t>
                </a:r>
                <a:r>
                  <a:rPr lang="en-US" sz="1600" dirty="0"/>
                  <a:t>beating standard methods like GPR and CNN.</a:t>
                </a:r>
              </a:p>
            </p:txBody>
          </p:sp>
        </mc:Choice>
        <mc:Fallback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7F36B70C-A423-9C64-2138-B605B926F7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251520" y="1196752"/>
                <a:ext cx="8640959" cy="3240360"/>
              </a:xfrm>
              <a:blipFill>
                <a:blip r:embed="rId2"/>
                <a:stretch>
                  <a:fillRect l="-564" t="-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56FEEB-C684-3D9F-AD81-FBCACC9DF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12</a:t>
            </a:fld>
            <a:endParaRPr lang="en-US" altLang="zh-TW" sz="1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8F18EE2-CE61-9DB7-4A99-17650E24749A}"/>
                  </a:ext>
                </a:extLst>
              </p14:cNvPr>
              <p14:cNvContentPartPr/>
              <p14:nvPr/>
            </p14:nvContentPartPr>
            <p14:xfrm>
              <a:off x="10035420" y="5768460"/>
              <a:ext cx="3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8F18EE2-CE61-9DB7-4A99-17650E24749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99420" y="5696460"/>
                <a:ext cx="72000" cy="144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45DC1EE-AB3E-0841-DDA6-139CE44CF0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1640" y="4005064"/>
            <a:ext cx="6145990" cy="19441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08193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257F6-3337-D50E-01A6-3B47B9247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E1882D-DE10-FD7F-660A-B279E3868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936" y="162259"/>
            <a:ext cx="4656931" cy="730105"/>
          </a:xfrm>
        </p:spPr>
        <p:txBody>
          <a:bodyPr wrap="square"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Critical Review &amp; Future 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AAC9A095-9516-C245-B462-B11514A2D539}"/>
                  </a:ext>
                </a:extLst>
              </p:cNvPr>
              <p:cNvSpPr>
                <a:spLocks noGrp="1"/>
              </p:cNvSpPr>
              <p:nvPr>
                <p:ph type="body" sz="half" idx="1"/>
              </p:nvPr>
            </p:nvSpPr>
            <p:spPr>
              <a:xfrm>
                <a:off x="395536" y="1484784"/>
                <a:ext cx="8352928" cy="3888432"/>
              </a:xfrm>
            </p:spPr>
            <p:txBody>
              <a:bodyPr wrap="square" anchor="t">
                <a:noAutofit/>
              </a:bodyPr>
              <a:lstStyle/>
              <a:p>
                <a:pPr marL="0" indent="0">
                  <a:buNone/>
                </a:pPr>
                <a:r>
                  <a:rPr lang="en-US" sz="1800" b="1" dirty="0"/>
                  <a:t>Strengths (What is Good)</a:t>
                </a:r>
                <a:r>
                  <a:rPr lang="en-US" sz="1800" dirty="0"/>
                  <a:t>: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600" b="1" dirty="0"/>
                  <a:t>Smart Idea</a:t>
                </a:r>
                <a:r>
                  <a:rPr lang="en-US" sz="1600" dirty="0"/>
                  <a:t>: Converting EIS data into 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2D images</a:t>
                </a:r>
                <a:r>
                  <a:rPr lang="en-US" sz="1600" dirty="0">
                    <a:solidFill>
                      <a:srgbClr val="C00000"/>
                    </a:solidFill>
                  </a:rPr>
                  <a:t> </a:t>
                </a:r>
                <a:r>
                  <a:rPr lang="en-US" sz="1600" dirty="0"/>
                  <a:t>is very clever. It makes it easy to use advanced AI models </a:t>
                </a:r>
                <a:r>
                  <a:rPr lang="en-US" sz="1600" dirty="0">
                    <a:solidFill>
                      <a:srgbClr val="C00000"/>
                    </a:solidFill>
                  </a:rPr>
                  <a:t>(CNNs).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600" b="1" dirty="0"/>
                  <a:t>Robustness</a:t>
                </a:r>
                <a:r>
                  <a:rPr lang="en-US" sz="1600" dirty="0"/>
                  <a:t>: The model works well even in </a:t>
                </a:r>
                <a:r>
                  <a:rPr lang="en-US" sz="1600" dirty="0">
                    <a:solidFill>
                      <a:srgbClr val="C00000"/>
                    </a:solidFill>
                  </a:rPr>
                  <a:t>hot environments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600">
                            <a:solidFill>
                              <a:srgbClr val="C00000"/>
                            </a:solidFill>
                          </a:rPr>
                        </m:ctrlPr>
                      </m:sSupPr>
                      <m:e>
                        <m:r>
                          <a:rPr lang="ar-AE" sz="1600">
                            <a:solidFill>
                              <a:srgbClr val="C00000"/>
                            </a:solidFill>
                          </a:rPr>
                          <m:t>45</m:t>
                        </m:r>
                      </m:e>
                      <m:sup>
                        <m:r>
                          <a:rPr lang="ar-AE" sz="1600">
                            <a:solidFill>
                              <a:srgbClr val="C00000"/>
                            </a:solidFill>
                          </a:rPr>
                          <m:t>∘</m:t>
                        </m:r>
                      </m:sup>
                    </m:sSup>
                    <m:r>
                      <a:rPr lang="ar-AE" sz="1600" i="1">
                        <a:solidFill>
                          <a:srgbClr val="C00000"/>
                        </a:solidFill>
                      </a:rPr>
                      <m:t>𝐶</m:t>
                    </m:r>
                    <m:r>
                      <a:rPr lang="en-US" sz="16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r>
                  <a:rPr lang="ar-AE" sz="1600" dirty="0">
                    <a:solidFill>
                      <a:srgbClr val="C00000"/>
                    </a:solidFill>
                  </a:rPr>
                  <a:t> </a:t>
                </a:r>
                <a:r>
                  <a:rPr lang="en-US" sz="1600" dirty="0"/>
                  <a:t>which is great for safety.</a:t>
                </a:r>
              </a:p>
              <a:p>
                <a:pPr marL="0" indent="0">
                  <a:lnSpc>
                    <a:spcPct val="200000"/>
                  </a:lnSpc>
                  <a:buNone/>
                </a:pPr>
                <a:r>
                  <a:rPr lang="en-US" sz="1800" b="1" dirty="0"/>
                  <a:t>Limitations (What is Missing)</a:t>
                </a:r>
                <a:r>
                  <a:rPr lang="en-US" sz="1800" dirty="0"/>
                  <a:t>: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600" b="1" dirty="0"/>
                  <a:t>Full Charge Only</a:t>
                </a:r>
                <a:r>
                  <a:rPr lang="en-US" sz="1600" dirty="0"/>
                  <a:t>: The paper only tested batteries at 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100% SOC</a:t>
                </a:r>
                <a:r>
                  <a:rPr lang="en-US" sz="1600" dirty="0">
                    <a:solidFill>
                      <a:srgbClr val="C00000"/>
                    </a:solidFill>
                  </a:rPr>
                  <a:t> (Fully Charged)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600" b="1" dirty="0"/>
                  <a:t>Real World Issue</a:t>
                </a:r>
                <a:r>
                  <a:rPr lang="en-US" sz="1600" dirty="0"/>
                  <a:t>: In real life (EVs), we </a:t>
                </a:r>
                <a:r>
                  <a:rPr lang="en-US" sz="1600" dirty="0">
                    <a:solidFill>
                      <a:srgbClr val="C00000"/>
                    </a:solidFill>
                  </a:rPr>
                  <a:t>cannot always wait </a:t>
                </a:r>
                <a:r>
                  <a:rPr lang="en-US" sz="1600" dirty="0"/>
                  <a:t>for a full charge to check health.</a:t>
                </a:r>
              </a:p>
              <a:p>
                <a:pPr marL="0" indent="0">
                  <a:lnSpc>
                    <a:spcPct val="200000"/>
                  </a:lnSpc>
                  <a:buNone/>
                </a:pPr>
                <a:r>
                  <a:rPr lang="en-US" sz="1800" b="1" dirty="0"/>
                  <a:t>Future Work (What to do next)</a:t>
                </a:r>
                <a:r>
                  <a:rPr lang="en-US" sz="1800" dirty="0"/>
                  <a:t>: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600" b="1" dirty="0"/>
                  <a:t>Partial Charging</a:t>
                </a:r>
                <a:r>
                  <a:rPr lang="en-US" sz="1600" dirty="0"/>
                  <a:t>: We need to test the model with data from</a:t>
                </a:r>
                <a:r>
                  <a:rPr lang="en-US" sz="1600" dirty="0">
                    <a:solidFill>
                      <a:srgbClr val="C00000"/>
                    </a:solidFill>
                  </a:rPr>
                  <a:t> 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Partial Charging</a:t>
                </a:r>
                <a:r>
                  <a:rPr lang="en-US" sz="1600" dirty="0"/>
                  <a:t> (e.g., at 50% battery level).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600" b="1" dirty="0"/>
                  <a:t>New Models</a:t>
                </a:r>
                <a:r>
                  <a:rPr lang="en-US" sz="1600" dirty="0"/>
                  <a:t>: Try using newer AI models such like 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Transformers</a:t>
                </a:r>
                <a:r>
                  <a:rPr lang="en-US" sz="1600" dirty="0"/>
                  <a:t> to see if they are better.</a:t>
                </a:r>
              </a:p>
            </p:txBody>
          </p:sp>
        </mc:Choice>
        <mc:Fallback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AAC9A095-9516-C245-B462-B11514A2D5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395536" y="1484784"/>
                <a:ext cx="8352928" cy="3888432"/>
              </a:xfrm>
              <a:blipFill>
                <a:blip r:embed="rId2"/>
                <a:stretch>
                  <a:fillRect l="-657" t="-942" b="-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7FBA6E-3DE4-0259-4157-1DC2E0953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13</a:t>
            </a:fld>
            <a:endParaRPr lang="en-US" altLang="zh-TW" sz="1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42A529E-9FB4-B544-ECB5-1F5B112E5005}"/>
                  </a:ext>
                </a:extLst>
              </p14:cNvPr>
              <p14:cNvContentPartPr/>
              <p14:nvPr/>
            </p14:nvContentPartPr>
            <p14:xfrm>
              <a:off x="10035420" y="5768460"/>
              <a:ext cx="3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42A529E-9FB4-B544-ECB5-1F5B112E500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99420" y="5696460"/>
                <a:ext cx="72000" cy="14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2730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79CAB-001B-9D05-8B7D-69682ECE9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DE577D-9A10-7EFE-FA36-0EFECFB14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928" y="197570"/>
            <a:ext cx="4658667" cy="762000"/>
          </a:xfrm>
        </p:spPr>
        <p:txBody>
          <a:bodyPr wrap="square" anchor="ctr">
            <a:normAutofit/>
          </a:bodyPr>
          <a:lstStyle/>
          <a:p>
            <a:r>
              <a:rPr lang="en-US" altLang="zh-TW" sz="1800" u="sng" dirty="0"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Journal of Energy Storage 60 (2023) 106680</a:t>
            </a:r>
            <a:endParaRPr lang="en-US" altLang="zh-TW" sz="1800" b="0" dirty="0">
              <a:effectLst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6617A4C-AD8D-B751-05E1-36F6C5CCC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14</a:t>
            </a:fld>
            <a:endParaRPr lang="en-US" altLang="zh-TW" sz="100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C1334D90-5BA6-8952-E374-68801D246B6A}"/>
              </a:ext>
            </a:extLst>
          </p:cNvPr>
          <p:cNvSpPr txBox="1">
            <a:spLocks/>
          </p:cNvSpPr>
          <p:nvPr/>
        </p:nvSpPr>
        <p:spPr bwMode="auto">
          <a:xfrm>
            <a:off x="656247" y="2681140"/>
            <a:ext cx="7831506" cy="2003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2000" kern="1200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F"/>
              <a:defRPr kumimoji="1" sz="20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l"/>
              <a:defRPr kumimoji="1" kern="1200">
                <a:solidFill>
                  <a:srgbClr val="FF99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>
              <a:lnSpc>
                <a:spcPct val="120000"/>
              </a:lnSpc>
              <a:buNone/>
            </a:pPr>
            <a:r>
              <a:rPr lang="en-US" sz="8000" b="1" dirty="0">
                <a:effectLst/>
              </a:rPr>
              <a:t>Thank you</a:t>
            </a:r>
            <a:endParaRPr lang="en-US" sz="7200" dirty="0">
              <a:solidFill>
                <a:srgbClr val="C00000"/>
              </a:solidFill>
              <a:effectLst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E45886F-544F-0C13-451F-98F05A42D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 computational complexity; excellent for real-time BMS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989081"/>
      </p:ext>
    </p:extLst>
  </p:cSld>
  <p:clrMapOvr>
    <a:masterClrMapping/>
  </p:clrMapOvr>
</p:sld>
</file>

<file path=ppt/theme/theme1.xml><?xml version="1.0" encoding="utf-8"?>
<a:theme xmlns:a="http://schemas.openxmlformats.org/drawingml/2006/main" name="電力電子研討會">
  <a:themeElements>
    <a:clrScheme name="電力電子研討會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電力電子研討會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ea typeface="標楷體" panose="03000509000000000000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ea typeface="標楷體" panose="03000509000000000000" pitchFamily="65" charset="-120"/>
          </a:defRPr>
        </a:defPPr>
      </a:lstStyle>
    </a:lnDef>
  </a:objectDefaults>
  <a:extraClrSchemeLst>
    <a:extraClrScheme>
      <a:clrScheme name="電力電子研討會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電力電子研討會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電力電子研討會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電力電子研討會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電力電子研討會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電力電子研討會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電力電子研討會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856653CB23E46D428594C3BF9AE3360D" ma:contentTypeVersion="8" ma:contentTypeDescription="建立新的文件。" ma:contentTypeScope="" ma:versionID="ce11e0b95a7e7aac2f65b40ce265d176">
  <xsd:schema xmlns:xsd="http://www.w3.org/2001/XMLSchema" xmlns:xs="http://www.w3.org/2001/XMLSchema" xmlns:p="http://schemas.microsoft.com/office/2006/metadata/properties" xmlns:ns3="6789d5f2-093c-4973-a5f8-1e1f527e41e9" targetNamespace="http://schemas.microsoft.com/office/2006/metadata/properties" ma:root="true" ma:fieldsID="0348dc129f2d2cb9ada6b14072e3b9f5" ns3:_="">
    <xsd:import namespace="6789d5f2-093c-4973-a5f8-1e1f527e41e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89d5f2-093c-4973-a5f8-1e1f527e41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9F99874-14BA-4BB9-860E-8AB3B0ED58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89d5f2-093c-4973-a5f8-1e1f527e41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2141F1D-1938-4272-8450-260B9742741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E38D0C-9097-406F-9274-63A5301D1E40}">
  <ds:schemaRefs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infopath/2007/PartnerControls"/>
    <ds:schemaRef ds:uri="6789d5f2-093c-4973-a5f8-1e1f527e41e9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Office\Templates\電力電子研討會.pot</Template>
  <TotalTime>46473</TotalTime>
  <Words>1129</Words>
  <Application>Microsoft Office PowerPoint</Application>
  <PresentationFormat>On-screen Show (4:3)</PresentationFormat>
  <Paragraphs>143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Narrow</vt:lpstr>
      <vt:lpstr>Cambria Math</vt:lpstr>
      <vt:lpstr>Times New Roman</vt:lpstr>
      <vt:lpstr>Wingdings</vt:lpstr>
      <vt:lpstr>華康粗圓體(P)</vt:lpstr>
      <vt:lpstr>電力電子研討會</vt:lpstr>
      <vt:lpstr>Convolutional autoencoder-based SOH estimation of lithium-ion batteries using electrochemical impedance spectroscopy</vt:lpstr>
      <vt:lpstr>Outline</vt:lpstr>
      <vt:lpstr>Introduction</vt:lpstr>
      <vt:lpstr>Introduction</vt:lpstr>
      <vt:lpstr>Objectives &amp; Contributions</vt:lpstr>
      <vt:lpstr>Data Preprocessing</vt:lpstr>
      <vt:lpstr>Model Architecture (CAE-DNN)</vt:lpstr>
      <vt:lpstr>Experimental Setup</vt:lpstr>
      <vt:lpstr>Result Quantitative</vt:lpstr>
      <vt:lpstr>Result Visual</vt:lpstr>
      <vt:lpstr>Discussion and Conclusion</vt:lpstr>
      <vt:lpstr>Discussion and Conclusion</vt:lpstr>
      <vt:lpstr>Critical Review &amp; Future Work</vt:lpstr>
      <vt:lpstr>Journal of Energy Storage 60 (2023) 106680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高性能感應電動機控制方法</dc:title>
  <dc:creator>Sophie</dc:creator>
  <cp:lastModifiedBy>M11452803</cp:lastModifiedBy>
  <cp:revision>1448</cp:revision>
  <cp:lastPrinted>2000-12-14T11:45:22Z</cp:lastPrinted>
  <dcterms:created xsi:type="dcterms:W3CDTF">1998-01-03T12:05:56Z</dcterms:created>
  <dcterms:modified xsi:type="dcterms:W3CDTF">2025-12-08T18:59:09Z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0x010100856653CB23E46D428594C3BF9AE3360D</vt:lpwstr>
  </property>
</Properties>
</file>